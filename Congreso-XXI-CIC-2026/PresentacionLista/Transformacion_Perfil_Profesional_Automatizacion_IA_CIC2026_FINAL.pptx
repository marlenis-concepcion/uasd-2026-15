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78" r:id="rId29"/>
    <p:sldId id="279" r:id="rId30"/>
    <p:sldId id="266" r:id="rId9"/>
    <p:sldId id="267" r:id="rId10"/>
    <p:sldId id="261" r:id="rId11"/>
    <p:sldId id="262" r:id="rId12"/>
    <p:sldId id="265" r:id="rId13"/>
    <p:sldId id="268" r:id="rId14"/>
    <p:sldId id="269" r:id="rId15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0" r:id="rId31"/>
    <p:sldId id="277" r:id="rId28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4E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81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FB4CA-3C9D-43FD-A6CE-483708F3E802}" type="datetimeFigureOut">
              <a:rPr lang="es-DO" smtClean="0"/>
              <a:t>23/6/2026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FD423-DADF-4B2D-91BD-F1D2FCA8FEDF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09887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una idea central: actualizarse no es una actividad adicional del docente; es parte de su responsabilidad profesional. Esta conversación amplía el enfoque del taller Testing for All: aquí participan academia, empresas y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que el currículo tenga fundamentos; es la frecuencia con la que validamos si esos fundamentos siguen produciendo desempeños relevantes.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MESCyT, Memoria Institucional 2022, pp. 27–28, tabla «Distribución de Instituciones de Educación Superior participantes en el Piloto». La memoria registra 31 IES y 183 perfiles. Notas posteriores del cierre mencionan 30 IES, según el corte y la etapa reportada.</a:t>
            </a:r>
          </a:p>
          <a:p>
            <a:r>
              <a:t>Dinámica: acceso a la plataforma IL3 de la Universidad de Barcelona, trabajo asincrónico, revisión del acompañamiento y encuentros presenciales locales. La expositora identifica encuentros en UNICARIBE, UASD y APEC; la memoria confirma la participación institucional, pero no asigna sedes de reunión a cada IES.</a:t>
            </a:r>
          </a:p>
          <a:p>
            <a:r>
              <a:t>https://mescyt.gob.do/transparencia/wp-content/uploads/2023/01/MEMORIA-INSTITUCIONAL-MESCYT-2022.pdf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Capturas suministradas por la expositora, 2 de julio de 2026. La vacante pide experiencia profesional; completar una carrera no sustituye automáticamente los 3 años requeridos.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Capturas y texto completo de la vacante Origami Risk Data Engineer suministrados por la expositora, 2 de julio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oficiales consultadas:</a:t>
            </a:r>
          </a:p>
          <a:p>
            <a:r>
              <a:t>- UASD, Planes de estudios de Grado y Técnico Superior, Ingeniería de Software: https://uasd.edu.do/wp-content/uploads/PV-Resumen-Planes-Estudios-de-Informatica.pdf</a:t>
            </a:r>
          </a:p>
          <a:p>
            <a:r>
              <a:t>- UNAPEC, pénsum de Ingeniería de Software, revisión 2022: https://servicios.unapec.edu.do/pensum/pensums_descarga/2023/ISO-rev2022.pdf</a:t>
            </a:r>
          </a:p>
          <a:p>
            <a:r>
              <a:t>- UTESA, pénsum de Ingeniería en Sistemas Computacionales, enero 2023: https://utesa.edu/santo-domingo/ingenierias/sistemas/descargables/Pensum%20Carrera%20de%20Ingenieria%20en%20Sistemas%20Computacionales%202023.pdf</a:t>
            </a:r>
          </a:p>
          <a:p>
            <a:r>
              <a:t>- ITLA, Tecnólogo en Desarrollo de Software y plan publicado: https://itla.edu.do/tecnologo-en-desarrollo-de-software/</a:t>
            </a:r>
          </a:p>
          <a:p>
            <a:r>
              <a:t>La comparación se limita a lo declarado en los documentos; un tema puede trabajarse dentro de una asignatura aunque no aparezca en su título.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plataformas tienen cobertura y metodologías distintas; no deben mezclarse como si fueran una sola escala salarial.</a:t>
            </a:r>
          </a:p>
          <a:p>
            <a:r>
              <a:t>Fuentes consultadas el 2 de julio de 2026:</a:t>
            </a:r>
          </a:p>
          <a:p>
            <a:r>
              <a:t>- LinkedIn, consultas de Automation QA, Ciberseguridad, Cloud Engineer y Machine Learning Engineer en República Dominicana; vacantes Emapta DevOps, Synergies Security Analyst y STI Data Engineer.</a:t>
            </a:r>
          </a:p>
          <a:p>
            <a:r>
              <a:t>- Indeed, QA Automation Engineer remoto LATAM, MCTALENT: US$4,000–4,500 mensuales.</a:t>
            </a:r>
          </a:p>
          <a:p>
            <a:r>
              <a:t>- Glassdoor, Software QA Engineer en República Dominicana: base RD$34 mil–RD$96 mil/mes y mediana RD$58 mil/mes, 8 salarios.</a:t>
            </a:r>
          </a:p>
          <a:p>
            <a:r>
              <a:t>- HireTalent.lat, QA Automation Engineer remoto desde República Dominicana: US$22 mil–45 mil/año.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Fuentes:</a:t>
            </a:r>
          </a:p>
          <a:p>
            <a:r>
              <a:t>- PractiTest, State of Testing 2026: https://www.practitest.com/state-of-testing/</a:t>
            </a:r>
          </a:p>
          <a:p>
            <a:r>
              <a:t>- TestRail, Fourth Edition Software Testing &amp; Quality Report, 2025: https://www.testrail.com/blog/fourth-edition-software-testing-and-quality-report/</a:t>
            </a:r>
          </a:p>
          <a:p>
            <a:r>
              <a:t>- TestRail Software Quality Pulse Report: https://www.testrail.com/first-edition-software-quality-pulse-report/</a:t>
            </a:r>
          </a:p>
          <a:p>
            <a:r>
              <a:t>Las encuestas son globales y reflejan a sus participantes; sirven como señal para contrastar con datos locales, no como sustituto de una encuesta dominicana.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Adaptación de la práctica Three Amigos de Agile/BDD. Los tres sectores siguen siendo educación, empresa y Estado; el egresado que trabaja en el área funciona como voz puente entre formación y práctica. Conviene convocar diversidad de niveles, sectores, modalidades y años de graduación, evitando que una sola experiencia se convierta en el currículo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rol docente incluye mantenerse actualizado. Para que sea sostenible, la institución debe reconocer tiempo, formación, infraestructura y colaboración con profesionales del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 suministrada por la expositora: Estudio de remuneración salarial de aseguramiento de calidad de software, República Dominicana 2020–2021. Se presenta como antecedente local, no como escala salarial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suministrada por la expositora, 2 de julio de 2026. Google Trends expresa interés relativo de búsqueda, no cantidad de empleos ni nivel real de adopción profesional. Para completar el radar se contrastan vacantes en LinkedIn Jobs y despidos tecnológicos publicados en Layoffs.fyi y TrueUp.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Valores transcritos de la captura suministrada por la expositora. Son índices relativos de Google Trends para la consulta y periodo mostrados; no equivalen a porcentaje de vacantes ni dominio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Valores transcritos de la captura suministrada por la expositora. La comparación mezcla tipos de término y puede verse afectada por idioma, capitalización y categoría; debe interpretarse como señal exploratoria, no como ranking curricular definitivo.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Adaptación de Shift Left, Scrum y Kanban al proceso de actualización docente y curricular. No elimina la evaluación formal ni la aprobación regulatoria; adelanta evidencia y permite pilotos controlados.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Fuentes MESCyT: Memoria Institucional 2023, pp. 50 y siguientes; Boletín enero–abril 2023; noticia del 1 de noviembre de 2022. La propuesta de Git no obliga a publicar información sensible: puede implementarse en repositorios privados bajo control institucional.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Precios consultados el 2 de julio de 2026. Anthropic List Prices, 27 de mayo de 2026. OpenAI Codex rate card, actualizado en 2026. El presupuesto piloto es una estimación de planificación y debe validarse con consumo real y compras institucionales.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URL completas se conservan en las notas y los enlaces clicables de las diapositivas.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La modernización propuesta combina progreso con responsabilidad: evidencia, diálogo, trazabilidad, regulación y revisión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Vacante Sr. AI/ML Engineer de Perform, suministrada por la expositora. Publicada para República Dominicana, modalidad remota y tiempo completo. Consulta: julio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Vacante Golang Developer de BairesDev suministrada por la expositora. Publicada para Santo Domingo, modalidad remota y tiempo completo. Consulta: julio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 opcional para construir desde cero durante la presentación. Si no hay tiempo, se anuncia como continuidad para una demostración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3CEEF-FF6D-2C2D-435D-3214D06CCF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034567"/>
            <a:ext cx="9144000" cy="176513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Nombre de la Investigación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96175A-F973-FFDE-374B-2FA4B49E74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079702"/>
            <a:ext cx="9144000" cy="6289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Grupo de investigadores  y afiliación</a:t>
            </a:r>
            <a:endParaRPr lang="es-D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5CBC7B-59D2-4F32-66E5-C9B4F297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AAF6C-5A47-4D10-98C4-F2EDDE676E1D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9EB76F-7953-036D-4DD5-F0E7E26C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73377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DO" b="1" i="0" dirty="0">
                <a:effectLst/>
                <a:latin typeface="Söhne"/>
              </a:rPr>
              <a:t>Introducción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Breve introducción al problema de investigación.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Justificación de la importancia del proyecto.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29633-71D9-4507-839A-62005D3B945A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771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DO" b="1" i="0" dirty="0">
                <a:effectLst/>
                <a:latin typeface="Söhne"/>
              </a:rPr>
              <a:t>Objetivos de la Investigación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Objetivo general de la investigación.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Objetivos específicos.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AB3A-56A7-4955-A384-4C37FCAAC8B8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691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DO" b="1" i="0" dirty="0">
                <a:effectLst/>
                <a:latin typeface="Söhne"/>
              </a:rPr>
              <a:t>Marco Teórico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Resumen de la literatura relevante.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Conceptos clave y teorías relacionadas con el proyecto.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A62E-15F3-4F30-BA96-622006943827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8220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MX" b="1" i="0" dirty="0">
                <a:effectLst/>
                <a:latin typeface="Söhne"/>
              </a:rPr>
              <a:t>Pregunta de Investigación o Hipótesis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Declaración de la pregunta de investigación o hipótesis.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Cualquier </a:t>
            </a:r>
            <a:r>
              <a:rPr lang="es-MX" b="0" i="0" dirty="0" err="1">
                <a:solidFill>
                  <a:srgbClr val="374151"/>
                </a:solidFill>
                <a:effectLst/>
                <a:latin typeface="Söhne"/>
              </a:rPr>
              <a:t>sub-pregunta</a:t>
            </a: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 importante.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71D9-B3A2-40AA-B93C-DA08E15DD6F8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8187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DO" b="1" i="0" dirty="0">
                <a:effectLst/>
                <a:latin typeface="Söhne"/>
              </a:rPr>
              <a:t>Metodología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Descripción de los métodos de investigación utilizados.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Detalles sobre el diseño del estudio, participantes, instrumentos, etc.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2E3A0-915B-4977-A305-5235AC59FE11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2552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DO" b="1" i="0" dirty="0">
                <a:effectLst/>
                <a:latin typeface="Söhne"/>
              </a:rPr>
              <a:t>Metodología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Descripción de los métodos de investigación utilizados.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Detalles sobre el diseño del estudio, participantes, instrumentos, etc.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3313-DD56-4213-8919-4B7DD78CF677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87007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DO" b="1" i="0" dirty="0">
                <a:effectLst/>
                <a:latin typeface="Söhne"/>
              </a:rPr>
              <a:t>Cronograma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Tabla que muestra las fases y el tiempo estimado para cada una.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6390-51A4-409F-AA86-7BCBED490E8B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074483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DO" b="1" i="0" dirty="0">
                <a:effectLst/>
                <a:latin typeface="Söhne"/>
              </a:rPr>
              <a:t>Resultados Esperados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Descripción de los posibles resultados.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Implicaciones prácticas y teóricas.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611D-60FF-414D-8F0A-43B3717E5D77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4290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9FAD4-F463-8979-1ECF-D2E850D1C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s-DO" b="1" i="0" dirty="0">
                <a:effectLst/>
                <a:latin typeface="Söhne"/>
              </a:rPr>
              <a:t>Consorcios / colaboradores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EF12C-ADED-8CA3-8D61-D6B6046BC71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Instituciones o colaboradores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C50FA-DFFF-1F65-16B2-4A882AB0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29F38-B71B-4C5F-B9FF-2B76B32D8A3D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CA3F-6D5D-F96A-69E4-E3E9070A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1309355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363FB0-CBE9-3045-0BCA-6589F1037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100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D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48846B-52B5-5449-C3DA-EEDF40021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2100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D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1A61E0-F5B5-267E-FF3B-8EA765DCB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0000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6D152-4256-40AC-B729-9232DED92BB7}" type="datetime1">
              <a:rPr lang="es-DO" smtClean="0"/>
              <a:t>23/6/2026</a:t>
            </a:fld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5F7AA5-0B4F-71AF-1E77-27FFE6614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5480" y="6356350"/>
            <a:ext cx="1271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C8C0F-6D66-4743-B200-3B1B095AA6F7}" type="slidenum">
              <a:rPr lang="es-DO" smtClean="0"/>
              <a:t>‹Nº›</a:t>
            </a:fld>
            <a:endParaRPr lang="es-D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4B364E7-340A-ECE2-3DEF-4029F09C80CB}"/>
              </a:ext>
            </a:extLst>
          </p:cNvPr>
          <p:cNvSpPr/>
          <p:nvPr userDrawn="1"/>
        </p:nvSpPr>
        <p:spPr>
          <a:xfrm>
            <a:off x="11500701" y="0"/>
            <a:ext cx="69129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1F8A0A-64AE-6EDA-2EE7-8D77BFD014F2}"/>
              </a:ext>
            </a:extLst>
          </p:cNvPr>
          <p:cNvSpPr/>
          <p:nvPr userDrawn="1"/>
        </p:nvSpPr>
        <p:spPr>
          <a:xfrm>
            <a:off x="11231252" y="0"/>
            <a:ext cx="691299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17229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64" r:id="rId4"/>
    <p:sldLayoutId id="2147483665" r:id="rId5"/>
    <p:sldLayoutId id="2147483668" r:id="rId6"/>
    <p:sldLayoutId id="2147483670" r:id="rId7"/>
    <p:sldLayoutId id="2147483667" r:id="rId8"/>
    <p:sldLayoutId id="2147483671" r:id="rId9"/>
    <p:sldLayoutId id="2147483672" r:id="rId10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linkedin.com/job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linkedin.com/job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linkedin.com/job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linkedin.com/job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create.piktochart.com/output/58568414-estudio-sqa-rd-2021" TargetMode="Externa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s://www.linkedin.com/jobs" TargetMode="External"/><Relationship Id="rId4" Type="http://schemas.openxmlformats.org/officeDocument/2006/relationships/hyperlink" Target="https://layoffs.fyi/" TargetMode="External"/><Relationship Id="rId5" Type="http://schemas.openxmlformats.org/officeDocument/2006/relationships/hyperlink" Target="https://www.trueup.io/layoffs" TargetMode="External"/><Relationship Id="rId6" Type="http://schemas.openxmlformats.org/officeDocument/2006/relationships/hyperlink" Target="https://trends.google.com/trends/" TargetMode="Externa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rends.google.com/trends/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rends.google.com/trends/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mescyt.gob.do/transparencia/wp-content/uploads/2024/01/Memoria-Institucional-anual-MESCYT-2023.pdf" TargetMode="External"/><Relationship Id="rId4" Type="http://schemas.openxmlformats.org/officeDocument/2006/relationships/hyperlink" Target="https://create.piktochart.com/output/58568414-estudio-sqa-rd-2021" TargetMode="External"/><Relationship Id="rId5" Type="http://schemas.openxmlformats.org/officeDocument/2006/relationships/hyperlink" Target="https://www.linkedin.com/jobs" TargetMode="External"/><Relationship Id="rId6" Type="http://schemas.openxmlformats.org/officeDocument/2006/relationships/hyperlink" Target="https://www.anthropic.com/pricing" TargetMode="External"/><Relationship Id="rId7" Type="http://schemas.openxmlformats.org/officeDocument/2006/relationships/hyperlink" Target="https://openai.com/api/pricing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inkedin.com/in/marlenis-judith-c-561117a3/" TargetMode="External"/><Relationship Id="rId3" Type="http://schemas.openxmlformats.org/officeDocument/2006/relationships/hyperlink" Target="https://github.com/marlenis-concepcion/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linkedin.com/jobs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linkedin.com/job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Ministerio de Educación Superior Ciencia y Tecnología ...">
            <a:extLst>
              <a:ext uri="{FF2B5EF4-FFF2-40B4-BE49-F238E27FC236}">
                <a16:creationId xmlns:a16="http://schemas.microsoft.com/office/drawing/2014/main" id="{3238974E-8ED1-9947-DFE9-40A90B0ED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26" b="5063"/>
          <a:stretch/>
        </p:blipFill>
        <p:spPr bwMode="auto">
          <a:xfrm>
            <a:off x="8860537" y="0"/>
            <a:ext cx="2320098" cy="1304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584382-E20C-6E63-F434-3F2D07127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267712"/>
            <a:ext cx="10195560" cy="1325880"/>
          </a:xfrm>
        </p:spPr>
        <p:txBody>
          <a:bodyPr wrap="square" anchor="ctr"/>
          <a:lstStyle/>
          <a:p>
            <a:pPr algn="ctr"/>
            <a:r>
              <a:rPr sz="2300" b="1"/>
              <a:t>Transformación del perfil profesional en la era de la automatización e IA:</a:t>
            </a:r>
            <a:br/>
            <a:r>
              <a:rPr sz="2300" b="1"/>
              <a:t>implicaciones para la educación superior en América Latina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4DF812-4371-1DCD-2FC8-0FC0E1035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ctr"/>
          <a:lstStyle/>
          <a:p>
            <a:pPr algn="ctr"/>
            <a:r>
              <a:rPr sz="1600" b="0"/>
              <a:t>Competencias, inteligencia artificial y diálogo Universidad–Empresa–Estado</a:t>
            </a:r>
            <a:br/>
            <a:r>
              <a:rPr sz="1600" b="0"/>
              <a:t>Mtra. Marlenis Judith Concepción Cuevas · UASD</a:t>
            </a:r>
            <a:endParaRPr lang="es-D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50CFB-71D0-DABD-F921-516F1966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1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3DF543-4BD8-D130-E0A4-130E5A68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4B2921C-D0CF-1E43-38B4-352EC23EE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189" y="14523"/>
            <a:ext cx="1804129" cy="953526"/>
          </a:xfrm>
          <a:prstGeom prst="rect">
            <a:avLst/>
          </a:prstGeom>
        </p:spPr>
      </p:pic>
      <p:pic>
        <p:nvPicPr>
          <p:cNvPr id="11" name="Picture 10" descr="logo_uas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8288"/>
            <a:ext cx="950976" cy="950976"/>
          </a:xfrm>
          <a:prstGeom prst="rect">
            <a:avLst/>
          </a:prstGeom>
        </p:spPr>
      </p:pic>
      <p:pic>
        <p:nvPicPr>
          <p:cNvPr id="12" name="Picture 11" descr="logo_facultad_ciencias_uas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18288"/>
            <a:ext cx="950976" cy="95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0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AE1C1-6FC0-796B-1EDA-A050F0C7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800" b="1"/>
              <a:t>El mercado cambia por semanas; el currículo, por años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AFDC11-D05F-014D-827D-AD41C9FE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t>Una vacante publicada hoy combina fundamentos, herramientas, dominio de negocio, inglés y habilidades de colaboración.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/>
            </a:pPr>
            <a:r>
              <a:t>El rediseño por competencias requirió cerca de un año de reuniones, trabajo asincrónico y retroalimentación interinstitucional.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/>
            </a:pPr>
            <a:r>
              <a:t>Ese esfuerzo fue necesario; el nuevo reto es convertirlo en una capacidad continua, no repetir un proyecto anual completo.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/>
            </a:pPr>
            <a:r>
              <a:t>Pregunta guía: ¿cómo detectar, validar e incorporar cambios sin perseguir cada herramienta de moda?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5F120C-274B-6659-7BAE-BB923336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2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6B862E-C12D-CD17-BCD2-36EDE915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336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15D46-4317-8ACE-8F8E-B939AEA3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800" b="1"/>
              <a:t>31 IES participantes del piloto · MESCyT 2022</a:t>
            </a:r>
            <a:endParaRPr lang="es-D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CA5A88-4D02-C044-E776-457394C9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3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1024E8-CAC9-1AFD-6C68-ED7392F0D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  <p:sp>
        <p:nvSpPr>
          <p:cNvPr id="6" name="TextBox 5"/>
          <p:cNvSpPr txBox="1"/>
          <p:nvPr/>
        </p:nvSpPr>
        <p:spPr>
          <a:xfrm>
            <a:off x="841248" y="1627632"/>
            <a:ext cx="3246120" cy="4526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1. IES Escuela Nacional del Ministerio Público (IES-ENMP)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2. Instituto Superior para la Defensa (INSUDE)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3. ITESMARENA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4. Instituto Tecnológico de las Américas (ITLA)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5. Instituto Técnico Superior Comunitario (ITSC)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6. Instituto Técnico Superior OSCUS San Valero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7. Instituto Tecnológico de Santo Domingo (INTEC)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8. Pontificia Universidad Católica Madre y Maestra (PUCMM)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9. Universidad Abierta para Adultos (UAPA)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10. Universidad Adventista Dominicana (UNAD)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11. Universidad APEC (UNAPEC)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9392" y="1627632"/>
            <a:ext cx="3246120" cy="4526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12. Universidad Autónoma de Santo Domingo (UASD)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13. Universidad Católica del Cibao (UCATECI)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14. Universidad Católica Nordestana (UCNE)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15. Universidad Católica Santo Domingo (UCSD)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16. Universidad Católica Tecnológica de Barahona (UCATEBA)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17. Universidad Central del Este (UCE)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18. Universidad de la Tercera Edad (UTE)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19. Universidad del Caribe (UNICARIBE)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20. Universidad Domínico-Americana (UNICDA)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21. Universidad Dominicana O&amp;M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7536" y="1627632"/>
            <a:ext cx="3246120" cy="4526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22. Universidad Eugenio María de Hostos (UNIREMHOS)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23. Universidad Federico Henríquez y Carvajal (UFHEC)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24. Universidad Iberoamericana (UNIBE)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25. Universidad ISA (UNISA)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26. Universidad Nacional Pedro Henríquez Ureña (UNPHU)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27. Universidad Nacional Tecnológica (UNNATEC)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28. Universidad Odontológica Dominicana (UOD)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29. Universidad Tecnológica de Santiago (UTESA)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30. Universidad Tecnológica del Cibao Oriental (UTECO)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150"/>
            </a:pPr>
            <a:r>
              <a:t>31. Universidad Tecnológica del Sur (UTESUR)</a:t>
            </a:r>
          </a:p>
        </p:txBody>
      </p:sp>
    </p:spTree>
    <p:extLst>
      <p:ext uri="{BB962C8B-B14F-4D97-AF65-F5344CB8AC3E}">
        <p14:creationId xmlns:p14="http://schemas.microsoft.com/office/powerpoint/2010/main" val="264719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B779E-333E-ECBC-7267-CA227A06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700" b="1"/>
              <a:t>Vacante real: Functional QA Engineer · Applaudo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980388-43B4-229E-95CE-1A45C141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t>Modalidad: remota, tiempo completo y contrato temporal de dos meses en República Dominicana.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/>
            </a:pPr>
            <a:r>
              <a:t>Requisito: 3+ años en QA funcional; pruebas manuales, regresión y validaciones de punta a punta.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/>
            </a:pPr>
            <a:r>
              <a:t>Trabajo: diseñar y mantener casos, documentar defectos y colaborar con desarrolladores y stakeholders.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/>
            </a:pPr>
            <a:r>
              <a:t>Contexto: WordPress, WooCommerce, seguridad, cumplimiento, RBAC y flujos basados en QR.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/>
            </a:pPr>
            <a:r>
              <a:t>Pregunta curricular: ¿el egresado practicó estas capacidades y puede demostrarlas con evidencia?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4FE330-CDB7-452D-CEC8-8118D472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4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DFE4C1-70CA-372C-B54C-CF0DA89D9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  <p:sp>
        <p:nvSpPr>
          <p:cNvPr id="6" name="TextBox 5"/>
          <p:cNvSpPr txBox="1"/>
          <p:nvPr/>
        </p:nvSpPr>
        <p:spPr>
          <a:xfrm>
            <a:off x="7955279" y="6190488"/>
            <a:ext cx="27889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 u="sng">
                <a:solidFill>
                  <a:srgbClr val="0A66C2"/>
                </a:solidFill>
                <a:hlinkClick r:id="rId3"/>
              </a:rPr>
              <a:t>Fuente de vacantes: visitar LinkedIn Jobs</a:t>
            </a:r>
          </a:p>
        </p:txBody>
      </p:sp>
    </p:spTree>
    <p:extLst>
      <p:ext uri="{BB962C8B-B14F-4D97-AF65-F5344CB8AC3E}">
        <p14:creationId xmlns:p14="http://schemas.microsoft.com/office/powerpoint/2010/main" val="237315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E225B-FFE9-3032-6535-722E00BC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700" b="1"/>
              <a:t>Vacante real: Data Engineer · Origami Risk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0ABB0-0EC9-8975-9F09-86237E818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t>Modalidad: presencial, tiempo completo, Santo Domingo; inglés escrito y comprensión lectora.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/>
            </a:pPr>
            <a:r>
              <a:t>AWS: S3, Lambda, Glue, Step Functions y API Gateway; Python o C#/.NET y SQL Server.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/>
            </a:pPr>
            <a:r>
              <a:t>Datos: Databricks, Spark, lakehouse, ETL/ELT, modelado, API e ingesta de archivos.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/>
            </a:pPr>
            <a:r>
              <a:t>Calidad: gobierno, seguridad, cumplimiento, CI/CD y soporte a datos para analítica y aprendizaje automático.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/>
            </a:pPr>
            <a:r>
              <a:t>Pregunta curricular: ¿dónde construye el estudiante una tubería integral y defendible en su portafolio?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CB8430-C935-22A3-D559-679006A7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033B1C-FA31-234A-7D6A-B40EB038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7</a:t>
            </a:r>
            <a:endParaRPr lang="es-DO"/>
          </a:p>
        </p:txBody>
      </p:sp>
      <p:sp>
        <p:nvSpPr>
          <p:cNvPr id="6" name="TextBox 5"/>
          <p:cNvSpPr txBox="1"/>
          <p:nvPr/>
        </p:nvSpPr>
        <p:spPr>
          <a:xfrm>
            <a:off x="7955279" y="6190488"/>
            <a:ext cx="27889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 u="sng">
                <a:solidFill>
                  <a:srgbClr val="0A66C2"/>
                </a:solidFill>
                <a:hlinkClick r:id="rId3"/>
              </a:rPr>
              <a:t>Fuente de vacantes: visitar LinkedIn Jobs</a:t>
            </a:r>
          </a:p>
        </p:txBody>
      </p:sp>
    </p:spTree>
    <p:extLst>
      <p:ext uri="{BB962C8B-B14F-4D97-AF65-F5344CB8AC3E}">
        <p14:creationId xmlns:p14="http://schemas.microsoft.com/office/powerpoint/2010/main" val="1956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E225B-FFE9-3032-6535-722E00BC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700" b="1"/>
              <a:t>Audiencia: ¿se enseña, se practica y se demuestra?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0ABB0-0EC9-8975-9F09-86237E818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380"/>
            </a:pPr>
            <a:r>
              <a:t>QA FUNDAMENTAL · pruebas funcionales, regresión, E2E, API, rendimiento, carga, estrés, seguridad, RBAC, casos, defectos y evidencias de auditoría.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AUTOMATIZACIÓN · Playwright, Selenium, Cypress, Appium, Postman, JMeter, JUnit; frameworks mantenibles, CI/CD y pruebas web, móvil y escritorio.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QUALITY ENGINEERING + IA · generación inteligente, priorización, cobertura, pruebas autorreparables, LLM, MCP, agentes y control de resultados deterministas.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SOFTWARE, DATOS E IA · Python, Java, C#/.NET, API, SQL/NoSQL, ETL/ELT, Snowflake, Airflow, dbt, Looker, RAG, embeddings, agentes y evaluación de modelos.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NUBE Y OPERACIÓN · AWS, Terraform, Git/GitHub, Jenkins/GitHub Actions, Docker, Linux, despliegue cloud, seguridad, documentación y cumplimiento.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EVIDENCIA PROFESIONAL · inglés, Agile, comunicación, liderazgo, mentoría, conocimiento del negocio, certificaciones ISTQB y GitHub/portafolio.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DINÁMICA · docentes/directivos: ¿dónde se enseña? Estudiantes: ¿qué han construido? Empresas: ¿qué evidencia aceptarían?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CB8430-C935-22A3-D559-679006A7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033B1C-FA31-234A-7D6A-B40EB038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8</a:t>
            </a:r>
            <a:endParaRPr lang="es-DO"/>
          </a:p>
        </p:txBody>
      </p:sp>
      <p:sp>
        <p:nvSpPr>
          <p:cNvPr id="6" name="TextBox 5"/>
          <p:cNvSpPr txBox="1"/>
          <p:nvPr/>
        </p:nvSpPr>
        <p:spPr>
          <a:xfrm>
            <a:off x="7955279" y="6190488"/>
            <a:ext cx="27889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 u="sng">
                <a:solidFill>
                  <a:srgbClr val="0A66C2"/>
                </a:solidFill>
                <a:hlinkClick r:id="rId3"/>
              </a:rPr>
              <a:t>Fuente de vacantes: visitar LinkedIn Jobs</a:t>
            </a:r>
          </a:p>
        </p:txBody>
      </p:sp>
    </p:spTree>
    <p:extLst>
      <p:ext uri="{BB962C8B-B14F-4D97-AF65-F5344CB8AC3E}">
        <p14:creationId xmlns:p14="http://schemas.microsoft.com/office/powerpoint/2010/main" val="248591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C9E46-4C7E-2564-38A2-B4AF02BC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600" b="1"/>
              <a:t>Cuatro vacantes locales, cuatro niveles de especialización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D41B0B-93BA-A814-5ABD-FF9311E06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GRUPO RAMOS · Quality Assurance Senior · híbrido: automatización, rendimiento, carga, estrés, seguridad, documentación, mejora continua e ISTQB preferible.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HIRISE · Sr QA Automation Engineer · híbrido: Playwright/Selenium, estrategia, IA generativa, self-healing, LLM/MCP, SQL, Jira, AWS, CI/CD, API y performance.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AI ROBOTIX · Software/AI Engineer · híbrido: Python, backend, API, SQL, LLM, embeddings, RAG, tool calling, agentes, evaluación, ETL, Docker, Linux y nube.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PERFORM · Data Engineer · remoto: Python, SQL, ETL, Snowflake, AWS, Terraform, Airflow, dbt, Looker, modelado, calidad de datos y herramientas de IA de uso diario.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EXPERIENCIA SOLICITADA · Grupo Ramos: 3+ años; HiRise: 7+ años; AI Robotix enfatiza capacidad de construir, aprender rápido y mostrar GitHub o portafolio.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80"/>
            </a:pPr>
            <a:r>
              <a:t>LECTURA · el mercado mantiene fundamentos de software y QA, pero agrega automatización, nube, IA aplicada, liderazgo y evidencia pública del trabajo.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731A16-724E-9E39-39F2-82BB6840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9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EF6FEE-8835-0485-36ED-B4BC8F13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  <p:sp>
        <p:nvSpPr>
          <p:cNvPr id="6" name="TextBox 5"/>
          <p:cNvSpPr txBox="1"/>
          <p:nvPr/>
        </p:nvSpPr>
        <p:spPr>
          <a:xfrm>
            <a:off x="7955279" y="6190488"/>
            <a:ext cx="27889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 u="sng">
                <a:solidFill>
                  <a:srgbClr val="0A66C2"/>
                </a:solidFill>
                <a:hlinkClick r:id="rId3"/>
              </a:rPr>
              <a:t>Fuente de vacantes: visitar LinkedIn Jobs</a:t>
            </a:r>
          </a:p>
        </p:txBody>
      </p:sp>
    </p:spTree>
    <p:extLst>
      <p:ext uri="{BB962C8B-B14F-4D97-AF65-F5344CB8AC3E}">
        <p14:creationId xmlns:p14="http://schemas.microsoft.com/office/powerpoint/2010/main" val="249084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520EC-7683-426A-483A-E859BC76B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800" b="1"/>
              <a:t>Las encuestas QA confirman que el rol se está ampliando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922FD6-20CB-64DE-0BD5-D3E8A6409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600"/>
            </a:pPr>
            <a:r>
              <a:t>STATE OF TESTING 2026 · 78.8% identifica la IA como la tendencia de mayor impacto para los próximos cinco años; adopción organizacional reportada: 76.8%.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/>
            </a:pPr>
            <a:r>
              <a:t>La madurez importa: profesionales en entornos con prácticas optimizadas reportan ingresos promedio mayores que quienes están en fases iniciales.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/>
            </a:pPr>
            <a:r>
              <a:t>TESTRAIL 2025 · miles de profesionales: 43% de los equipos busca aumentar automatización; persiste la necesidad de conectar métricas QA con impacto de negocio.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/>
            </a:pPr>
            <a:r>
              <a:t>SOFTWARE QUALITY PULSE · cerca de 4,000 profesionales: 61% reporta aumento importante de demanda de pruebas por código generado con IA.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/>
            </a:pPr>
            <a:r>
              <a:t>Lectura curricular: automatización + estrategia + negocio + liderazgo + IA responsable; no automatización en lugar de criterio humano.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966DF8-A66C-FAC8-B9D4-372D0F83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10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3EBB63-D032-67A8-99C1-ABED9358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784896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68E9-8140-5B9C-02FE-1401B6FB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800" b="1"/>
              <a:t>Tres sectores y una voz puente: el egresado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4B2AF-DB12-318D-FDBC-FE370C64B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370"/>
            </a:pPr>
            <a:r>
              <a:t>EDUCACIÓN · protege fundamentos, coherencia pedagógica y evaluación; reconoce que una carga diaria de ocho horas o más de docencia deja poco margen para investigar el mercado continuamente.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70"/>
            </a:pPr>
            <a:r>
              <a:t>EGRESADO EN EJERCICIO · aporta lo que vive hoy en proyectos, entrevistas, herramientas, procesos, modalidades de trabajo y expectativas de contratación.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70"/>
            </a:pPr>
            <a:r>
              <a:t>PANEL POR TRAYECTORIA · Junior y Mid explican la entrada al mercado; Senior y Lead, el dominio técnico; Gerencia, CEO y VP, estrategia, liderazgo y capacidades futuras.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70"/>
            </a:pPr>
            <a:r>
              <a:t>EMPRESA · valida qué competencias necesita, qué evidencia acepta y qué problemas reales puede compartir para laboratorios, proyectos y pasantías.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70"/>
            </a:pPr>
            <a:r>
              <a:t>ESTADO · regula y modera; garantiza calidad, inclusión, protección de datos, derechos, financiamiento y continuidad institucional.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70"/>
            </a:pPr>
            <a:r>
              <a:t>SESIÓN DE 60–90 MIN · evidencia → brecha → experiencia del egresado → alternativa → piloto → responsable → fecha de revisión.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70"/>
            </a:pPr>
            <a:r>
              <a:t>CADENCIA · comunidad de egresados permanente, radar mensual, mesa trimestral y pilotos semestrales con resultados documentados.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FCE961-4089-AD33-3B93-88203C25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11</a:t>
            </a:r>
            <a:endParaRPr lang="es-D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36B47B-3274-9C8D-B972-9B7937A0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3774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31E49-97FE-BAF2-AC5B-8C0360EBB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800" b="1"/>
              <a:t>Actualizar no siempre significa esperar otro rediseño</a:t>
            </a:r>
            <a:endParaRPr lang="es-D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B5BBE9-F6C9-9445-3246-CCF707B50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Más asignaturas virtuales o semipresenciales cuando amplíen acceso sin reducir la calidad.</a:t>
            </a:r>
            <a:endParaRPr lang="es-DO"/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Más secciones y horarios compatibles con estudiantes que trabajan y profesionales que desean actualizarse.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Docentes vinculados al área profesional que enseñan, acompañados en pedagogía y evaluación por competencias.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Laboratorios con casos reales, datos protegidos, API, nube, automatización, CI/CD e inglés aplicado.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Portafolios y proyectos evaluados conjuntamente; microcredenciales apilables para responder con mayor velocidad.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/>
            </a:pPr>
            <a:r>
              <a:t>Meta: conservar fundamentos y actualizar la práctica a la velocidad de la evidencia.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A0D42F-629E-8491-C69F-02B62041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97D28E-EE2D-8BA3-E082-19BD4AA3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12</a:t>
            </a:r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181742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Ministerio de Educación Superior Ciencia y Tecnología ...">
            <a:extLst>
              <a:ext uri="{FF2B5EF4-FFF2-40B4-BE49-F238E27FC236}">
                <a16:creationId xmlns:a16="http://schemas.microsoft.com/office/drawing/2014/main" id="{F21BD985-3FC2-0B4B-4A81-E7DD0A3127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26" b="5063"/>
          <a:stretch/>
        </p:blipFill>
        <p:spPr bwMode="auto">
          <a:xfrm>
            <a:off x="8887969" y="0"/>
            <a:ext cx="2320098" cy="1304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6D4392-EF3B-E831-CF27-FB00ECF3F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353312"/>
            <a:ext cx="9646920" cy="658368"/>
          </a:xfrm>
        </p:spPr>
        <p:txBody>
          <a:bodyPr wrap="square" anchor="ctr"/>
          <a:lstStyle/>
          <a:p>
            <a:pPr algn="ctr"/>
            <a:r>
              <a:rPr sz="2400" b="1"/>
              <a:t>Estudio SQA República Dominicana 2020–2021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CC5CEE-F2FF-6965-3BFD-83DA1443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anchor="ctr"/>
          <a:lstStyle/>
          <a:p>
            <a:r>
              <a:rPr sz="1000"/>
              <a:t>CIC2026</a:t>
            </a:r>
            <a:endParaRPr lang="es-D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D26399-0537-85D2-51B8-42EC57FC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/>
          <a:lstStyle/>
          <a:p>
            <a:pPr algn="r"/>
            <a:r>
              <a:rPr sz="1000"/>
              <a:t>13</a:t>
            </a:r>
            <a:endParaRPr lang="es-DO"/>
          </a:p>
        </p:txBody>
      </p:sp>
      <p:pic>
        <p:nvPicPr>
          <p:cNvPr id="7" name="Picture 6" descr="logo_ua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288"/>
            <a:ext cx="950976" cy="950976"/>
          </a:xfrm>
          <a:prstGeom prst="rect">
            <a:avLst/>
          </a:prstGeom>
        </p:spPr>
      </p:pic>
      <p:pic>
        <p:nvPicPr>
          <p:cNvPr id="8" name="Picture 7" descr="logo_facultad_ciencias_uas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18288"/>
            <a:ext cx="950976" cy="9509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7320" y="2267712"/>
            <a:ext cx="78181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550"/>
            </a:pPr>
            <a:r>
              <a:t>Referencia histórica local sobre aseguramiento de calidad de software y remuneración salarial.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50"/>
            </a:pPr>
            <a:r>
              <a:t>Sirve para observar perfiles, experiencia y contexto dominicano; sus salarios no deben presentarse como valores vigentes de 2026.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50"/>
            </a:pPr>
            <a:r>
              <a:t>Debe contrastarse con vacantes actuales, modalidades de trabajo y nuevas competencias en automatización, nube e IA.</a:t>
            </a:r>
          </a:p>
        </p:txBody>
      </p:sp>
      <p:sp>
        <p:nvSpPr>
          <p:cNvPr id="10" name="Oval 9"/>
          <p:cNvSpPr/>
          <p:nvPr/>
        </p:nvSpPr>
        <p:spPr>
          <a:xfrm>
            <a:off x="9738360" y="1508760"/>
            <a:ext cx="566928" cy="566928"/>
          </a:xfrm>
          <a:prstGeom prst="ellipse">
            <a:avLst/>
          </a:prstGeom>
          <a:solidFill>
            <a:srgbClr val="25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51008" y="2148840"/>
            <a:ext cx="310896" cy="310896"/>
          </a:xfrm>
          <a:prstGeom prst="ellipse">
            <a:avLst/>
          </a:prstGeom>
          <a:solidFill>
            <a:srgbClr val="25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2542032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31552" y="2542032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79024" y="2542032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0" y="2889504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31552" y="2889504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79024" y="2889504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5212080"/>
            <a:ext cx="39319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u="sng">
                <a:solidFill>
                  <a:srgbClr val="0A66C2"/>
                </a:solidFill>
                <a:hlinkClick r:id="rId5"/>
              </a:rPr>
              <a:t>Consultar el Estudio SQA RD 2020–2021</a:t>
            </a:r>
          </a:p>
        </p:txBody>
      </p:sp>
    </p:spTree>
    <p:extLst>
      <p:ext uri="{BB962C8B-B14F-4D97-AF65-F5344CB8AC3E}">
        <p14:creationId xmlns:p14="http://schemas.microsoft.com/office/powerpoint/2010/main" val="11272937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600" b="1"/>
              <a:t>Google Trends: señales para el radar tecnológico</a:t>
            </a:r>
          </a:p>
        </p:txBody>
      </p:sp>
      <p:pic>
        <p:nvPicPr>
          <p:cNvPr id="3" name="Picture 2" descr="Screenshot_Googl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16152"/>
            <a:ext cx="9646920" cy="46584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6053328"/>
            <a:ext cx="1874519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 u="sng">
                <a:solidFill>
                  <a:srgbClr val="0A66C2"/>
                </a:solidFill>
                <a:hlinkClick r:id="rId3"/>
              </a:rPr>
              <a:t>Vacantes: LinkedIn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6053328"/>
            <a:ext cx="16916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 u="sng">
                <a:solidFill>
                  <a:srgbClr val="0A66C2"/>
                </a:solidFill>
                <a:hlinkClick r:id="rId4"/>
              </a:rPr>
              <a:t>Layoffs: Layoffs.fyi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053328"/>
            <a:ext cx="15087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 u="sng">
                <a:solidFill>
                  <a:srgbClr val="0A66C2"/>
                </a:solidFill>
                <a:hlinkClick r:id="rId5"/>
              </a:rPr>
              <a:t>Layoffs: TrueUp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053328"/>
            <a:ext cx="19659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 u="sng">
                <a:solidFill>
                  <a:srgbClr val="0A66C2"/>
                </a:solidFill>
                <a:hlinkClick r:id="rId6"/>
              </a:rPr>
              <a:t>Explorar Google Trends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600" b="1"/>
              <a:t>Google Trends: lenguajes y herramientas de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298448"/>
            <a:ext cx="9052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/>
              <a:t>Interés medio visible en la captura · Todo el mundo · Último mes · Búsqueda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55648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783080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1568" y="1783080"/>
            <a:ext cx="5897880" cy="2286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1755648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6771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295144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1568" y="2295144"/>
            <a:ext cx="2948940" cy="22860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267712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7977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Java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807208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2807208"/>
            <a:ext cx="2730500" cy="228600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779776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3319272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01568" y="3319272"/>
            <a:ext cx="1856740" cy="22860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291840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03904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Docker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3831336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01568" y="3831336"/>
            <a:ext cx="1747520" cy="228600"/>
          </a:xfrm>
          <a:prstGeom prst="roundRect">
            <a:avLst/>
          </a:prstGeom>
          <a:solidFill>
            <a:srgbClr val="F48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803904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15968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React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01568" y="4343400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1568" y="4343400"/>
            <a:ext cx="1638300" cy="228600"/>
          </a:xfrm>
          <a:prstGeom prst="roundRect">
            <a:avLst/>
          </a:prstGeom>
          <a:solidFill>
            <a:srgbClr val="A14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315968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2803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Git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1568" y="4855464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01568" y="4855464"/>
            <a:ext cx="1201420" cy="228600"/>
          </a:xfrm>
          <a:prstGeom prst="roundRect">
            <a:avLst/>
          </a:prstGeom>
          <a:solidFill>
            <a:srgbClr val="24A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4828032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34009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Cloud computing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1568" y="5367528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01568" y="5367528"/>
            <a:ext cx="327660" cy="228600"/>
          </a:xfrm>
          <a:prstGeom prst="roundRect">
            <a:avLst/>
          </a:prstGeom>
          <a:solidFill>
            <a:srgbClr val="D93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5340096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989320"/>
            <a:ext cx="19202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u="sng">
                <a:solidFill>
                  <a:srgbClr val="0A66C2"/>
                </a:solidFill>
                <a:hlinkClick r:id="rId2"/>
              </a:rPr>
              <a:t>Abrir Google Trends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600" b="1"/>
              <a:t>Google Trends: áreas del mercado de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298448"/>
            <a:ext cx="9052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/>
              <a:t>Interés medio visible en la captura · Todo el mundo · Últimos 5 años · Búsqueda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55648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Base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783080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1568" y="1783080"/>
            <a:ext cx="5897880" cy="2286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1755648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6771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DevOps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295144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1568" y="2295144"/>
            <a:ext cx="589788" cy="228600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267712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7977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Ciberseguridad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807208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2807208"/>
            <a:ext cx="164592" cy="228600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779776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Desarrollo 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3319272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01568" y="3319272"/>
            <a:ext cx="73152" cy="22860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291840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03904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Arquitectura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3831336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01568" y="3831336"/>
            <a:ext cx="73152" cy="228600"/>
          </a:xfrm>
          <a:prstGeom prst="roundRect">
            <a:avLst/>
          </a:prstGeom>
          <a:solidFill>
            <a:srgbClr val="F48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803904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15968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Metodologías ágiles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01568" y="4343400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1568" y="4343400"/>
            <a:ext cx="73152" cy="228600"/>
          </a:xfrm>
          <a:prstGeom prst="roundRect">
            <a:avLst/>
          </a:prstGeom>
          <a:solidFill>
            <a:srgbClr val="A14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315968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28032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Desarrollo móvil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1568" y="4855464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01568" y="4855464"/>
            <a:ext cx="73152" cy="228600"/>
          </a:xfrm>
          <a:prstGeom prst="roundRect">
            <a:avLst/>
          </a:prstGeom>
          <a:solidFill>
            <a:srgbClr val="24A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4828032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340096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/>
              <a:t>Cloud computing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1568" y="5367528"/>
            <a:ext cx="5897880" cy="2286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01568" y="5367528"/>
            <a:ext cx="73152" cy="228600"/>
          </a:xfrm>
          <a:prstGeom prst="roundRect">
            <a:avLst/>
          </a:prstGeom>
          <a:solidFill>
            <a:srgbClr val="D93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5340096"/>
            <a:ext cx="502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/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989320"/>
            <a:ext cx="19202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900" u="sng">
                <a:solidFill>
                  <a:srgbClr val="0A66C2"/>
                </a:solidFill>
                <a:hlinkClick r:id="rId2"/>
              </a:rPr>
              <a:t>Abrir Google Trends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700" b="1"/>
              <a:t>Shift Left curricular: detectar la brecha antes del próximo rediseño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420"/>
            </a:pPr>
            <a:r>
              <a:t>ANTES · la actualización se concentraba al final del ciclo: reuniones extensas, carga documental y poco tiempo disponible junto a la docencia.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20"/>
            </a:pPr>
            <a:r>
              <a:t>SHIFT LEFT · observar vacantes y evidencia de aprendizaje desde el inicio; detectar temprano una competencia faltante cuesta menos que corregirla años después.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20"/>
            </a:pPr>
            <a:r>
              <a:t>AGILE/SCRUM · backlog de competencias, responsable, criterio de aceptación, piloto corto, revisión con estudiantes y empresa, y retrospectiva docente.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20"/>
            </a:pPr>
            <a:r>
              <a:t>KANBAN · Visible: Señal del mercado → En análisis → Piloto → Evidencia → Aprobado → Incorporado → En revisión.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20"/>
            </a:pPr>
            <a:r>
              <a:t>CADENCIA · radar mensual, priorización trimestral, piloto semestral y evaluación anual; el plan completo conserva su horizonte regulado.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20"/>
            </a:pPr>
            <a:r>
              <a:t>LA IA REDUCE TIEMPO · resume vacantes, compara versiones, propone matrices y genera borradores; el docente valida y decide.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20"/>
            </a:pPr>
            <a:r>
              <a:t>CONDICIÓN · normas estatales e institucionales para cambios menores ágiles, protección de datos, propiedad intelectual, calidad y auditoría.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700" b="1"/>
              <a:t>De subir archivos a mantener una historia verificable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PILOTO MESCyT–UB · trabajo asincrónico y componentes cargados en la plataforma de la Universidad de Barcelona, con acompañamiento y encuentros locales.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LIMITACIÓN OPERATIVA · cuando el proceso termina, archivos, comentarios y decisiones pueden quedar dispersos o depender de accesos temporales.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PROPUESTA · GitHub/GitLab para versionar matrices, programas, rúbricas y evidencias; cada cambio conserva autor, fecha, comparación y justificación.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COLABORACIÓN · Issues para brechas; Projects/Kanban para estado; pull requests para revisión; Discussions/Teams para diálogo; repositorio documental institucional.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TRAZABILIDAD · vacante o estudio → competencia → asignatura → actividad → evidencia → aprobación → versión publicada.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GOBERNANZA · repositorios privados, roles, respaldo institucional, retención documental, licencias, protección de datos y accesibilidad.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700" b="1"/>
              <a:t>Costo de acelerar el trabajo: licencias, consumo y gobernanza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450"/>
            </a:pPr>
            <a:r>
              <a:t>GIT + KANBAN · GitHub ofrece una base gratuita para pilotos; planes institucionales, almacenamiento, respaldo y soporte pueden añadir costo.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50"/>
            </a:pPr>
            <a:r>
              <a:t>CLAUDE CODE · Pro: US$20/mes; Team estándar: US$25 por usuario/mes con facturación mensual. API Sonnet 5: US$2 entrada y US$10 salida por millón de tokens hasta el 31/8/2026.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50"/>
            </a:pPr>
            <a:r>
              <a:t>OPENAI API · GPT-5.4: US$2.50 entrada y US$15 salida por millón de tokens; GPT-5.4 mini: US$0.75 y US$4.50. Fijar límites, alertas y cuentas institucionales.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50"/>
            </a:pPr>
            <a:r>
              <a:t>CODEX · OpenAI estima aproximadamente US$100–200 por desarrollador/mes en promedio, con gran variación por modelo, automatizaciones y uso rápido.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50"/>
            </a:pPr>
            <a:r>
              <a:t>PILOTO DE 10 DOCENTES · presupuesto orientativo: US$200–1,000/mes para uso moderado; US$1,000–2,000/mes si se usan agentes intensivamente. Es una estimación, no una tarifa.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50"/>
            </a:pPr>
            <a:r>
              <a:t>COSTO COMPLETO · capacitación, revisión humana, seguridad, soporte, accesibilidad y tiempo reconocido al docente; la licencia es solo una parte.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700" b="1"/>
              <a:t>Referencias y trazabilidad de la evidencia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MESCyT · Memoria Institucional 2023: 83 perfiles presentados, 63 seleccionados, 183 planes escogidos y 171 diseñados/rediseñados al cierre del piloto.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MESCyT · Boletín enero–abril 2023 y noticia del 1/11/2022: talleres piloto, asesoría de la Universidad de Barcelona, plataforma y participación de las IES.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SQA RD · Estudio de remuneración salarial de aseguramiento de calidad de software, República Dominicana 2020–2021.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MERCADO · LinkedIn Jobs, Indeed, Glassdoor y portales corporativos; consultas y capturas del 2 de julio de 2026.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ENCUESTAS · PractiTest State of Testing 2026; TestRail Software Testing &amp; Quality Report 2025 y Software Quality Pulse.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/>
            </a:pPr>
            <a:r>
              <a:t>PRECIOS · páginas oficiales de Anthropic y OpenAI; verificar nuevamente antes de aprobar presupuesto.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97880"/>
            <a:ext cx="2057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 u="sng">
                <a:solidFill>
                  <a:srgbClr val="0A66C2"/>
                </a:solidFill>
                <a:hlinkClick r:id="rId3"/>
              </a:rPr>
              <a:t>Memoria MESCyT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5897880"/>
            <a:ext cx="1600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 u="sng">
                <a:solidFill>
                  <a:srgbClr val="0A66C2"/>
                </a:solidFill>
                <a:hlinkClick r:id="rId4"/>
              </a:rPr>
              <a:t>Estudio SQA 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5897880"/>
            <a:ext cx="14173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 u="sng">
                <a:solidFill>
                  <a:srgbClr val="0A66C2"/>
                </a:solidFill>
                <a:hlinkClick r:id="rId5"/>
              </a:rPr>
              <a:t>LinkedIn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5897880"/>
            <a:ext cx="11430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 u="sng">
                <a:solidFill>
                  <a:srgbClr val="0A66C2"/>
                </a:solidFill>
                <a:hlinkClick r:id="rId6"/>
              </a:rPr>
              <a:t>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5897880"/>
            <a:ext cx="1051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 u="sng">
                <a:solidFill>
                  <a:srgbClr val="0A66C2"/>
                </a:solidFill>
                <a:hlinkClick r:id="rId7"/>
              </a:rPr>
              <a:t>OpenAI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057400"/>
            <a:ext cx="8915400" cy="2880360"/>
          </a:xfrm>
        </p:spPr>
        <p:txBody>
          <a:bodyPr wrap="square" anchor="ctr"/>
          <a:lstStyle/>
          <a:p>
            <a:pPr algn="ctr"/>
            <a:r>
              <a:rPr sz="2100" b="1"/>
              <a:t>«Haz que de ese profundo y letárgico sueño se levante,</a:t>
            </a:r>
            <a:br/>
            <a:r>
              <a:rPr sz="2100" b="1"/>
              <a:t>y al mundo el gran hosanna del Progreso cante»</a:t>
            </a:r>
            <a:br/>
            <a:br/>
            <a:r>
              <a:rPr sz="2100" b="1"/>
              <a:t>Salomé Ureña · La gloria del progreso</a:t>
            </a:r>
            <a:br/>
            <a:br/>
            <a:r>
              <a:rPr sz="2100" b="1"/>
              <a:t>Preguntas o comentarios</a:t>
            </a:r>
          </a:p>
        </p:txBody>
      </p:sp>
      <p:sp>
        <p:nvSpPr>
          <p:cNvPr id="4" name="Oval 3"/>
          <p:cNvSpPr/>
          <p:nvPr/>
        </p:nvSpPr>
        <p:spPr>
          <a:xfrm>
            <a:off x="9738360" y="1508760"/>
            <a:ext cx="566928" cy="566928"/>
          </a:xfrm>
          <a:prstGeom prst="ellipse">
            <a:avLst/>
          </a:prstGeom>
          <a:solidFill>
            <a:srgbClr val="25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51008" y="2148840"/>
            <a:ext cx="310896" cy="310896"/>
          </a:xfrm>
          <a:prstGeom prst="ellipse">
            <a:avLst/>
          </a:prstGeom>
          <a:solidFill>
            <a:srgbClr val="25D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2542032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31552" y="2542032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79024" y="2542032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2889504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31552" y="2889504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79024" y="2889504"/>
            <a:ext cx="219456" cy="219456"/>
          </a:xfrm>
          <a:prstGeom prst="ellipse">
            <a:avLst/>
          </a:prstGeom>
          <a:solidFill>
            <a:srgbClr val="12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5623560"/>
            <a:ext cx="37033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u="sng">
                <a:solidFill>
                  <a:srgbClr val="0A66C2"/>
                </a:solidFill>
                <a:hlinkClick r:id="rId2"/>
              </a:rPr>
              <a:t>LinkedIn · Marlenis Judith Concepción Cuevas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5623560"/>
            <a:ext cx="31546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u="sng">
                <a:solidFill>
                  <a:srgbClr val="0A66C2"/>
                </a:solidFill>
                <a:hlinkClick r:id="rId3"/>
              </a:rPr>
              <a:t>GitHub · marlenis-concepcion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700" b="1"/>
              <a:t>Vacante real: Sr. AI/ML Engineer · Perform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MODALIDAD · remota, tiempo completo y disponible desde República Dominicana; colaboración directa con CEO y CTO.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EXPERIENCIA · 6+ años desarrollando con Python y 4+ años como AI/ML Developer; inglés intermedio alto.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STACK · Python, JavaScript, Node.js, React, MongoDB y AWS.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LLM + NLP · construir y ajustar modelos de lenguaje; extraer datos e información de documentos densos del sector seguros.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APRENDIZAJE CONTINUO · diseñar flujos de entrenamiento que incorporen feedback y correcciones de usuarios.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VISIÓN + AGENTES · procesar PDF y documentos escaneados; crear agentes que operen interfaces web con Playwright, Selenium y DOM.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CALIDAD DE MODELOS · métricas, evaluación, entrenamiento, inferencia, escalabilidad y sistemas construidos desde cero.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PREGUNTA CURRICULAR · ¿en qué asignaturas el estudiante integra software, datos, IA, evaluación y despliegue en un proyecto demostrable?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6190488"/>
            <a:ext cx="27889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 u="sng">
                <a:solidFill>
                  <a:srgbClr val="0A66C2"/>
                </a:solidFill>
                <a:hlinkClick r:id="rId3"/>
              </a:rPr>
              <a:t>Fuente de vacantes: visitar LinkedIn Jobs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700" b="1"/>
              <a:t>Vacante real: Golang Developer · BairesDev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MODALIDAD · trabajo 100% remoto, tiempo completo, desde República Dominicana para equipos internacionales.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DESARROLLO · diseñar aplicaciones, construir soluciones en Golang, crear API personalizadas e integrar una interfaz web.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NUBE E INFRAESTRUCTURA · AWS, EC2, Docker, configuración de ambientes, microservicios y servicios cloud.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DATOS · experiencia con bases de datos SQL y NoSQL.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FUNDAMENTOS · algoritmos avanzados, infraestructura de TI, patrones de diseño, principios SOLID, código limpio y soluciones escalables.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CALIDAD Y ENTREGA · pruebas automatizadas, unitarias y de integración, cobertura de código, CI/CD y control de versiones.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TRABAJO PROFESIONAL · metodología ágil, autonomía para resolver problemas complejos e inglés avanzado.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/>
            </a:pPr>
            <a:r>
              <a:t>PREGUNTA CURRICULAR · ¿el estudiante construye desde cero una solución con API, datos, nube, pruebas y CI/CD que pueda defender públicamente?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6190488"/>
            <a:ext cx="278892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 u="sng">
                <a:solidFill>
                  <a:srgbClr val="0A66C2"/>
                </a:solidFill>
                <a:hlinkClick r:id="rId3"/>
              </a:rPr>
              <a:t>Fuente de vacantes: visitar LinkedIn Jobs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sz="2700" b="1"/>
              <a:t>Caso práctico opcional: actualización curricular con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74519"/>
            <a:ext cx="9738360" cy="3429000"/>
          </a:xfrm>
        </p:spPr>
        <p:txBody>
          <a:bodyPr lIns="320040" rIns="320040" wrap="square" anchor="ctr"/>
          <a:lstStyle/>
          <a:p>
            <a:pPr algn="ctr"/>
            <a:r>
              <a:rPr sz="2300" b="0"/>
              <a:t>“Analizaremos las asignaturas Ingeniería de Software I y II del Plan 14. Revisaremos el rediseño curricular basado en competencias realizado en 2023 y construiremos, desde cero, un plan de actualización con IA y agentes que permita mantener sus contenidos continuamente alineados con las tendencias del mercado.”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4241227287C74886D2625F1A594AEF" ma:contentTypeVersion="13" ma:contentTypeDescription="Crear nuevo documento." ma:contentTypeScope="" ma:versionID="2058c72ba236e82467f5bd43bef29340">
  <xsd:schema xmlns:xsd="http://www.w3.org/2001/XMLSchema" xmlns:xs="http://www.w3.org/2001/XMLSchema" xmlns:p="http://schemas.microsoft.com/office/2006/metadata/properties" xmlns:ns2="7823e6b4-2ee2-41f7-a54e-15dafe2729fe" xmlns:ns3="2b479353-2412-4a10-86bc-20e856285309" targetNamespace="http://schemas.microsoft.com/office/2006/metadata/properties" ma:root="true" ma:fieldsID="e99b06ff68c0544aca7a2d8c0c8d36c5" ns2:_="" ns3:_="">
    <xsd:import namespace="7823e6b4-2ee2-41f7-a54e-15dafe2729fe"/>
    <xsd:import namespace="2b479353-2412-4a10-86bc-20e8562853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23e6b4-2ee2-41f7-a54e-15dafe2729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88c8470d-f137-4343-abbb-43c007074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479353-2412-4a10-86bc-20e85628530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e8d6578-7238-460f-abb8-82b903919652}" ma:internalName="TaxCatchAll" ma:showField="CatchAllData" ma:web="2b479353-2412-4a10-86bc-20e8562853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479353-2412-4a10-86bc-20e856285309" xsi:nil="true"/>
    <lcf76f155ced4ddcb4097134ff3c332f xmlns="7823e6b4-2ee2-41f7-a54e-15dafe2729f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419F5C-B735-43EB-A5BF-677F239E0C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23e6b4-2ee2-41f7-a54e-15dafe2729fe"/>
    <ds:schemaRef ds:uri="2b479353-2412-4a10-86bc-20e8562853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1BC6B4-0DAC-47C1-9CF7-FD1A182DEEBC}">
  <ds:schemaRefs>
    <ds:schemaRef ds:uri="http://purl.org/dc/dcmitype/"/>
    <ds:schemaRef ds:uri="http://schemas.microsoft.com/office/2006/metadata/properties"/>
    <ds:schemaRef ds:uri="2b479353-2412-4a10-86bc-20e856285309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7823e6b4-2ee2-41f7-a54e-15dafe2729f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64017822-B690-47F3-9818-84787A810A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206</Words>
  <Application>Microsoft Office PowerPoint</Application>
  <PresentationFormat>Panorámica</PresentationFormat>
  <Paragraphs>52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Söhne</vt:lpstr>
      <vt:lpstr>Tema de Office</vt:lpstr>
      <vt:lpstr>Presentación de PowerPoint</vt:lpstr>
      <vt:lpstr>Introducción</vt:lpstr>
      <vt:lpstr>Objetivos de la Investigación</vt:lpstr>
      <vt:lpstr>Marco Teórico</vt:lpstr>
      <vt:lpstr>Metodología</vt:lpstr>
      <vt:lpstr>Resultados</vt:lpstr>
      <vt:lpstr>Discusión </vt:lpstr>
      <vt:lpstr>Conclusiones</vt:lpstr>
      <vt:lpstr>Agradecimientos y colaboradores</vt:lpstr>
      <vt:lpstr>Presentación de PowerPoint</vt:lpstr>
      <vt:lpstr>Preguntas o comentarios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Alexis Díaz Atoa</dc:creator>
  <cp:lastModifiedBy>Elizabeth A. Ventura Mora</cp:lastModifiedBy>
  <cp:revision>8</cp:revision>
  <dcterms:created xsi:type="dcterms:W3CDTF">2026-06-12T13:40:47Z</dcterms:created>
  <dcterms:modified xsi:type="dcterms:W3CDTF">2026-06-23T20:52:15Z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0x010100844241227287C74886D2625F1A594AEF</vt:lpwstr>
  </property>
  <property fmtid="{D5CDD505-2E9C-101B-9397-08002B2CF9AE}" pid="3" name="Order">
    <vt:r8>1734100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