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9" r:id="rId11"/>
    <p:sldId id="261" r:id="rId13"/>
    <p:sldId id="262" r:id="rId14"/>
    <p:sldId id="264" r:id="rId16"/>
    <p:sldId id="265" r:id="rId17"/>
    <p:sldId id="301" r:id="rId53"/>
    <p:sldId id="266" r:id="rId18"/>
    <p:sldId id="268" r:id="rId20"/>
    <p:sldId id="269" r:id="rId21"/>
    <p:sldId id="271" r:id="rId23"/>
    <p:sldId id="272" r:id="rId24"/>
    <p:sldId id="275" r:id="rId27"/>
    <p:sldId id="276" r:id="rId28"/>
    <p:sldId id="299" r:id="rId51"/>
    <p:sldId id="300" r:id="rId52"/>
    <p:sldId id="278" r:id="rId30"/>
    <p:sldId id="306" r:id="rId58"/>
    <p:sldId id="282" r:id="rId34"/>
    <p:sldId id="284" r:id="rId36"/>
    <p:sldId id="286" r:id="rId38"/>
    <p:sldId id="288" r:id="rId40"/>
    <p:sldId id="290" r:id="rId42"/>
    <p:sldId id="292" r:id="rId44"/>
    <p:sldId id="312" r:id="rId64"/>
    <p:sldId id="313" r:id="rId65"/>
    <p:sldId id="314" r:id="rId66"/>
    <p:sldId id="307" r:id="rId59"/>
    <p:sldId id="308" r:id="rId60"/>
    <p:sldId id="309" r:id="rId61"/>
    <p:sldId id="311" r:id="rId63"/>
    <p:sldId id="315" r:id="rId67"/>
    <p:sldId id="310" r:id="rId62"/>
    <p:sldId id="293" r:id="rId45"/>
    <p:sldId id="295" r:id="rId47"/>
    <p:sldId id="296" r:id="rId48"/>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1" Type="http://schemas.openxmlformats.org/officeDocument/2006/relationships/slide" Target="slides/slide4.xml"/><Relationship Id="rId13" Type="http://schemas.openxmlformats.org/officeDocument/2006/relationships/slide" Target="slides/slide6.xml"/><Relationship Id="rId14" Type="http://schemas.openxmlformats.org/officeDocument/2006/relationships/slide" Target="slides/slide7.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20" Type="http://schemas.openxmlformats.org/officeDocument/2006/relationships/slide" Target="slides/slide13.xml"/><Relationship Id="rId21" Type="http://schemas.openxmlformats.org/officeDocument/2006/relationships/slide" Target="slides/slide14.xml"/><Relationship Id="rId23" Type="http://schemas.openxmlformats.org/officeDocument/2006/relationships/slide" Target="slides/slide16.xml"/><Relationship Id="rId24" Type="http://schemas.openxmlformats.org/officeDocument/2006/relationships/slide" Target="slides/slide17.xml"/><Relationship Id="rId27" Type="http://schemas.openxmlformats.org/officeDocument/2006/relationships/slide" Target="slides/slide20.xml"/><Relationship Id="rId28" Type="http://schemas.openxmlformats.org/officeDocument/2006/relationships/slide" Target="slides/slide21.xml"/><Relationship Id="rId30" Type="http://schemas.openxmlformats.org/officeDocument/2006/relationships/slide" Target="slides/slide23.xml"/><Relationship Id="rId34" Type="http://schemas.openxmlformats.org/officeDocument/2006/relationships/slide" Target="slides/slide27.xml"/><Relationship Id="rId36" Type="http://schemas.openxmlformats.org/officeDocument/2006/relationships/slide" Target="slides/slide29.xml"/><Relationship Id="rId38" Type="http://schemas.openxmlformats.org/officeDocument/2006/relationships/slide" Target="slides/slide31.xml"/><Relationship Id="rId40" Type="http://schemas.openxmlformats.org/officeDocument/2006/relationships/slide" Target="slides/slide33.xml"/><Relationship Id="rId42" Type="http://schemas.openxmlformats.org/officeDocument/2006/relationships/slide" Target="slides/slide35.xml"/><Relationship Id="rId44" Type="http://schemas.openxmlformats.org/officeDocument/2006/relationships/slide" Target="slides/slide37.xml"/><Relationship Id="rId45" Type="http://schemas.openxmlformats.org/officeDocument/2006/relationships/slide" Target="slides/slide38.xml"/><Relationship Id="rId47" Type="http://schemas.openxmlformats.org/officeDocument/2006/relationships/slide" Target="slides/slide40.xml"/><Relationship Id="rId48" Type="http://schemas.openxmlformats.org/officeDocument/2006/relationships/slide" Target="slides/slide41.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 minutos]</a:t>
            </a:r>
          </a:p>
          <a:p>
            <a:r>
              <a:t>Buenas tardes y gracias por acompañarme. Hoy no vengo a decirles que la inteligencia artificial eliminará el trabajo de QA ni que todos deben convertirse mañana en programadores de automatización. Vengo a mostrarles cómo está cambiando el rol, qué capacidades siguen siendo fundamentales y cómo construir una ruta profesional basada en evidencias reales del mercado.</a:t>
            </a:r>
          </a:p>
          <a:p/>
          <a:p>
            <a:r>
              <a:t>Durante estas tres horas vamos a conectar cuatro ideas: calidad, inteligencia artificial, automatización y empleabilidad. El resultado esperado es que cada participante identifique un puesto objetivo, reconozca sus brechas y pueda comenzar una guía de estudio autónoma basada en las vacantes a las que realmente desea aplicar.</a:t>
            </a:r>
          </a:p>
          <a:p/>
          <a:p>
            <a:r>
              <a:t>Texto ampliado para leer:</a:t>
            </a:r>
          </a:p>
          <a:p>
            <a:r>
              <a:t>Cuando hablamos de transformación del QA, no hablamos únicamente de aprender una herramienta nueva. Hablamos de un cambio en la manera de producir software, organizar equipos y demostrar valor. Antes, muchas organizaciones esperaban que una persona probara el sistema cuando el desarrollo había terminado. Hoy se espera que la calidad se trabaje desde las preguntas iniciales, continúe durante la construcción y se observe después de liberar el producto.</a:t>
            </a:r>
          </a:p>
          <a:p/>
          <a:p>
            <a:r>
              <a:t>La inteligencia artificial puede acelerar análisis, documentación y automatización, pero también crea riesgos nuevos. Por eso el profesional de calidad no pierde importancia: necesita comprender el producto, cuestionar los resultados, proteger la información y comunicar decisiones. Durante la sesión relacionaremos cada concepto con una pregunta práctica: ¿cómo me ayuda esto a conseguir trabajo, crecer o mantenerme vigente?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este taller no pretende cubrir de manera profunda todas las áreas de QA. El propósito es entregar un mapa para tomar mejores decisiones. Muchas personas estudian cursos aislados y acumulan certificados, pero no construyen una dirección profesional ni evidencias visibles.</a:t>
            </a:r>
          </a:p>
          <a:p/>
          <a:p>
            <a:r>
              <a:t>Al finalizar, cada participante deberá poder responder cuatro preguntas: ¿a qué puesto quiero aplicar?, ¿qué competencias aparecen repetidamente en esas vacantes?, ¿qué me falta por aprender? y ¿cómo demostraré que ya puedo realizar ese trabajo? Estas preguntas serán el hilo conductor de toda la sesión.</a:t>
            </a:r>
          </a:p>
          <a:p/>
          <a:p>
            <a:r>
              <a:t>Texto ampliado para leer:</a:t>
            </a:r>
          </a:p>
          <a:p>
            <a:r>
              <a:t>Quiero que observen que los cuatro resultados de esta diapositiva forman un sistema. La dirección profesional indica hacia dónde vamos. La ruta de aprendizaje define qué estudiar. Las evidencias permiten demostrarlo. El plan de acción convierte la intención en fechas y actividades.</a:t>
            </a:r>
          </a:p>
          <a:p/>
          <a:p>
            <a:r>
              <a:t>Una persona puede completar diez cursos y continuar sin saber a qué empleo aplicar. Otra puede estudiar menos contenidos, pero seleccionar los que aparecen en sus vacantes objetivo, construir un proyecto relacionado y explicar sus decisiones. Generalmente, la segunda persona presenta una historia profesional más clara.</a:t>
            </a:r>
          </a:p>
          <a:p/>
          <a:p>
            <a:r>
              <a:t>Mientras avancemos, no se pregunten solamente «¿entiendo este concepto?». Pregúntense también «¿qué podría construir con esto?», «¿cómo lo explicaría en una entrevista?» y «¿qué evidencia mostraría en mi CV o portafolio?».</a:t>
            </a:r>
          </a:p>
          <a:p/>
          <a:p>
            <a:r>
              <a:t>Contenido integrado de la versión extensa:</a:t>
            </a:r>
          </a:p>
          <a:p>
            <a:r>
              <a:t>Presente la agenda y explique que habrá pequeñas actividades. Recomiende tener abierto un navegador, LinkedIn o el portal de empleo que utilice cada participante, una hoja de cálculo o documento y, si es posible, su CV actual.</a:t>
            </a:r>
          </a:p>
          <a:p/>
          <a:p>
            <a:r>
              <a:t>Indique que la sesión comienza con el mercado porque una ruta de estudio debe responder a un destino. Luego se analizará cómo la IA y la automatización cambian el trabajo. Finalmente, se traducirá todo en acciones concretas de búsqueda de empleo y actualización continua.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Invite a los participantes a responder por el chat. También pregunte quién se anima a levantar la mano y presentarse brevemente. Cada intervención debe incluir cuatro elementos: desde qué ciudad, provincia o país participa; cuál considera que es su nivel de seniority; cuál es su profesión, ocupación o área tecnológica actual; y qué espera obtener de este taller.</a:t>
            </a:r>
          </a:p>
          <a:p/>
          <a:p>
            <a:r>
              <a:t>Puede orientar el nivel de seniority con ejemplos sencillos: persona que está iniciando o explorando el área, junior, semisenior, senior, líder o especialista. Aclare que no se trata de examinar ni comparar a nadie, sino de conocer la diversidad del grupo y adaptar mejor la conversación.</a:t>
            </a:r>
          </a:p>
          <a:p/>
          <a:p>
            <a:r>
              <a:t>Escuche las expectativas: búsqueda del primer empleo, transición hacia QA, automatización, uso de inteligencia artificial, actualización profesional, preparación para entrevistas, networking o crecimiento hacia liderazgo. Utilice las respuestas para destacar durante el taller los temas que más necesita el grupo.</a:t>
            </a:r>
          </a:p>
          <a:p/>
          <a:p>
            <a:r>
              <a:t>Si hay muchas personas principiantes, explique cada término con ejemplos. Si hay participantes con experiencia, invítelos a compartir herramientas, aprendizajes y retos. Cierre diciendo que el punto de partida no limita el destino profesional; solamente ayuda a identificar el próximo paso realista.</a:t>
            </a:r>
          </a:p>
          <a:p/>
          <a:p>
            <a:r>
              <a:t>Texto ampliado para leer:</a:t>
            </a:r>
          </a:p>
          <a:p>
            <a:r>
              <a:t>Esta actividad también nos ayuda a reconocer que el público puede encontrarse en momentos distintos. Quien está iniciando necesita fundamentos y práctica guiada. Quien trabaja en QA manual puede fortalecer API, SQL, análisis y automatización. Quien ya automatiza puede avanzar hacia arquitectura, integración continua, rendimiento, seguridad, inteligencia artificial o liderazgo.</a:t>
            </a:r>
          </a:p>
          <a:p/>
          <a:p>
            <a:r>
              <a:t>No comparen su capítulo uno con el capítulo diez de otra persona. Lo importante es identificar un siguiente paso que sea exigente pero alcanzable. Si alguien desea cambiar de área, también debe reconocer cuáles competencias ya son transferibles. Por ejemplo, una persona de soporte suele conocer incidentes y usuarios; alguien de desarrollo comprende código; una persona de negocio comprende procesos. Todas esas experiencias pueden convertirse en ventajas dentro de QA.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estas cifras no significan que el 39 % de las personas perderá su trabajo. Significan que una parte importante de lo que hoy hacemos y de las herramientas que usamos cambiará. Por eso, memorizar una interfaz no es suficiente.</a:t>
            </a:r>
          </a:p>
          <a:p/>
          <a:p>
            <a:r>
              <a:t>El pensamiento analítico se conecta directamente con QA: formular preguntas, detectar inconsistencias, priorizar riesgos y explicar evidencias. La alfabetización en IA tampoco significa desarrollar modelos complejos; significa comprender sus posibilidades, limitaciones y uso responsable dentro del trabajo.</a:t>
            </a:r>
          </a:p>
          <a:p/>
          <a:p>
            <a:r>
              <a:t>Concluya: el profesional sostenible combina competencias técnicas, criterio humano y capacidad de aprendizaje.</a:t>
            </a:r>
          </a:p>
          <a:p/>
          <a:p>
            <a:r>
              <a:t>Texto ampliado para leer:</a:t>
            </a:r>
          </a:p>
          <a:p>
            <a:r>
              <a:t>El informe del Foro Económico Mundial muestra una combinación importante: crecen las competencias tecnológicas relacionadas con IA y datos, pero el pensamiento analítico, la resiliencia, la colaboración y la adaptación continúan siendo centrales. Para QA esto tiene mucho sentido. Las herramientas pueden ejecutar rápidamente, pero el profesional debe decidir qué merece atención y cómo interpretar un resultado.</a:t>
            </a:r>
          </a:p>
          <a:p/>
          <a:p>
            <a:r>
              <a:t>LinkedIn también identifica la alfabetización en inteligencia artificial entre las habilidades de crecimiento acelerado. Alfabetización no significa aceptar cualquier respuesta generada. Significa saber formular una tarea, entregar contexto, reconocer limitaciones, verificar resultados y utilizar la herramienta con responsabilidad.</a:t>
            </a:r>
          </a:p>
          <a:p/>
          <a:p>
            <a:r>
              <a:t>La pregunta para el público es: si una parte de las competencias cambiará, ¿qué capacidad nos permite seguir siendo relevantes? La respuesta es aprender de forma continua y demostrar que podemos transferir fundamentos a nuevas herramientas.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Evite presentar la IA como sustitución automática del QA. Explique que se automatizan tareas, no responsabilidades completas. Una herramienta puede proponer cien casos, pero alguien debe decidir cuáles son relevantes, qué riesgo cubren, qué datos pueden utilizarse y qué evidencia es suficiente.</a:t>
            </a:r>
          </a:p>
          <a:p/>
          <a:p>
            <a:r>
              <a:t>Use un ejemplo: si una IA genera pruebas para una transferencia bancaria, todavía necesitamos a una persona que conozca reglas, límites, permisos, fraude, experiencia del cliente y consecuencias de un error. El valor se desplaza desde ejecutar pasos mecánicos hacia diseñar una estrategia de calidad y tomar decisiones sustentadas.</a:t>
            </a:r>
          </a:p>
          <a:p/>
          <a:p>
            <a:r>
              <a:t>La automatización no se limita al desarrollo de software o al aseguramiento de la calidad. En administración se automatizan la programación de citas, clasificación de documentos, transcripción de reuniones y primeros borradores de correos. En contabilidad y finanzas se aceleran la captura de facturas, conciliaciones, clasificación de gastos y alertas sobre transacciones inusuales.</a:t>
            </a:r>
          </a:p>
          <a:p/>
          <a:p>
            <a:r>
              <a:t>En recursos humanos se apoyan el filtrado inicial de información, la coordinación de entrevistas, la preparación de documentos de incorporación y las respuestas a preguntas frecuentes. En educación pueden generarse borradores de planificación, bancos iniciales de preguntas, rúbricas y resúmenes de resultados, pero el docente conserva la responsabilidad de adaptar, evaluar y acompañar.</a:t>
            </a:r>
          </a:p>
          <a:p/>
          <a:p>
            <a:r>
              <a:t>En salud se automatizan tareas administrativas como citas, recordatorios, transcripción y organización documental; las decisiones clínicas requieren profesionales autorizados y revisión rigurosa. En ventas, mercadeo y servicio al cliente se automatizan la segmentación, los borradores de mensajes, la clasificación de prospectos y las respuestas iniciales. En el ámbito jurídico también pueden compararse documentos y localizar cláusulas, pero la interpretación y el asesoramiento permanecen bajo responsabilidad profesional.</a:t>
            </a:r>
          </a:p>
          <a:p/>
          <a:p>
            <a:r>
              <a:t>El patrón se repite: la tecnología acelera tareas predecibles, repetitivas y basadas en información. Ganan valor la supervisión, el criterio del dominio, la comunicación humana, la protección de datos, la atención de excepciones y la responsabilidad sobre la decisión final. No debemos preguntar solamente cuál profesión será automatizada, sino cuáles tareas cambiarán y qué competencias humanas y digitales necesitaremos para dirigir ese cambio.</a:t>
            </a:r>
          </a:p>
          <a:p/>
          <a:p>
            <a:r>
              <a:t>Texto ampliado para leer:</a:t>
            </a:r>
          </a:p>
          <a:p>
            <a:r>
              <a:t>Pensemos en dos profesionales. El primero ejecuta siempre el mismo conjunto de pasos y copia el resultado. El segundo comprende el riesgo, selecciona pruebas, investiga comportamientos inesperados y explica el impacto. La automatización puede sustituir buena parte del trabajo repetitivo del primero, pero amplifica la productividad del segundo.</a:t>
            </a:r>
          </a:p>
          <a:p/>
          <a:p>
            <a:r>
              <a:t>La oportunidad está en desplazarse hacia actividades de mayor valor: análisis de requisitos, diseño basado en riesgo, pruebas exploratorias, calidad de datos, observabilidad, seguridad y comunicación con negocio. Esto no significa abandonar la ejecución manual. Significa utilizarla donde aporta conocimiento y automatizar donde aporta velocidad y repetibilidad.</a:t>
            </a:r>
          </a:p>
          <a:p/>
          <a:p>
            <a:r>
              <a:t>Pregunte al grupo: ¿qué parte de su trabajo actual se repite y podría automatizarse? Luego pregunte: si recuperaran ese tiempo, ¿qué riesgo o problema podrían analizar mejor?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5 minutos]</a:t>
            </a:r>
          </a:p>
          <a:p>
            <a:r>
              <a:t>Explique brevemente cada familia. El objetivo no es obligar a elegir una especialización definitiva, sino evitar una guía de estudio infinita. Una vacante junior manual puede priorizar documentación, criterios de aceptación, Jira y SQL básico. Una vacante de automation puede priorizar lenguaje de programación, Playwright o Selenium, API, Git y CI.</a:t>
            </a:r>
          </a:p>
          <a:p/>
          <a:p>
            <a:r>
              <a:t>Mencione que los nombres cambian entre empresas. Por eso no basta con buscar un solo título. Se deben revisar funciones y requisitos. Recomiende guardar vacantes con títulos distintos pero responsabilidades parecidas.</a:t>
            </a:r>
          </a:p>
          <a:p/>
          <a:p>
            <a:r>
              <a:t>Texto ampliado para leer:</a:t>
            </a:r>
          </a:p>
          <a:p>
            <a:r>
              <a:t>Dentro de QA existen muchas más especialidades de las que caben en la diapositiva. Podemos mencionar QA funcional, test analyst, QA de API, tester de bases de datos, mobile tester, automation engineer, SDET, performance engineer, security tester, accessibility tester, localization tester, data quality engineer, ETL tester, AI o machine learning tester, reliability engineer, QA Lead, Test Manager y Quality Coach.</a:t>
            </a:r>
          </a:p>
          <a:p/>
          <a:p>
            <a:r>
              <a:t>QA funcional profundiza en requisitos, negocio y comportamiento. API y datos se concentran en servicios, contratos e integridad. Automatización y SDET requieren programación y diseño técnico. Rendimiento estudia carga, capacidad y estabilidad. Seguridad analiza vulnerabilidades y riesgos. Accesibilidad valida que el producto pueda utilizarse por personas con diferentes capacidades. Testing de IA trabaja con datos, modelos, sesgo, variabilidad y drift.</a:t>
            </a:r>
          </a:p>
          <a:p/>
          <a:p>
            <a:r>
              <a:t>No deben aprenderlas todas. Utilicen esta lista para explorar y luego revisen cuáles aparecen en el mercado que les interesa.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QA puede ser una puerta de entrada a múltiples trayectorias. La persona desarrolla pensamiento analítico, comprensión del negocio, documentación, comunicación y visión de riesgo. Estas capacidades son valiosas en análisis de negocio, producto, DevOps, seguridad, datos y liderazgo.</a:t>
            </a:r>
          </a:p>
          <a:p/>
          <a:p>
            <a:r>
              <a:t>Sin embargo, evite prometer una transición automática. Para llegar a análisis de negocio habrá que profundizar en procesos y levantamiento de requisitos. Para DevOps se necesitan sistemas, nube, automatización e infraestructura. Para seguridad se requieren fundamentos específicos. Para producto se debe comprender estrategia, usuarios y métricas.</a:t>
            </a:r>
          </a:p>
          <a:p/>
          <a:p>
            <a:r>
              <a:t>También existen rutas como desarrollo de software, ingeniería de confiabilidad, accesibilidad, UX research, soporte técnico avanzado, gestión de proyectos y documentación técnica. La decisión debe surgir de las tareas que la persona disfruta, sus fortalezas y las vacantes disponibles.</a:t>
            </a:r>
          </a:p>
          <a:p/>
          <a:p>
            <a:r>
              <a:t>Texto ampliado para leer:</a:t>
            </a:r>
          </a:p>
          <a:p>
            <a:r>
              <a:t>También hay profesiones cercanas a las que una persona de QA puede migrar. En análisis de negocio puede aprovechar su experiencia aclarando requisitos y procesos. En producto puede utilizar su comprensión del usuario, los riesgos y el valor. En DevOps o release management puede aplicar automatización, ambientes, pipelines y monitoreo. En ciberseguridad puede avanzar hacia application security, pruebas de penetración o DevSecOps.</a:t>
            </a:r>
          </a:p>
          <a:p/>
          <a:p>
            <a:r>
              <a:t>En datos puede trabajar calidad de datos, validación de ETL, gobierno o pruebas de analítica. En inteligencia artificial puede especializarse en evaluación de modelos y sistemas generativos. También puede evolucionar hacia desarrollo, gestión de proyectos, Scrum Master, UX research, accesibilidad, soporte avanzado, documentación técnica, consultoría, docencia o liderazgo de calidad.</a:t>
            </a:r>
          </a:p>
          <a:p/>
          <a:p>
            <a:r>
              <a:t>La clave es reconocer la competencia transferible y la brecha adicional. QA ofrece una base, pero cada transición exige práctica específica y evidencia nueva.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Pida que cada participante escriba una ficha mínima. Ejemplo: QA Automation Junior, empresa de servicios digitales, modalidad remota o híbrida; tareas: automatizar flujos web, probar APIs y ejecutar pruebas en CI.</a:t>
            </a:r>
          </a:p>
          <a:p/>
          <a:p>
            <a:r>
              <a:t>Explique que esta elección es provisional. Se puede ajustar después de analizar vacantes. Lo importante es comenzar con una hipótesis profesional concreta. Sin destino, cualquier curso parece urgente; con destino, se puede priorizar.</a:t>
            </a:r>
          </a:p>
          <a:p/>
          <a:p>
            <a:r>
              <a:t>Texto ampliado para leer:</a:t>
            </a:r>
          </a:p>
          <a:p>
            <a:r>
              <a:t>Si una persona todavía no conoce el nombre exacto del puesto, puede comenzar describiendo el tipo de trabajo que disfruta. ¿Le gusta hablar con usuarios y aclarar procesos? Puede explorar análisis funcional o negocio. ¿Disfruta programar y resolver problemas técnicos? Puede revisar automation o SDET. ¿Le interesan métricas, estabilidad y sistemas? Performance, observabilidad o DevOps pueden ser opciones. ¿Le preocupa la protección de información? Seguridad y DevSecOps merecen explorarse.</a:t>
            </a:r>
          </a:p>
          <a:p/>
          <a:p>
            <a:r>
              <a:t>Después de elegir una hipótesis, busque al menos diez vacantes. La elección inicial puede cambiar. Eso no es fracaso; es aprendizaje basado en evidencia. El objetivo de esta actividad es reducir el campo y comenzar una investigación profesional concreta.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el mejor uso inicial de IA ocurre en tareas con revisión clara. Por ejemplo, pedir preguntas sobre una historia de usuario, proponer datos de prueba o mejorar la redacción de un bug.</a:t>
            </a:r>
          </a:p>
          <a:p/>
          <a:p>
            <a:r>
              <a:t>Evite copiar resultados directamente. Una salida extensa puede crear sensación de productividad sin aportar cobertura útil. Recomiende solicitar clasificación por riesgo y justificar por qué cada escenario importa. El QA debe verificar reglas de negocio, seguridad, privacidad y exactitud técnica.</a:t>
            </a:r>
          </a:p>
          <a:p/>
          <a:p>
            <a:r>
              <a:t>Texto ampliado para leer:</a:t>
            </a:r>
          </a:p>
          <a:p>
            <a:r>
              <a:t>La IA puede utilizarse como asistente en cada etapa, pero nunca debe convertirse en una caja negra que toma decisiones sin revisión. Al analizar requisitos, puede proponer preguntas que no habíamos considerado. Al diseñar pruebas, puede sugerir particiones, valores límite y combinaciones. Durante la ejecución, puede ayudar a interpretar mensajes de error y comparar grandes volúmenes de texto. En documentación, puede mejorar claridad y estructura.</a:t>
            </a:r>
          </a:p>
          <a:p/>
          <a:p>
            <a:r>
              <a:t>Para aprender, puede explicar código, generar ejercicios, simular entrevistas y adaptar ejemplos. Sin embargo, la persona debe intentar resolver antes de solicitar una solución completa. Una técnica útil es pedir pistas progresivas: primero una pregunta, luego una orientación y finalmente un ejemplo. Así la IA acompaña el razonamiento en lugar de reemplazarlo.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Lea el prompt por bloques. Explique que el rol aporta perspectiva, el contexto evita respuestas genéricas, el objetivo define la tarea, las restricciones reducen invenciones y el formato facilita revisar la salida.</a:t>
            </a:r>
          </a:p>
          <a:p/>
          <a:p>
            <a:r>
              <a:t>Haga énfasis en la frase «no inventes reglas». Aun así, el modelo puede asumir información. Por eso se solicita marcar supuestos y luego se valida con negocio. Invite a adaptar este prompt a comercio electrónico, educación, salud o cualquier dominio.</a:t>
            </a:r>
          </a:p>
          <a:p/>
          <a:p>
            <a:r>
              <a:t>Texto ampliado para leer:</a:t>
            </a:r>
          </a:p>
          <a:p>
            <a:r>
              <a:t>Vamos a imaginar que recibimos una historia que dice: «Como cliente quiero transferir dinero para pagar rápidamente». Esa frase no aclara límites, monedas, cuentas bloqueadas, saldo insuficiente, doble envío, permisos, horarios ni confirmación. Un prompt con contexto puede ayudarnos a preparar una conversación con negocio.</a:t>
            </a:r>
          </a:p>
          <a:p/>
          <a:p>
            <a:r>
              <a:t>Observe que la salida solicitada no es solamente una lista de casos. Primero pedimos preguntas, luego riesgos, después escenarios y datos. Ese orden obliga a comprender antes de ejecutar. Cuando llegue la respuesta, clasifique cada elemento como confirmado, supuesto o pendiente.</a:t>
            </a:r>
          </a:p>
          <a:p/>
          <a:p>
            <a:r>
              <a:t>Una buena práctica es conservar el requisito original, la salida generada y la versión validada. Esa trazabilidad permite explicar qué aportó la IA y qué decidió el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Advierta claramente: nunca pegar credenciales, datos de clientes, código privado o información institucional sensible en una herramienta sin autorización. Use ejemplos ficticios o anonimizados.</a:t>
            </a:r>
          </a:p>
          <a:p/>
          <a:p>
            <a:r>
              <a:t>Explique que validar no significa leer rápidamente y decir «parece correcto». Validar puede implicar ejecutar, consultar documentación oficial, comparar con el requisito y pedir revisión de otra persona. La IA debe fortalecer el aprendizaje, no ocultar que no comprendemos lo producido.</a:t>
            </a:r>
          </a:p>
          <a:p/>
          <a:p>
            <a:r>
              <a:t>Texto ampliado para leer:</a:t>
            </a:r>
          </a:p>
          <a:p>
            <a:r>
              <a:t>Un error frecuente es compartir información real porque parece más cómodo. Antes de utilizar IA, sustituya nombres, correos, cuentas, tokens, direcciones y datos de clientes. Si el código pertenece a una organización, confirme qué herramientas están autorizadas. La ausencia de una prohibición explícita no equivale a permiso.</a:t>
            </a:r>
          </a:p>
          <a:p/>
          <a:p>
            <a:r>
              <a:t>También debemos revisar si el contenido generado reproduce sesgos o crea una falsa sensación de seguridad. Una suite generada automáticamente puede ejecutar correctamente y aun así probar lo equivocado. Un reporte muy bien escrito puede describir una conclusión falsa.</a:t>
            </a:r>
          </a:p>
          <a:p/>
          <a:p>
            <a:r>
              <a:t>Como regla práctica: nada producido por IA debe convertirse en requisito, evidencia, código o decisión sin una forma de verificación. Pregunte siempre: ¿cómo sé que esto es correcto?, ¿qué fuente o ejecución lo demuestra?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probar una calculadora y probar un modelo generativo no es lo mismo. Una salida puede variar aun con entradas parecidas. A veces no existe una única respuesta correcta. Se necesitan conjuntos de evaluación, umbrales, revisión humana y análisis estadístico.</a:t>
            </a:r>
          </a:p>
          <a:p/>
          <a:p>
            <a:r>
              <a:t>Mencione que ISTQB actualizó en 2026 su syllabus de AI Testing con foco en datos, modelos, ciclo de machine learning, sistemas generativos y red teaming. Esto muestra una posible ruta de especialización para perfiles de QA.</a:t>
            </a:r>
          </a:p>
          <a:p/>
          <a:p>
            <a:r>
              <a:t>Texto ampliado para leer:</a:t>
            </a:r>
          </a:p>
          <a:p>
            <a:r>
              <a:t>Testing de inteligencia artificial es una especialidad con crecimiento propio. En sistemas convencionales solemos esperar que la misma entrada produzca una salida definida. En modelos probabilísticos puede existir variación y no siempre hay un oráculo sencillo. Esto obliga a trabajar con métricas, conjuntos de evaluación, tolerancias y revisión experta.</a:t>
            </a:r>
          </a:p>
          <a:p/>
          <a:p>
            <a:r>
              <a:t>En datos se valida completitud, representatividad, calidad de etiquetas y privacidad. En modelos se estudian precisión, robustez, ataques y degradación. En sistemas generativos se evalúan alucinaciones, contenido dañino, prompt injection, filtración de información y resistencia al abuso.</a:t>
            </a:r>
          </a:p>
          <a:p/>
          <a:p>
            <a:r>
              <a:t>Una persona interesada en esta ruta puede combinar fundamentos de QA con datos, estadística básica, machine learning, ética, seguridad y técnicas de evaluación. No necesita dominar todo desde el primer día, pero sí construir una base progresiva.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Presente una regla simple: automatizar no es grabar todos los pasos posibles. Es seleccionar controles que aporten retroalimentación repetible. Una prueba que cambia constantemente puede consumir más tiempo de mantenimiento que el valor que entrega.</a:t>
            </a:r>
          </a:p>
          <a:p/>
          <a:p>
            <a:r>
              <a:t>Subraye que la exploración humana y la automatización se complementan. La automatización libera tiempo para investigar riesgos nuevos; no elimina la necesidad de pensar.</a:t>
            </a:r>
          </a:p>
          <a:p/>
          <a:p>
            <a:r>
              <a:t>Texto ampliado para leer:</a:t>
            </a:r>
          </a:p>
          <a:p>
            <a:r>
              <a:t>Para decidir qué automatizar, podemos utilizar cuatro preguntas. Primera: ¿qué riesgo cubre esta prueba? Segunda: ¿con qué frecuencia se ejecutará? Tercera: ¿el comportamiento es suficientemente estable? Cuarta: ¿podemos determinar automáticamente si pasó o falló?</a:t>
            </a:r>
          </a:p>
          <a:p/>
          <a:p>
            <a:r>
              <a:t>Un flujo de pago crítico que se ejecuta en cada versión suele ser buen candidato. Una interfaz que cambia diariamente quizá no. Una revisión de claridad visual o facilidad de uso puede requerir juicio humano. Algunas pruebas se automatizan parcialmente: preparar datos, navegar y capturar evidencia, dejando la valoración final a una persona.</a:t>
            </a:r>
          </a:p>
          <a:p/>
          <a:p>
            <a:r>
              <a:t>La automatización profesional también incluye mantenimiento, documentación, ambientes, datos, reportes y análisis de fallos. El script es solo una parte del sistema.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no todas las personas necesitan esperar a dominar cada capa al cien por ciento. Sin embargo, avanzar sin fundamentos crea automatizaciones frágiles.</a:t>
            </a:r>
          </a:p>
          <a:p/>
          <a:p>
            <a:r>
              <a:t>Recomiende elegir un solo lenguaje al inicio según las vacantes objetivo. Si predominan Playwright y TypeScript, esa combinación puede ser razonable. Si el entorno usa Java y Selenium, la ruta será distinta. La vacante y el ecosistema de la empresa deben orientar la elección.</a:t>
            </a:r>
          </a:p>
          <a:p/>
          <a:p>
            <a:r>
              <a:t>Texto ampliado para leer:</a:t>
            </a:r>
          </a:p>
          <a:p>
            <a:r>
              <a:t>La ruta puede adaptarse según el puesto. Para QA manual junior, la prioridad puede ser requisitos, casos, defectos, Jira, SQL y API básica. Para automation, se añade un lenguaje, Git, estructura de proyecto, localizadores, aserciones, patrones y CI. Para SDET se profundiza en ingeniería de software, arquitectura, servicios, código limpio y herramientas internas.</a:t>
            </a:r>
          </a:p>
          <a:p/>
          <a:p>
            <a:r>
              <a:t>Para performance se requieren conceptos de carga, concurrencia, métricas y observabilidad. Para seguridad, redes, autenticación, amenazas y OWASP. Para datos, SQL más profundo, ETL, calidad y pipelines. Para mobile, plataformas, dispositivos, permisos y redes.</a:t>
            </a:r>
          </a:p>
          <a:p/>
          <a:p>
            <a:r>
              <a:t>La pregunta no es cuál ruta es superior. La pregunta es cuál coincide con las tareas que usted desea realizar y con las oportunidades que encuentra.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el código sin asumir experiencia avanzada. La prueba abre la página, completa datos, ejecuta una acción y verifica un resultado observable. Destaque que en un proyecto real no se dejarían credenciales en el código; se usarían variables seguras y datos de prueba.</a:t>
            </a:r>
          </a:p>
          <a:p/>
          <a:p>
            <a:r>
              <a:t>Mencione que Playwright ofrece auto-waiting, aserciones reintentables, trazas, ejecución paralela y soporte para varios navegadores. Aclare que una herramienta reduce ciertos problemas, pero no corrige un mal diseño de pruebas.</a:t>
            </a:r>
          </a:p>
          <a:p/>
          <a:p>
            <a:r>
              <a:t>Texto ampliado para leer:</a:t>
            </a:r>
          </a:p>
          <a:p>
            <a:r>
              <a:t>En una entrevista pueden preguntarle por qué seleccionó esos localizadores. La respuesta no debe ser «porque lo vi en un tutorial». Puede explicar que los roles y etiquetas se acercan al comportamiento del usuario y suelen ser más resistentes que selectores dependientes de estilos internos.</a:t>
            </a:r>
          </a:p>
          <a:p/>
          <a:p>
            <a:r>
              <a:t>También pueden preguntarle qué faltaría. Aquí faltan manejo seguro de credenciales, preparación de datos, limpieza, casos negativos, configuración de ambientes y quizá una abstracción para reutilizar acciones. Reconocer limitaciones demuestra criterio.</a:t>
            </a:r>
          </a:p>
          <a:p/>
          <a:p>
            <a:r>
              <a:t>Si utiliza IA para producir una prueba, asegúrese de poder explicar cada línea, ejecutarla, modificarla y depurarla. El código que no puede defender no debe presentarse como dominio propio.</a:t>
            </a:r>
          </a:p>
          <a:p/>
          <a:p>
            <a:r>
              <a:t>Contenido integrado de la versión extensa:</a:t>
            </a:r>
          </a:p>
          <a:p>
            <a:r>
              <a:t>Explique integración continua de manera sencilla. Cada cambio puede activar un flujo que instala dependencias, construye, ejecuta pruebas y publica resultados. Esto reduce la dependencia de una sola computadora y hace visible el estado del producto.</a:t>
            </a:r>
          </a:p>
          <a:p/>
          <a:p>
            <a:r>
              <a:t>Para portafolio, GitHub Actions permite mostrar que la suite se ejecuta automáticamente. La insignia del pipeline no es el objetivo; el objetivo es demostrar una práctica profesional reproducible.</a:t>
            </a:r>
          </a:p>
          <a:p/>
          <a:p>
            <a:r>
              <a:t>Texto ampliado para leer:</a:t>
            </a:r>
          </a:p>
          <a:p>
            <a:r>
              <a:t>El pipeline representa una conversación automática entre el cambio y la calidad. Cuando alguien envía código, el sistema prepara un ambiente, ejecuta controles y publica una señal. Esa señal debe ser rápida y confiable. Si las pruebas fallan constantemente por razones aleatorias, el equipo comienza a ignorarlas.</a:t>
            </a:r>
          </a:p>
          <a:p/>
          <a:p>
            <a:r>
              <a:t>Esto abre otra especialización: calidad en CI/CD, release engineering, DevOps y reliability. Una persona de QA que disfruta ambientes, automatización y análisis de fallos puede crecer hacia estas áreas. Necesitará aprender sistemas operativos, contenedores, nube, infraestructura como código, monitoreo y seguridad.</a:t>
            </a:r>
          </a:p>
          <a:p/>
          <a:p>
            <a:r>
              <a:t>Para un portafolio junior basta comenzar con un workflow sencillo que ejecute la suite y conserve el reporte.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10 minutos]</a:t>
            </a:r>
          </a:p>
          <a:p>
            <a:r>
              <a:t>Indique la hora exacta de regreso. Pida a cada participante localizar durante la pausa al menos una vacante que le interese. Puede ser local, remota, de pasantía, junior o de un nivel que aspire a alcanzar.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5 minutos]</a:t>
            </a:r>
          </a:p>
          <a:p>
            <a:r>
              <a:t>Esta es una de las ideas más importantes del taller. Explique que una guía de estudio no debe comenzar con una lista genérica de tecnologías. Debe comenzar con el trabajo que se desea realizar.</a:t>
            </a:r>
          </a:p>
          <a:p/>
          <a:p>
            <a:r>
              <a:t>La persona busca vacantes reales, aunque todavía no cumpla todos los requisitos. Extrae tareas, herramientas, competencias y nivel. Luego agrupa patrones. Si Playwright aparece una vez y Selenium aparece en quince vacantes objetivo, esa diferencia es una señal. No es una orden absoluta, pero orienta la prioridad.</a:t>
            </a:r>
          </a:p>
          <a:p/>
          <a:p>
            <a:r>
              <a:t>Texto ampliado para leer:</a:t>
            </a:r>
          </a:p>
          <a:p>
            <a:r>
              <a:t>Esta estrategia evita dos extremos. El primero es estudiar sin mirar el mercado. El segundo es obedecer ciegamente cada requisito de una vacante. Analizar varias ofertas permite identificar patrones y distinguir entre requisitos esenciales, deseables y particulares de una empresa.</a:t>
            </a:r>
          </a:p>
          <a:p/>
          <a:p>
            <a:r>
              <a:t>Busque vacantes del nivel actual y del nivel siguiente. Las primeras ayudan a aplicar ahora; las segundas muestran hacia dónde crecer. También compare vacantes locales, remotas y en inglés, porque pueden pedir combinaciones diferentes.</a:t>
            </a:r>
          </a:p>
          <a:p/>
          <a:p>
            <a:r>
              <a:t>No espere cumplir el cien por ciento. Si posee una base sólida y puede cubrir una parte importante de las funciones, considere aplicar. La propia búsqueda ofrece retroalimentación para ajustar el estudio.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7 minutos]</a:t>
            </a:r>
          </a:p>
          <a:p>
            <a:r>
              <a:t>Explique las columnas. Frecuencia indica cuántas vacantes mencionan la competencia. Mi nivel debe basarse en una escala clara: no conozco, comprendo, practico con apoyo, trabajo de forma autónoma o puedo enseñar. Evidencia actual indica qué se puede mostrar.</a:t>
            </a:r>
          </a:p>
          <a:p/>
          <a:p>
            <a:r>
              <a:t>La prioridad no depende solo de frecuencia. Una competencia puede aparecer pocas veces, pero ser obligatoria para el rol. También se considera el tiempo disponible y las dependencias: antes de automatizar APIs, quizá se necesite comprender HTTP y JavaScript.</a:t>
            </a:r>
          </a:p>
          <a:p/>
          <a:p>
            <a:r>
              <a:t>Texto ampliado para leer:</a:t>
            </a:r>
          </a:p>
          <a:p>
            <a:r>
              <a:t>Para construir esta matriz, copie únicamente información útil, no toda la descripción. Separe tareas de herramientas. Una tarea puede ser «diseñar pruebas de API» y la herramienta puede ser Postman. La tarea es más estable que la marca.</a:t>
            </a:r>
          </a:p>
          <a:p/>
          <a:p>
            <a:r>
              <a:t>Utilice una escala de dominio basada en desempeño: cero, no lo conozco; uno, comprendo conceptos; dos, realizo ejercicios con guía; tres, ejecuto de manera autónoma; cuatro, puedo diseñar, explicar y ayudar a otra persona. Luego añada un enlace a la evidencia.</a:t>
            </a:r>
          </a:p>
          <a:p/>
          <a:p>
            <a:r>
              <a:t>La prioridad puede calcularse combinando frecuencia, importancia para el puesto, nivel actual y tiempo requerido. Empiece por brechas que desbloqueen varias tareas, como fundamentos, API, SQL, Git o comunicación.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7 minutos]</a:t>
            </a:r>
          </a:p>
          <a:p>
            <a:r>
              <a:t>Explique que cada unidad de la guía debe responder: ¿por qué necesito aprender esto?, ¿qué tarea laboral podré realizar?, ¿qué recurso confiable usaré?, ¿qué ejercicio completaré?, ¿qué evidencia quedará? y ¿cómo sabré que lo domino?</a:t>
            </a:r>
          </a:p>
          <a:p/>
          <a:p>
            <a:r>
              <a:t>Ejemplo: no escribir solo «aprender Postman». Escribir: «crear una colección para una API, usar variables, autenticar, validar códigos y cuerpo, ejecutar en línea de comandos y publicar documentación». Eso convierte un tema difuso en desempeño observable.</a:t>
            </a:r>
          </a:p>
          <a:p/>
          <a:p>
            <a:r>
              <a:t>Texto ampliado para leer:</a:t>
            </a:r>
          </a:p>
          <a:p>
            <a:r>
              <a:t>Una guía autónoma debe ser específica. Para cada competencia escriba un resultado de aprendizaje: «al finalizar podré diseñar una colección de API con autenticación y aserciones». Después seleccione una fuente principal, preferiblemente oficial, y una fuente de apoyo.</a:t>
            </a:r>
          </a:p>
          <a:p/>
          <a:p>
            <a:r>
              <a:t>Diseñe una práctica que no sea copiar el ejemplo. Cambie datos, agregue casos negativos, provoque errores y explique los resultados. La evidencia puede ser código, reporte, video breve, documentación o una demostración.</a:t>
            </a:r>
          </a:p>
          <a:p/>
          <a:p>
            <a:r>
              <a:t>Finalmente defina el criterio de terminado. Por ejemplo: ejecutar sin ayuda, explicar decisiones, resolver tres variaciones y recibir revisión. Sin criterio de dominio, estudiar puede convertirse en consumir contenido indefinidamente.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7 minutos]</a:t>
            </a:r>
          </a:p>
          <a:p>
            <a:r>
              <a:t>Explique cada técnica con un ejemplo. Documentación primero evita depender de tutoriales desactualizados. Práctica deliberada significa trabajar una dificultad concreta. Recuperación activa permite comprobar comprensión real.</a:t>
            </a:r>
          </a:p>
          <a:p/>
          <a:p>
            <a:r>
              <a:t>La bitácora puede ser un archivo Markdown semanal. Debe registrar decisiones, errores y soluciones. También sirve para preparar entrevistas porque ayuda a recordar historias reales de aprendizaje y resolución de problemas.</a:t>
            </a:r>
          </a:p>
          <a:p/>
          <a:p>
            <a:r>
              <a:t>Insista: la IA puede explicar y proponer ejercicios, pero el estudiante debe intentar, ejecutar, equivocarse y verificar.</a:t>
            </a:r>
          </a:p>
          <a:p/>
          <a:p>
            <a:r>
              <a:t>Texto ampliado para leer:</a:t>
            </a:r>
          </a:p>
          <a:p>
            <a:r>
              <a:t>Veamos un ejemplo de práctica deliberada. Si falla al escribir aserciones de API, no necesita repetir un curso completo. Puede tomar cinco respuestas distintas y practicar solamente códigos, encabezados, esquemas y campos obligatorios. Después integra esa habilidad al proyecto.</a:t>
            </a:r>
          </a:p>
          <a:p/>
          <a:p>
            <a:r>
              <a:t>La recuperación activa puede hacerse explicando un concepto sin mirar notas, resolviendo una tarea en blanco o respondiendo preguntas. La bitácora debe registrar errores, porque allí ocurre gran parte del aprendizaje.</a:t>
            </a:r>
          </a:p>
          <a:p/>
          <a:p>
            <a:r>
              <a:t>Ser autónomo también significa saber cuándo pedir ayuda. Primero describa lo que intentó, el resultado obtenido, el resultado esperado y la evidencia. Esa forma de solicitar apoyo mejora la comunicación profesional y facilita recibir respuestas útiles.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6 minutos]</a:t>
            </a:r>
          </a:p>
          <a:p>
            <a:r>
              <a:t>Explique que una búsqueda ordenada reduce ansiedad y permite aprender. No dependan de un solo portal. LinkedIn Jobs permite descubrir vacantes y conectar con reclutadores, colegas y empresas. Indeed amplía la búsqueda general. Glassdoor combina ofertas con referencias compartidas por empleados. Para tecnología y startups pueden explorar Get on Board, Wellfound y Dice. Para oportunidades formales en República Dominicana están RD Trabaja, del Ministerio de Trabajo, y Concursa, del Ministerio de Administración Pública. También deben visitar las secciones «Carreras», «Empleos», «Vacantes» o «Trabaja con nosotros» de empresas privadas e instituciones públicas.</a:t>
            </a:r>
          </a:p>
          <a:p/>
          <a:p>
            <a:r>
              <a:t>Una vacante encontrada en un agregador debe verificarse en el portal institucional de la empresa. Confirmen que el dominio, el correo y el proceso sean legítimos. Desconfíen de solicitudes de dinero, compras obligatorias, ofertas sin funciones claras o comunicaciones que no puedan relacionarse con una organización real.</a:t>
            </a:r>
          </a:p>
          <a:p/>
          <a:p>
            <a:r>
              <a:t>Actualicen LinkedIn en función de las vacantes que desean alcanzar. El titular, el resumen, las competencias, la experiencia y los proyectos deben contar una historia coherente con el puesto objetivo. Si buscan QA Automation, la automatización, API, SQL, Git, CI y las evidencias relacionadas deben ser fáciles de localizar. No agreguen habilidades que no puedan explicar o demostrar.</a:t>
            </a:r>
          </a:p>
          <a:p/>
          <a:p>
            <a:r>
              <a:t>El CV también debe adaptarse. No significa inventar una versión diferente de la persona, sino priorizar las experiencias, resultados, palabras clave y evidencias pertinentes para ese puesto. Un CV para QA funcional puede destacar análisis, casos, defectos y negocio; uno para automation debe dar mayor visibilidad a programación, frameworks, API, Git y pipelines. Mantengan una versión base y creen variantes honestas para las familias de roles a las que aplicarán.</a:t>
            </a:r>
          </a:p>
          <a:p/>
          <a:p>
            <a:r>
              <a:t>Glassdoor puede ayudar a investigar cultura, entrevistas, salarios y experiencias positivas y negativas. No tomen una reseña aislada como verdad absoluta. Comparen patrones, fechas, ubicación, equipo y tipo de puesto. Una empresa grande puede ofrecer experiencias distintas entre departamentos. Contrasten esa información con su página oficial, LinkedIn, noticias y conversaciones con personas que conozcan la organización.</a:t>
            </a:r>
          </a:p>
          <a:p/>
          <a:p>
            <a:r>
              <a:t>Construyan un plan A y un plan B. El plan A puede ser el puesto principal que desean, por ejemplo QA Automation Junior. El plan B puede ser una ruta cercana donde sus competencias también generen valor: QA funcional, soporte de aplicaciones, análisis de negocio, datos, implementación, desarrollo junior o coordinación tecnológica. Aplicar a perfiles relacionados no es abandonar la meta; puede ser una puerta de entrada y una fuente de experiencia.</a:t>
            </a:r>
          </a:p>
          <a:p/>
          <a:p>
            <a:r>
              <a:t>También conviene desarrollar una alternativa propia: un pequeño servicio, proyecto, producto digital, tutoría, consultoría inicial, automatización para negocios, creación de contenido especializado o emprendimiento. No esperen pasivamente que el mercado les conceda la oportunidad. Un proyecto personal puede producir aprendizaje, contactos, portafolio y, con el tiempo, ingresos. Debe manejarse con ética y dentro de las competencias reales de cada persona.</a:t>
            </a:r>
          </a:p>
          <a:p/>
          <a:p>
            <a:r>
              <a:t>El mercado no preguntará cuándo estarán completamente preparados. Las vacantes aparecen cuando una empresa tiene una necesidad, no cuando el candidato termina todos sus cursos. Si todavía no están listos para demostrar una competencia esencial, otra persona responderá a esa oportunidad. Por eso deben construir una preparación mínima defendible, aplicar mientras continúan aprendiendo y utilizar cada respuesta, entrevista o rechazo como información.</a:t>
            </a:r>
          </a:p>
          <a:p/>
          <a:p>
            <a:r>
              <a:t>La empleabilidad combina habilidades técnicas y blandas. Las técnicas permiten realizar el trabajo; las blandas permiten comprender requisitos, escuchar, preguntar, colaborar, manejar desacuerdos, explicar riesgos, cumplir compromisos y aprender. Durante una entrevista, la madurez se observa en cómo reaccionan ante una pregunta desconocida, una corrección, un cambio de requisito o una limitación.</a:t>
            </a:r>
          </a:p>
          <a:p/>
          <a:p>
            <a:r>
              <a:t>Negociar no consiste simplemente en pedir más dinero o aceptar menos para asegurar el puesto. Una negociación madura considera responsabilidades, rango salarial, beneficios, horario, modalidad, aprendizaje, estabilidad, expectativas de desempeño y posibilidades de crecimiento. La actitud profesional incluye escuchar, hacer preguntas, explicar el valor que se puede aportar y reconocer con honestidad lo que todavía debe desarrollarse.</a:t>
            </a:r>
          </a:p>
          <a:p/>
          <a:p>
            <a:r>
              <a:t>Utilicen una hoja de seguimiento con fecha, empresa, enlace oficial, puesto, requisitos, versión del CV, contacto, estado y próximo paso. Midan aplicaciones, respuestas, entrevistas, pruebas y ofertas. Participen en eventos y comunidades porque muchas oportunidades llegan cuando otras personas conocen su trabajo, criterio y confiabilidad.</a:t>
            </a:r>
          </a:p>
          <a:p/>
          <a:p>
            <a:r>
              <a:t>Si nadie responde, revisar CV, palabras clave y tipo de vacante. Si se obtienen entrevistas pero no ofertas, practicar comunicación y parte técnica. Si se llega a pruebas técnicas, analizar las brechas observadas. La búsqueda produce datos para mejorar.</a:t>
            </a:r>
          </a:p>
          <a:p/>
          <a:p>
            <a:r>
              <a:t>Texto ampliado para leer:</a:t>
            </a:r>
          </a:p>
          <a:p>
            <a:r>
              <a:t>Utilice búsquedas en español e inglés porque los títulos cambian. Pruebe combinaciones como «QA junior», «software tester», «quality analyst», «manual tester», «QA automation», «test automation engineer», «SDET», «API tester» y «quality engineer». Añada ubicación, remoto, internship o junior.</a:t>
            </a:r>
          </a:p>
          <a:p/>
          <a:p>
            <a:r>
              <a:t>No dependa únicamente del botón de aplicación rápida. Visite las páginas de las empresas, siga reclutadores especializados, participe en comunidades y solicite referidos de manera respetuosa. Un referido no significa pedir que alguien mienta; significa que una persona conozca su trabajo y pueda señalar una oportunidad.</a:t>
            </a:r>
          </a:p>
          <a:p/>
          <a:p>
            <a:r>
              <a:t>Registre resultados semanalmente. La búsqueda también se prueba, se mide y se mejora como cualquier proceso de calidad.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7 minutos]</a:t>
            </a:r>
          </a:p>
          <a:p>
            <a:r>
              <a:t>Explique la diferencia entre responsabilidad y logro. «Ejecuté pruebas» es débil. «Diseñé y ejecuté 45 casos para tres flujos críticos, documenté ocho defectos y automaticé la regresión principal» aporta contexto, aunque sea un proyecto académico correctamente identificado.</a:t>
            </a:r>
          </a:p>
          <a:p/>
          <a:p>
            <a:r>
              <a:t>No recomendar falsificar experiencia. Los proyectos personales deben presentarse como proyectos. El CV se adapta usando el lenguaje de la vacante sin copiar afirmaciones que no se puedan defender.</a:t>
            </a:r>
          </a:p>
          <a:p/>
          <a:p>
            <a:r>
              <a:t>Texto ampliado para leer:</a:t>
            </a:r>
          </a:p>
          <a:p>
            <a:r>
              <a:t>El CV debe responder rápidamente tres preguntas: qué puesto busca, qué puede hacer y dónde se observa la evidencia. Utilice palabras de la vacante cuando sean verdaderas. Si la oferta habla de pruebas de API y usted posee un proyecto, ubíquelo de manera visible.</a:t>
            </a:r>
          </a:p>
          <a:p/>
          <a:p>
            <a:r>
              <a:t>Para quienes cambian de carrera, traduzca la experiencia previa. Atención al cliente puede demostrar análisis de incidentes y comunicación. Docencia puede mostrar planificación, documentación y facilitación. Desarrollo demuestra código y depuración. Administración puede aportar procesos y detalle.</a:t>
            </a:r>
          </a:p>
          <a:p/>
          <a:p>
            <a:r>
              <a:t>No oculte que un proyecto es académico o personal. Preséntelo con profesionalidad: problema, alcance, acciones, herramientas y resultados. Revise ortografía, enlaces y consistencia de fechas.</a:t>
            </a:r>
          </a:p>
          <a:p/>
          <a:p>
            <a:r>
              <a:t>Contenido integrado de la versión extensa:</a:t>
            </a:r>
          </a:p>
          <a:p>
            <a:r>
              <a:t>Explique que publicar no significa convertirse en creador de contenido diario. Puede compartirse una lección concreta, un error resuelto o una mejora del proyecto.</a:t>
            </a:r>
          </a:p>
          <a:p/>
          <a:p>
            <a:r>
              <a:t>GitHub permite crear un README de perfil y fijar repositorios. Recomiende seleccionar entre tres y seis trabajos relevantes, no mostrar veinte tutoriales incompletos. Cada repositorio debe indicar propósito, herramientas, instalación, ejecución, resultados y próximos pasos.</a:t>
            </a:r>
          </a:p>
          <a:p/>
          <a:p>
            <a:r>
              <a:t>Texto ampliado para leer:</a:t>
            </a:r>
          </a:p>
          <a:p>
            <a:r>
              <a:t>Un buen titular de LinkedIn puede decir «QA Analyst | Pruebas funcionales, API y SQL | En formación en automatización». Es más informativo que escribir únicamente «buscando oportunidades». La sección Acerca de puede explicar el tipo de producto que le interesa, sus capacidades y la dirección de crecimiento.</a:t>
            </a:r>
          </a:p>
          <a:p/>
          <a:p>
            <a:r>
              <a:t>En GitHub, fije los repositorios más relevantes. Un reclutador no debería adivinar cuál revisar. Agregue capturas, reportes o una demostración breve cuando ayuden, pero no publique secretos ni datos reales.</a:t>
            </a:r>
          </a:p>
          <a:p/>
          <a:p>
            <a:r>
              <a:t>La actividad pública también cuenta: documentación, issues, pull requests y colaboración muestran cómo trabaja con otras personas. Calidad no es solamente escribir scripts; es contribuir de forma clara y confiable.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6 minutos]</a:t>
            </a:r>
          </a:p>
          <a:p>
            <a:r>
              <a:t>Recomiende practicar en voz alta. Una persona puede conocer la respuesta y no lograr comunicarla bajo presión. Para historias de experiencia, puede utilizarse la estructura situación, tarea, acción y resultado.</a:t>
            </a:r>
          </a:p>
          <a:p/>
          <a:p>
            <a:r>
              <a:t>En preguntas técnicas, no intentar adivinar inmediatamente. Aclarar contexto, identificar riesgos y explicar el proceso. Si no se conoce una herramienta, decir qué concepto relacionado se domina y cómo se aprendería. La honestidad acompañada de razonamiento es mejor que inventar.</a:t>
            </a:r>
          </a:p>
          <a:p/>
          <a:p>
            <a:r>
              <a:t>Texto ampliado para leer:</a:t>
            </a:r>
          </a:p>
          <a:p>
            <a:r>
              <a:t>Prepare una presentación profesional de uno o dos minutos: quién es, qué experiencia trae, qué rol busca, qué proyecto demuestra su preparación y por qué le interesa la empresa. Debe sonar natural, no memorizada mecánicamente.</a:t>
            </a:r>
          </a:p>
          <a:p/>
          <a:p>
            <a:r>
              <a:t>Practique preguntas como: ¿cómo probaría un inicio de sesión?, ¿qué diferencia existe entre severidad y prioridad?, ¿cómo selecciona una regresión?, ¿cómo investigaría una falla intermitente?, ¿qué automatizaría primero? y ¿cómo reportaría un defecto rechazado por desarrollo?</a:t>
            </a:r>
          </a:p>
          <a:p/>
          <a:p>
            <a:r>
              <a:t>Para especialidades técnicas, espere ejercicios relacionados: una consulta SQL, una colección de API, revisión de código o diseño de framework. Piense en voz alta, declare supuestos y priorice. El proceso de razonamiento suele importar tanto como la respuesta final.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Explique que mantenerse actualizado no significa leer noticias todo el día. Se necesita un sistema con frecuencia y filtros. Las fuentes principales deben incluir documentación oficial, notas de versiones, comunidades profesionales y vacantes.</a:t>
            </a:r>
          </a:p>
          <a:p/>
          <a:p>
            <a:r>
              <a:t>Cada tres meses, repetir el análisis de mercado. Si cambian las herramientas más frecuentes, evaluar si la ruta debe ajustarse. No abandonar fundamentos por una moda. La actualización sostenible combina señales del mercado con profundidad técnica.</a:t>
            </a:r>
          </a:p>
          <a:p/>
          <a:p>
            <a:r>
              <a:t>Texto ampliado para leer:</a:t>
            </a:r>
          </a:p>
          <a:p>
            <a:r>
              <a:t>Construya un radar con pocas fuentes de alta calidad. Para herramientas, siga documentación y notas de versiones. Para fundamentos, utilice programas reconocidos y libros. Para seguridad, revise OWASP. Para tendencias laborales, analice vacantes y reportes. Para comunidad, participe en eventos y conversaciones profesionales.</a:t>
            </a:r>
          </a:p>
          <a:p/>
          <a:p>
            <a:r>
              <a:t>No cambie de herramienta cada semana. Cuando aparezca una novedad, pregunte: ¿resuelve un problema de mi rol?, ¿aparece en mis vacantes?, ¿mejora mi proyecto?, ¿puedo probarla en poco tiempo? Si la respuesta es no, guárdela en una lista futura.</a:t>
            </a:r>
          </a:p>
          <a:p/>
          <a:p>
            <a:r>
              <a:t>Mantenerse actualizado es seleccionar, experimentar y decidir; no consumir todas las noticias. Su ruta profesional necesita estabilidad suficiente para profundizar y flexibilidad suficiente para adaptarse.</a:t>
            </a:r>
          </a:p>
          <a:p/>
          <a:p>
            <a:r>
              <a:t>Contenido integrado de la versión extensa:</a:t>
            </a:r>
          </a:p>
          <a:p>
            <a:r>
              <a:t>Dé cinco minutos para escribir y tres para compartir compromisos. Recalque que el plan debe caber en una página y tener acciones verificables.</a:t>
            </a:r>
          </a:p>
          <a:p/>
          <a:p>
            <a:r>
              <a:t>Ejemplo: analizar diez vacantes de QA Automation Junior, estudiar Postman y GitHub Actions, publicar una colección y un pipeline, adaptar el CV y enviar cinco aplicaciones por semana. Al final de cada semana revisar qué se completó y qué señal entregó el mercado.</a:t>
            </a:r>
          </a:p>
          <a:p/>
          <a:p>
            <a:r>
              <a:t>Texto ampliado para leer:</a:t>
            </a:r>
          </a:p>
          <a:p>
            <a:r>
              <a:t>El plan de treinta días debe combinar aprendizaje y empleabilidad. No coloque cuatro semanas únicamente de cursos. Incluya análisis de vacantes, práctica, publicación de evidencia, adaptación del CV, simulación de entrevista y aplicaciones.</a:t>
            </a:r>
          </a:p>
          <a:p/>
          <a:p>
            <a:r>
              <a:t>Un plan posible sería: semana uno, analizar vacantes y completar API; semana dos, SQL y documentación; semana tres, automatizar un flujo; semana cuatro, integrar CI, mejorar README y realizar aplicaciones. Cada viernes se revisan resultados.</a:t>
            </a:r>
          </a:p>
          <a:p/>
          <a:p>
            <a:r>
              <a:t>Defina una versión mínima. Si dispone de cinco horas semanales, reduzca el alcance, no abandone el sistema. La meta no es terminar una lista perfecta; es producir progreso visible y recibir señales del mercado que permitan mejorar la siguiente versión.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Cuando una persona comienza automatización puede concentrarse únicamente en lograr que el script funcione. Sin embargo, una suite profesional también debe mantenerse. Aquí aparecen la programación orientada a objetos, conocida como POO, y principios como DRY, KISS y SOLID.</a:t>
            </a:r>
          </a:p>
          <a:p/>
          <a:p>
            <a:r>
              <a:t>POO permite representar responsabilidades mediante objetos. Una clase LoginPage puede encapsular los localizadores y acciones de la pantalla de acceso. DRY significa «Don't Repeat Yourself»: no debemos copiar el mismo inicio de sesión en veinte archivos. KISS significa «Keep It Simple»: una solución sencilla y entendible suele ser mejor que una estructura sofisticada que nadie puede mantener.</a:t>
            </a:r>
          </a:p>
          <a:p/>
          <a:p>
            <a:r>
              <a:t>SOLID reúne cinco principios. El más útil para comenzar es responsabilidad única: una clase no debe encargarse al mismo tiempo de navegar, crear datos, consultar la base y producir reportes. También es importante depender de componentes sustituibles para poder simular servicios y cambiar herramientas con menos impacto.</a:t>
            </a:r>
          </a:p>
          <a:p/>
          <a:p>
            <a:r>
              <a:t>Estos principios no se aplican mecánicamente. Extraer todo también puede crear complejidad. La pregunta correcta es: ¿esta decisión hace que la prueba sea más clara, estable y fácil de modificar?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Veamos ejemplos concretos. Page Object Model, o modelo de objetos de página, centraliza localizadores y acciones de una pantalla. La prueba puede decir loginPage.iniciarSesion en lugar de repetir detalles técnicos. El patrón Builder permite construir datos de prueba de forma expresiva: un usuario válido, uno bloqueado o uno sin dirección. Factory centraliza la creación de navegadores, clientes o ambientes. Strategy permite intercambiar un comportamiento, como distintos métodos de autenticación o pago.</a:t>
            </a:r>
          </a:p>
          <a:p/>
          <a:p>
            <a:r>
              <a:t>DRY evita repetición, pero no significa crear una función genérica para todo. Si dos pasos se parecen pero representan reglas distintas, unirlos puede ocultar intención. KISS recuerda que la prueba debe poder leerse y diagnosticarse. SOLID ayuda a separar cambios: modificar el reporte no debería romper la navegación.</a:t>
            </a:r>
          </a:p>
          <a:p/>
          <a:p>
            <a:r>
              <a:t>Otro patrón útil es Adapter, que envuelve una herramienta externa para evitar que todo el framework dependa directamente de ella. También puede utilizarse Facade para ofrecer una interfaz sencilla a un flujo complejo. La recomendación es comenzar con Page Object, fixtures y Builder, y añadir otros patrones solamente cuando el proyecto los necesite.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En esta comparación no estamos diciendo que las posiciones existentes entre 2015 y 2024 desaparecieron en 2024. Software developer, QA, análisis de negocio, datos, UX, DevOps, ciberseguridad, gestión, soporte y documentación siguen siendo necesarias. El cambio es que muchas vacantes ahora esperan que estos profesionales sepan utilizar herramientas de inteligencia artificial, evaluar sus resultados y proteger la información.</a:t>
            </a:r>
          </a:p>
          <a:p/>
          <a:p>
            <a:r>
              <a:t>Entre 2015 y 2024, de un desarrollador se esperaba que diseñara, programara, depurara y documentara soluciones utilizando lenguajes, frameworks, control de versiones y patrones. De QA se esperaba analizar requisitos, diseñar y ejecutar pruebas, reportar defectos y automatizar regresiones. Un business analyst levantaba procesos, entrevistaba usuarios y redactaba requisitos. Un data analyst preparaba datos, escribía consultas y construía reportes. UX investigaba usuarios y diseñaba prototipos. DevOps trabajaba ambientes, pipelines y nube. Seguridad analizaba riesgos e incidentes. Gestión preparaba planes y reportes; soporte clasificaba casos y documentación técnica producía guías.</a:t>
            </a:r>
          </a:p>
          <a:p/>
          <a:p>
            <a:r>
              <a:t>Desde 2024 estas responsabilidades no desaparecen, pero se añaden nuevas expectativas. Se espera alfabetización en IA, capacidad para entregar contexto y restricciones, verificar respuestas, reconocer alucinaciones y sesgos, proteger datos, revisar código generado e integrar asistentes dentro de un flujo de trabajo. También aparecen posiciones como GenAI application engineer, AI product manager, AI test engineer, LLM evaluator, AI red teamer, MLOps o LLMOps, Responsible AI specialist, AI automation specialist y AI agent builder. Los títulos todavía cambian entre empresas; por eso debemos leer las funciones.</a:t>
            </a:r>
          </a:p>
          <a:p/>
          <a:p>
            <a:r>
              <a:t>Ahora compartiré tiempos ilustrativos para comprender el cambio. No son garantías ni métricas universales. Varían según experiencia, complejidad, calidad de los datos, herramienta y revisión requerida.</a:t>
            </a:r>
          </a:p>
          <a:p/>
          <a:p>
            <a:r>
              <a:t>Un resumen inicial de reunión o requisitos podía tomar entre dos y cuatro horas; con apoyo de IA, el primer borrador puede reducirse a treinta o noventa minutos, pero una persona debe validar decisiones y acuerdos. Diseñar un conjunto inicial de casos de prueba podía tomar dos o tres horas; la IA puede proponer un borrador en treinta o sesenta minutos, mientras QA dedica tiempo a riesgo, cobertura y resultados esperados. Crear código repetitivo o pruebas unitarias iniciales podía tomar entre dos y cuatro horas; un asistente puede producir una base en treinta o noventa minutos, seguida de ejecución, revisión y refactorización.</a:t>
            </a:r>
          </a:p>
          <a:p/>
          <a:p>
            <a:r>
              <a:t>Una exploración inicial de datos, consultas y narrativa podía requerir entre tres y seis horas; con IA puede tomar de una a tres horas, siempre verificando cálculos y privacidad. Un primer borrador de documentación o reporte podía tomar entre dos y cinco horas; con IA puede reducirse a treinta o noventa minutos. Clasificar un caso de soporte y redactar una respuesta podía tomar de diez a veinte minutos; un borrador asistido puede tomar de dos a cinco minutos, pero el agente humano confirma exactitud y tono. Sintetizar entrevistas de UX podía tomar entre tres y cinco horas; la IA puede apoyar una primera clasificación en una o dos horas, sin reemplazar la interpretación del investigador.</a:t>
            </a:r>
          </a:p>
          <a:p/>
          <a:p>
            <a:r>
              <a:t>La idea no es trabajar más rápido para aceptar resultados sin revisar. El tiempo recuperado debe utilizarse para investigar excepciones, comprobar fuentes, conversar con usuarios, mejorar seguridad y tomar decisiones. La IA reduce parte del tiempo de producción inicial; la responsabilidad profesional permanece.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Como beneficio especial de esta charla–taller, donaré seis boletas para el evento Testing 4 All 2026. Por tanto, seleccionaremos seis personas ganadoras mediante una dinámica sencilla y transparente.</a:t>
            </a:r>
          </a:p>
          <a:p/>
          <a:p>
            <a:r>
              <a:t>Estas son las bases del sorteo. Primero, durante la charla compartiré el enlace de un formulario de Google Forms. Las personas interesadas deberán completarlo correctamente con la información solicitada. La lista utilizada para el sorteo se obtendrá únicamente de las respuestas recibidas en ese formulario.</a:t>
            </a:r>
          </a:p>
          <a:p/>
          <a:p>
            <a:r>
              <a:t>Segundo, no es obligatorio residir en Santo Domingo. Pueden participar personas de otras localidades, siempre que tengan la disponibilidad y la facilidad para trasladarse a la Universidad APEC el día del evento. Lo importante es asegurar que realmente podrán asistir, porque la boleta será entregada personalmente en la entrada y no se enviará de manera digital.</a:t>
            </a:r>
          </a:p>
          <a:p/>
          <a:p>
            <a:r>
              <a:t>Tercero, al completar el formulario la persona declara que tiene la intención real de asistir y se compromete a retirar personalmente la boleta en la entrada. Les pido participar solamente si pueden cumplir este compromiso, para evitar que una entrada destinada a la comunidad quede sin utilizar.</a:t>
            </a:r>
          </a:p>
          <a:p/>
          <a:p>
            <a:r>
              <a:t>La finalidad no es únicamente entrar al evento. Queremos que las personas ganadoras aprovechen la jornada completa para actualizar sus conocimientos, conocer tendencias de QA, automatización e inteligencia artificial, conversar con representantes de empresas, ampliar su red profesional y relacionarse con colegas del área. El networking puede generar mentorías, colaboraciones, referencias profesionales y futuras oportunidades de empleo.</a:t>
            </a:r>
          </a:p>
          <a:p/>
          <a:p>
            <a:r>
              <a:t>Cuando cierre el formulario, utilizaré la lista de respuestas válidas para realizar una selección aleatoria de seis nombres. Después contactaré a cada persona seleccionada mediante un mensaje directo, o DM, para confirmar su identidad, disponibilidad para trasladarse, participación y compromiso de asistencia. La selección se considerará confirmada cuando la persona responda el mensaje privado.</a:t>
            </a:r>
          </a:p>
          <a:p/>
          <a:p>
            <a:r>
              <a:t>Testing 4 All 2026 se realizará el 11 de julio de 2026, de nueve de la mañana a cinco de la tarde, en la Universidad APEC, y es organizado por QA Dominicana. En la diapositiva encontrarán un enlace directo a la publicación de Instagram donde pueden consultar la agenda oficial del evento.</a:t>
            </a:r>
          </a:p>
          <a:p/>
          <a:p>
            <a:r>
              <a:t>Yo estaré en la entrada el día del evento y entregaré personalmente las seis boletas a las personas ganadoras que hayan sido confirmadas por DM. Recuerden: formulario obligatorio, disponibilidad real para asistir, compromiso de aprovechar la actividad y retiro personal de la boleta en la entrada.</a:t>
            </a:r>
          </a:p>
          <a:p/>
          <a:p>
            <a:r>
              <a:t>El botón naranja de esta diapositiva abre directamente el formulario oficial del sorteo. Debajo también encontrarán el acceso a la agenda oficial publicada en Instagram.</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Este será el contenido recomendado para el formulario de Google. Todas las preguntas de identificación, disponibilidad y aceptación deben configurarse como obligatorias. Evitaremos solicitar documentos de identidad, dirección exacta u otros datos que no sean necesarios para realizar el sorteo.</a:t>
            </a:r>
          </a:p>
          <a:p/>
          <a:p>
            <a:r>
              <a:t>Pregunta uno, respuesta corta y obligatoria: ¿Cuál es tu nombre completo?</a:t>
            </a:r>
          </a:p>
          <a:p/>
          <a:p>
            <a:r>
              <a:t>Pregunta dos, respuesta corta y obligatoria: ¿Cuál es tu correo electrónico?</a:t>
            </a:r>
          </a:p>
          <a:p/>
          <a:p>
            <a:r>
              <a:t>Pregunta tres, respuesta corta y obligatoria: Escribe tu usuario de Instagram o la dirección de tu perfil de LinkedIn donde podamos contactarte por mensaje privado. Debe indicarse que este dato se utilizará únicamente para confirmar el resultado del sorteo.</a:t>
            </a:r>
          </a:p>
          <a:p/>
          <a:p>
            <a:r>
              <a:t>Pregunta cuatro, respuesta corta y obligatoria: ¿Desde cuál ciudad o provincia te trasladarías al evento? Esta pregunta no excluye a quienes viven fuera de Santo Domingo; permite confirmar que la persona ha considerado su traslado.</a:t>
            </a:r>
          </a:p>
          <a:p/>
          <a:p>
            <a:r>
              <a:t>Pregunta cinco, opción múltiple y obligatoria: ¿Cuál opción describe mejor tu situación actual? Las opciones pueden ser: estudiante; QA manual; QA automation o SDET; desarrollo de software; datos o inteligencia artificial; ciberseguridad, DevOps o nube; análisis de negocio o producto; otra área tecnológica; y persona en transición hacia tecnología.</a:t>
            </a:r>
          </a:p>
          <a:p/>
          <a:p>
            <a:r>
              <a:t>Pregunta seis, casillas de verificación opcionales: ¿Qué deseas aprovechar principalmente en Testing 4 All 2026? Las opciones pueden ser: aprender sobre QA y testing; automatización; inteligencia artificial; conocer empresas; buscar orientación profesional; conectar con colegas; explorar oportunidades laborales; y otra.</a:t>
            </a:r>
          </a:p>
          <a:p/>
          <a:p>
            <a:r>
              <a:t>Pregunta siete, opción sí o no y obligatoria: ¿Confirmas que puedes trasladarte a la Universidad APEC y asistir presencialmente el 11 de julio de 2026, de 9:00 de la mañana a 5:00 de la tarde? Para participar debe seleccionar sí.</a:t>
            </a:r>
          </a:p>
          <a:p/>
          <a:p>
            <a:r>
              <a:t>Pregunta ocho, opción sí o no y obligatoria: Si resultas seleccionado o seleccionada, ¿te comprometes a responder el DM de confirmación y retirar personalmente tu boleta en la entrada del evento? Para participar debe seleccionar sí.</a:t>
            </a:r>
          </a:p>
          <a:p/>
          <a:p>
            <a:r>
              <a:t>Pregunta nueve, casilla obligatoria de aceptación: He leído y acepto las bases del sorteo; confirmo que mis datos son correctos, que tengo disponibilidad real para asistir y que autorizo el contacto por correo o mensaje privado exclusivamente para gestionar este sorteo.</a:t>
            </a:r>
          </a:p>
          <a:p/>
          <a:p>
            <a:r>
              <a:t>Pregunta diez, respuesta breve opcional: ¿Qué esperas aprender o lograr durante el evento? Esta respuesta no debe utilizarse para favorecer a una persona, porque la selección será aleatoria; servirá para conocer las expectativas de los participantes.</a:t>
            </a:r>
          </a:p>
          <a:p/>
          <a:p>
            <a:r>
              <a:t>En la descripción del formulario conviene informar que se seleccionarán seis personas al azar entre las respuestas válidas, que la boleta no se enviará digitalmente y que será entregada personalmente en la entrada. También debe indicarse la fecha de cierre del formulario cuando se haya decidido.</a:t>
            </a:r>
          </a:p>
          <a:p/>
          <a:p>
            <a:r>
              <a:t>El botón visible en la diapositiva abre directamente el formulario oficial del sorteo: https://docs.google.com/forms/d/e/1FAIpQLSfkSlA1WPgVU4sj6K3Ol3QkT7Dnbv3puESRw7DDC_3QESRljA/viewform?usp=header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Cierre retomando la idea principal: el mercado cambia, pero podemos observarlo y responder con intención. No es necesario perseguir todas las herramientas. Se debe elegir un rol, analizar vacantes, priorizar competencias, estudiar mediante práctica, producir evidencia y comenzar a aplicar.</a:t>
            </a:r>
          </a:p>
          <a:p/>
          <a:p>
            <a:r>
              <a:t>Invite a formular preguntas. Si queda poco tiempo, pida que escriban en el chat su compromiso de los próximos siete días. Agradezca la participación y recuerde revisar su plan de 30 días.</a:t>
            </a:r>
          </a:p>
          <a:p/>
          <a:p>
            <a:r>
              <a:t>Texto ampliado para leer:</a:t>
            </a:r>
          </a:p>
          <a:p>
            <a:r>
              <a:t>Antes de despedirnos, recuerden que una carrera tecnológica no se construye intentando predecir cada cambio. Se construye desarrollando fundamentos, observando el entorno y aprendiendo a responder. La persona que sabe investigar una herramienta, practicarla, verificar resultados y comunicar lo aprendido puede adaptarse mejor que quien depende de una lista fija.</a:t>
            </a:r>
          </a:p>
          <a:p/>
          <a:p>
            <a:r>
              <a:t>QA puede conducir a muchas rutas: análisis, automatización, SDET, rendimiento, seguridad, accesibilidad, datos, IA, DevOps, producto, negocio y liderazgo. No tienen que decidir toda su carrera hoy. Solo necesitan seleccionar un próximo paso, construir evidencia y revisarlo con honestidad.</a:t>
            </a:r>
          </a:p>
          <a:p/>
          <a:p>
            <a:r>
              <a:t>Mi invitación final es sencilla: esta semana busquen vacantes, actualicen su matriz y comiencen una evidencia pequeña. La empleabilidad se fortalece cuando el aprendizaje se convierte en trabajo visible.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Como práctica para realizar en casa, les propongo trabajar con el repositorio vamcodeAutomationPractice. El enlace al README aparece en esta diapositiva. Primero lean el documento completo para identificar las herramientas, requisitos de instalación, estructura y forma de ejecución. No comiencen copiando comandos sin comprender qué hacen.</a:t>
            </a:r>
          </a:p>
          <a:p/>
          <a:p>
            <a:r>
              <a:t>Después realicen un fork o clonen el repositorio según su nivel y preferencia. Instalen las dependencias indicadas y ejecuten las pruebas existentes. Si aparece un error, documenten el mensaje, la posible causa y la solución utilizada. Esa bitácora también constituye evidencia de aprendizaje.</a:t>
            </a:r>
          </a:p>
          <a:p/>
          <a:p>
            <a:r>
              <a:t>El siguiente paso es seleccionar un flujo o comportamiento. Pueden agregar un caso positivo, un caso negativo, un valor límite o mejorar una validación existente. Luego revisen el código e identifiquen una mejora concreta: eliminar duplicación con DRY, simplificar mediante KISS, encapsular una pantalla con POO, separar responsabilidades aplicando SOLID o utilizar Page Object, Builder, Factory o Strategy cuando exista una necesidad real.</a:t>
            </a:r>
          </a:p>
          <a:p/>
          <a:p>
            <a:r>
              <a:t>Como entregable personal, conserven el enlace a su repositorio o fork, el reporte de ejecución, una captura de evidencia, los commits realizados y una reflexión breve: qué comprendieron, qué dificultad encontraron, qué principio aplicaron y qué mejorarían después. Este ejercicio puede convertirse en una pieza del portafolio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Ser muy inteligente o dominar muchas herramientas no garantiza que una persona pueda liderar, colaborar o generar confianza. En tecnología trabajamos con requisitos incompletos, prioridades que compiten, usuarios con necesidades distintas y equipos que dependen unos de otros. Las habilidades blandas convierten el conocimiento técnico en resultados que otras personas pueden comprender y utilizar.</a:t>
            </a:r>
          </a:p>
          <a:p/>
          <a:p>
            <a:r>
              <a:t>Comunicar bien no significa hablar mucho. Significa explicar el problema, la evidencia, el impacto, las opciones y la recomendación de acuerdo con la audiencia. Un defecto crítico se explica de una manera al desarrollador, de otra al Product Owner y de otra a una persona directiva.</a:t>
            </a:r>
          </a:p>
          <a:p/>
          <a:p>
            <a:r>
              <a:t>Escuchar y preguntar evita resolver el problema equivocado. La adaptabilidad permite responder al cambio, pero no significa aceptar desorganización permanente. Ownership tampoco significa cargar con todo; implica asumir compromisos, advertir riesgos a tiempo, pedir ayuda y cerrar el ciclo.</a:t>
            </a:r>
          </a:p>
          <a:p/>
          <a:p>
            <a:r>
              <a:t>El feedback profesional se dirige al trabajo y a sus consecuencias, no al valor personal de quien lo realizó. La negociación permite acordar alcance, fechas, calidad, responsabilidades y prioridades. Liderar no comienza cuando aparece un cargo de manager: comienza cuando una persona aporta claridad, facilita decisiones, reconoce contribuciones y ayuda al equipo a aprender.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En las reseñas positivas compartidas para este taller aparecen varios patrones: sentido de responsabilidad, apoyo entre compañeros, apertura al feedback, interés genuino por el cliente, contratación cuidadosa, aprendizaje continuo y liderazgo cercano. Algunas personas describen ambientes de crecimiento rápido donde se espera esfuerzo, pero también existe apoyo para aprender y evitar el agotamiento.</a:t>
            </a:r>
          </a:p>
          <a:p/>
          <a:p>
            <a:r>
              <a:t>No debemos confundir una cultura saludable con una cultura sin presión. Una empresa puede moverse rápido y mantener claridad, respeto y prioridades comprensibles. También puede exigir un proceso de entrevista riguroso si explica lo que evalúa y trata a los candidatos con profesionalidad.</a:t>
            </a:r>
          </a:p>
          <a:p/>
          <a:p>
            <a:r>
              <a:t>Durante una entrevista, la persona candidata también investiga. Pida ejemplos concretos. Si pregunta cómo se manejan los errores y solamente recibe una respuesta genérica, solicite una situación reciente. Pregunte cómo se comunican cambios de prioridad, cómo se reconoce el trabajo, cómo se comparte conocimiento y qué significa crecer en ese puesto.</a:t>
            </a:r>
          </a:p>
          <a:p/>
          <a:p>
            <a:r>
              <a:t>Una respuesta madura suele incluir procesos, ejemplos y límites. Las respuestas perfectas pero vagas no permiten evaluar la realidad. Observe además cómo lo tratan durante el proceso: puntualidad, claridad, respeto por su tiempo, coherencia entre entrevistadores y disposición para responder preguntas.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Las reseñas críticas analizadas describen cambios constantes de dirección, reorganizaciones, requisitos inestables, favoritismo, comunicación deficiente, conocimiento aislado, exceso de reuniones y pocas oportunidades de crecimiento. También mencionan ambientes donde la visibilidad o las relaciones parecen pesar más que la evidencia y los resultados.</a:t>
            </a:r>
          </a:p>
          <a:p/>
          <a:p>
            <a:r>
              <a:t>Estas situaciones no se resuelven solamente siendo mejor programador o tester. Cuando no existe claridad, incluso una persona técnicamente brillante puede trabajar mucho en algo que dejará de ser prioridad. Cuando el conocimiento permanece en la cabeza de pocas personas, el equipo depende de héroes y repite errores. Cuando el crédito no se asigna de manera justa, disminuyen la confianza y la colaboración.</a:t>
            </a:r>
          </a:p>
          <a:p/>
          <a:p>
            <a:r>
              <a:t>Una reseña individual representa una experiencia, no una sentencia definitiva sobre toda la organización. Debemos buscar patrones entre fechas, puestos y equipos, contrastar opiniones positivas y negativas y hacer preguntas durante la entrevista. También conviene observar si la empresa responde a las críticas con información concreta o solo con declaraciones generales.</a:t>
            </a:r>
          </a:p>
          <a:p/>
          <a:p>
            <a:r>
              <a:t>El objetivo de leer Glassdoor no es buscar una empresa perfecta. Es identificar riesgos, formular preguntas y decidir cuáles condiciones podemos aceptar según nuestra etapa profesional, salud, responsabilidades y objetivos de crecimiento.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Cuando la planificación es débil, la primera habilidad es convertir ambigüedad en preguntas. Podemos decir: «Para confirmar, ¿cuál resultado tiene prioridad, quién toma la decisión y cómo sabremos que terminamos?». Si aparece una urgencia, no prometamos todo al mismo tiempo. Una respuesta profesional sería: «Puedo atender esta solicitud hoy; para hacerlo necesito mover la tarea A o reducir el alcance B. ¿Cuál opción prefieren?».</a:t>
            </a:r>
          </a:p>
          <a:p/>
          <a:p>
            <a:r>
              <a:t>Después de una reunión, documente brevemente las decisiones en un canal compartido: prioridad, responsable, fecha, riesgos y asuntos pendientes. No se trata de crear evidencia para atacar a alguien, sino de reducir interpretaciones distintas y proteger la memoria del equipo. Cuando una conversación importante ocurre por mensaje privado, lleve el acuerdo relevante al espacio común con respeto.</a:t>
            </a:r>
          </a:p>
          <a:p/>
          <a:p>
            <a:r>
              <a:t>Frente al favoritismo o la apropiación del trabajo, mantenga un registro profesional de contribuciones: tickets, pull requests, documentos, demostraciones y resultados. Reconozca públicamente a quienes participaron y pida el mismo estándar de trazabilidad para todos. Evite responder con chismes o ataques personales; describa comportamientos observables y su impacto.</a:t>
            </a:r>
          </a:p>
          <a:p/>
          <a:p>
            <a:r>
              <a:t>Un profesional también ayuda a disminuir la dependencia de personas específicas mediante documentación, revisión entre pares, sesiones de transferencia y automatización. Sin embargo, las habilidades blandas no significan soportar cualquier ambiente. Si después de comunicar, negociar y escalar con evidencia persisten amenazas, discriminación, prácticas poco éticas o daño sostenido a la salud, es válido activar el plan B y buscar otro entorno.</a:t>
            </a:r>
          </a:p>
          <a:p/>
          <a:p>
            <a:r>
              <a:t>Reflexión complementaria para leer:</a:t>
            </a:r>
          </a:p>
          <a:p/>
          <a:p>
            <a:r>
              <a:t>Como profesionales debemos desarrollar control y autocontrol sobre la dirección de nuestra carrera. Así como las empresas defienden sus intereses, ajustan presupuestos, reorganizan equipos y toman decisiones según sus necesidades, nosotros también debemos proteger nuestros intereses profesionales. Eso implica mantener actualizadas las capacidades técnicas, fortalecer las habilidades blandas y evaluar con serenidad si el lugar donde estamos todavía contribuye a nuestro crecimiento.</a:t>
            </a:r>
          </a:p>
          <a:p/>
          <a:p>
            <a:r>
              <a:t>Una frase que quiero que recuerden es esta: «Tu reputación profesional no se construye únicamente con lo que sabes, sino con la manera en que respondes cuando las cosas se complican». La reputación se fortalece cuando cumplimos, comunicamos a tiempo, reconocemos errores, respetamos a los demás, protegemos información y actuamos con coherencia. Cambiar de empleo no destruye una reputación cuando la salida se gestiona con profesionalidad; lo que puede dañarla es abandonar compromisos sin comunicar, reaccionar impulsivamente o convertir cada desacuerdo en un conflicto personal.</a:t>
            </a:r>
          </a:p>
          <a:p/>
          <a:p>
            <a:r>
              <a:t>También quiero dejarles otra idea: «Tu paz mental forma parte de tu compensación profesional». Un salario puede ser atractivo, pero no siempre compensa un ambiente que deteriora constantemente la salud, la confianza o la capacidad de aprender. La experiencia no garantiza que una persona nunca sentirá estrés ni que siempre mantendrá bajo el cortisol. Lo que sí aporta la experiencia es mayor capacidad para reconocer patrones, organizar el trabajo, hacer preguntas, establecer límites y distinguir entre una dificultad normal de aprendizaje y un problema estructural del ambiente.</a:t>
            </a:r>
          </a:p>
          <a:p/>
          <a:p>
            <a:r>
              <a:t>Cuando una tarea nos genera mucha tensión, debemos preguntarnos con honestidad: ¿me estreso porque todavía me falta una competencia técnica?, ¿porque no comprendí el dominio o necesito más práctica?, ¿porque no pedí ayuda a tiempo?, ¿o porque los requisitos cambian constantemente, nadie define prioridades y la planificación hace imposible cumplir? Si el problema es una brecha propia, corresponde estudiar, practicar, solicitar mentoría y mejorar. Si poseemos las competencias, pero el entorno produce caos permanente, contradicciones, favoritismo o desgaste, entonces debemos reconocer que quizá no necesitamos esforzarnos más dentro del mismo sistema; quizá necesitamos movernos.</a:t>
            </a:r>
          </a:p>
          <a:p/>
          <a:p>
            <a:r>
              <a:t>Saber cuándo «saltar de barco» también es una habilidad profesional. No significa renunciar ante la primera dificultad. Significa observar evidencia, intentar comunicar, proponer soluciones, negociar expectativas, establecer límites y evaluar los resultados. Si nada cambia y permanecer comienza a causar un daño sostenido, moverse puede ser una decisión madura. No debemos esperar a estar completamente agotados, resentidos o profesionalmente estancados para preparar una alternativa.</a:t>
            </a:r>
          </a:p>
          <a:p/>
          <a:p>
            <a:r>
              <a:t>Las empresas hablan de transformación, reestructuración y adaptación al mercado. Una persona también tiene derecho a transformar y reconstruir su carrera. Puede decidir profundizar en su especialidad, moverse horizontalmente hacia otra función, buscar mayores ingresos, emprender, trabajar como independiente o avanzar hacia liderazgo. Permanecer diez años en una ruta horizontal puede ser una decisión excelente si coincide con sus intereses. Buscar liderazgo también puede serlo. Ningún camino es exitoso por definición; el éxito depende de lo que la persona valora, de las responsabilidades que desea asumir y del costo que está dispuesta a aceptar.</a:t>
            </a:r>
          </a:p>
          <a:p/>
          <a:p>
            <a:r>
              <a:t>Una relación laboral comienza con una negociación. La empresa presenta una oferta y unas necesidades; la persona decide si ofrece sus servicios, conocimientos y tiempo bajo esas condiciones. Después ambas partes deben adaptarse y cumplir lo acordado. Dentro del contrato y de la legislación aplicable, la empresa puede prescindir de los servicios cuando cambian sus necesidades, y el profesional también puede renunciar cuando entiende que debe continuar su carrera en otro lugar. No conviene interpretar automáticamente cada salida como una derrota personal. Existen emociones y consecuencias humanas, pero también existen decisiones de negocio.</a:t>
            </a:r>
          </a:p>
          <a:p/>
          <a:p>
            <a:r>
              <a:t>Negociar bien no significa pedir la cifra más alta ni aceptar la más baja. Significa comprender el valor del puesto, las responsabilidades, el aprendizaje, el riesgo, los beneficios, el horario, la modalidad y las oportunidades futuras. La madurez se observa en la actitud con la que reaccionamos ante los requisitos: preguntar antes de asumir, reconocer lo que sabemos y lo que no sabemos, proponer opciones y no prometer lo imposible.</a:t>
            </a:r>
          </a:p>
          <a:p/>
          <a:p>
            <a:r>
              <a:t>Por eso, mantengan siempre un plan de desarrollo y un plan alternativo. Actualicen el CV, cuiden las relaciones, documenten resultados, continúen aprendiendo y observen el mercado incluso cuando tengan empleo. No para vivir con miedo, sino para conservar capacidad de decisión. La manera en que interpreten el mercado influirá en su carrera: pueden verlo como algo que controla completamente su destino o como un entorno que deben aprender a leer, negociar y navegar con inteligencia.</a:t>
            </a:r>
          </a:p>
          <a:p/>
          <a:p>
            <a:r>
              <a:t>Tres frases útiles son: «Veo este riesgo y propongo estas dos opciones»; «Confirmo que la prioridad cambió de A hacia B y que la fecha de A será revisada»; y «No tengo todavía la respuesta, pero investigaré, validaré y regresaré a esta hora». Esa combinación de honestidad, claridad y compromiso suele comunicar más madurez que fingir seguridad.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 minutos]</a:t>
            </a:r>
          </a:p>
          <a:p>
            <a:r>
              <a:t>Texto para leer:</a:t>
            </a:r>
          </a:p>
          <a:p>
            <a:r>
              <a:t>Esta diapositiva identifica los posts de Glassdoor utilizados para construir los ejemplos anteriores. Las empresas se omiten deliberadamente porque el propósito no es atacar una organización, sino aprender a reconocer patrones de cultura, liderazgo y trabajo.</a:t>
            </a:r>
          </a:p>
          <a:p/>
          <a:p>
            <a:r>
              <a:t>El caso P1 corresponde al post titulado “Exceptional culture with ownership mentality and intentional hiring”, publicado el 4 de junio de 2026 con una puntuación de cinco sobre cinco por una persona empleada durante menos de un año. Se utilizaron sus referencias a responsabilidad compartida, apoyo, apertura al feedback, orientación al cliente y contratación cuidadosa.</a:t>
            </a:r>
          </a:p>
          <a:p/>
          <a:p>
            <a:r>
              <a:t>El caso P2 corresponde a “Figuring things out”, del 18 de marzo de 2026, también con cinco sobre cinco. Se tomó el contraste entre una mejora en los ritmos operativos y dos desafíos: solicitudes urgentes frecuentes y conocimiento concentrado en pocas personas.</a:t>
            </a:r>
          </a:p>
          <a:p/>
          <a:p>
            <a:r>
              <a:t>El caso P3 corresponde a una reseña de un Lead QA Engineer publicada el 11 de noviembre de 2021 con cinco sobre cinco. Se utilizó su comentario sobre la posibilidad de aprender continuamente y construir un espacio profesional alineado con intereses y talentos.</a:t>
            </a:r>
          </a:p>
          <a:p/>
          <a:p>
            <a:r>
              <a:t>El caso P4 corresponde a una reseña de Revenue Operations del 24 de febrero de 2023 con cinco sobre cinco. Se utilizó su énfasis en una cultura amable, colaborativa y dispuesta a ayudar.</a:t>
            </a:r>
          </a:p>
          <a:p/>
          <a:p>
            <a:r>
              <a:t>El caso N1 es “Reactive environment with little room to grow as an engineer”, del 25 de junio de 2026, con una puntuación de uno sobre cinco. Sus temas principales fueron cambios reactivos de dirección, trabajo dominado por urgencias, poco espacio para crecimiento técnico y conocimiento aislado entre equipos.</a:t>
            </a:r>
          </a:p>
          <a:p/>
          <a:p>
            <a:r>
              <a:t>El caso N2 es “Good pay, but culture rewards self-promotion, favoritism, and narrative control over real work”, del 23 de enero de 2026, con dos sobre cinco. Se utilizaron sus señalamientos sobre inestabilidad, favoritismo, reconocimiento desigual y conversaciones importantes trasladadas a canales privados.</a:t>
            </a:r>
          </a:p>
          <a:p/>
          <a:p>
            <a:r>
              <a:t>El caso N3 es “Unstable Environment with Limited Growth Opportunities”, del 8 de agosto de 2025, con uno sobre cinco. Se consideraron las reorganizaciones frecuentes, la rotación, el apoyo limitado y la falta de progresión profesional.</a:t>
            </a:r>
          </a:p>
          <a:p/>
          <a:p>
            <a:r>
              <a:t>El caso N4 es “Decent For Some But Not Everyone”, del 2 de febrero de 2023, con dos sobre cinco. Se tomaron como temas el exceso de reuniones, la dificultad para obtener ayuda, el poco tiempo para aprender y la expectativa de asumir múltiples funciones.</a:t>
            </a:r>
          </a:p>
          <a:p/>
          <a:p>
            <a:r>
              <a:t>Estas reseñas expresan experiencias individuales y no prueban por sí solas cómo funciona toda una organización. Deben analizarse junto con otras publicaciones, fechas, puestos, entrevistas y fuentes institucionales. Aquí se utilizan como casos pedagógicos para aprender a preguntar, contrastar y decidir.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 minutos]</a:t>
            </a:r>
          </a:p>
          <a:p>
            <a:r>
              <a:t>Texto para leer:</a:t>
            </a:r>
          </a:p>
          <a:p>
            <a:r>
              <a:t>Desde una perspectiva de mercado, una empresa intenta producir bienes o servicios utilizando una combinación de recursos cuyo costo sea sostenible frente al valor que el cliente está dispuesto a pagar. Esos recursos incluyen dinero, tiempo, trabajo humano, tecnología, instalaciones, información, proveedores y riesgo. Por eso la meta económica no es necesariamente utilizar la menor cantidad de personas, sino organizar los recursos de la manera que permita cumplir con calidad, continuidad y rentabilidad.</a:t>
            </a:r>
          </a:p>
          <a:p/>
          <a:p>
            <a:r>
              <a:t>Adam Smith explicó que el intercambio no depende únicamente de la benevolencia, sino del interés de cada parte en ofrecer algo que la otra valora. La cita presentada procede de La riqueza de las naciones, libro I, capítulo II. En una relación laboral también existe intercambio: la organización ofrece compensación y condiciones; el profesional ofrece tiempo, conocimiento, ejecución y responsabilidad.</a:t>
            </a:r>
          </a:p>
          <a:p/>
          <a:p>
            <a:r>
              <a:t>Milton Friedman sostuvo que, en una economía libre, la empresa utiliza sus recursos para aumentar beneficios mientras permanece dentro de las reglas del juego. La parte final es indispensable: legalidad, competencia abierta, contratos y ausencia de engaño o fraude. La cita procede de Capitalism and Freedom, edición conmemorativa de 2002, página 133, publicada originalmente en 1962.</a:t>
            </a:r>
          </a:p>
          <a:p/>
          <a:p>
            <a:r>
              <a:t>Friedrich A. Hayek explicó que el sistema de precios comunica información dispersa sobre escasez y cambios. Ninguna persona posee todo el conocimiento del mercado. La cita se basa en la sección VI de “The Use of Knowledge in Society”, publicado en 1945. Esto ayuda a comprender por qué salarios, demanda de habilidades, tecnologías y vacantes cambian cuando cambian las condiciones.</a:t>
            </a:r>
          </a:p>
          <a:p/>
          <a:p>
            <a:r>
              <a:t>Ronald Coase mostró que utilizar el mercado también tiene costos: buscar, negociar, contratar, coordinar y supervisar. Su planteamiento aparece en “The Nature of the Firm”, de 1937. Una empresa decide qué realizar internamente, qué automatizar y qué contratar externamente comparando costos, control, riesgo y capacidad.</a:t>
            </a:r>
          </a:p>
          <a:p/>
          <a:p>
            <a:r>
              <a:t>Esta lógica no significa que la persona con el salario más bajo sea siempre la alternativa menos costosa. Una contratación deficiente puede producir errores, retrabajo, incidentes, rotación, conocimiento perdido y daño reputacional. Tampoco significa que la empresa deba sacrificar calidad, seguridad o dignidad para reducir gastos. La eficiencia sostenible considera el costo total y las consecuencias de largo plazo.</a:t>
            </a:r>
          </a:p>
          <a:p/>
          <a:p>
            <a:r>
              <a:t>Para el profesional, la conclusión es clara: no compita solamente ofreciendo cobrar menos. Demuestre que puede resolver problemas, aprender, reducir riesgos, colaborar y generar resultados. La empresa defenderá sus intereses económicos y usted debe defender responsablemente el valor de su trabajo, su desarrollo, su reputación y sus límites. Una buena negociación busca una relación en la que ambas partes comprendan qué ofrecen, qué reciben y bajo cuáles condiciones.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3 minutos]</a:t>
            </a:r>
          </a:p>
          <a:p>
            <a:r>
              <a:t>Texto para leer:</a:t>
            </a:r>
          </a:p>
          <a:p>
            <a:r>
              <a:t>Esta segunda diapositiva presenta perspectivas críticas o reformistas. La clasificación por colores es orientativa y responde al diseño solicitado. Karl Marx pertenece a la tradición comunista y socialista. John Maynard Keynes fue un reformista del capitalismo, no un comunista. Amartya Sen y Joseph Stiglitz suelen relacionarse con enfoques progresistas o de centroizquierda, pero sus obras son más amplias que una etiqueta partidaria.</a:t>
            </a:r>
          </a:p>
          <a:p/>
          <a:p>
            <a:r>
              <a:t>Marx analiza la alienación: el trabajo puede convertirse en una actividad externa, controlada por otros y separada del sentido personal. Esta idea ayuda a reflexionar sobre ambientes donde la persona ejecuta sin comprender, carece de autonomía o siente que su identidad queda reducida a producir resultados.</a:t>
            </a:r>
          </a:p>
          <a:p/>
          <a:p>
            <a:r>
              <a:t>Keynes identifica como fallas centrales la ausencia de pleno empleo y la distribución desigual de riqueza e ingresos. Su respuesta no consiste en eliminar los mercados, sino en reconocer que pueden existir periodos prolongados de desempleo y que las instituciones públicas tienen un papel estabilizador.</a:t>
            </a:r>
          </a:p>
          <a:p/>
          <a:p>
            <a:r>
              <a:t>Amartya Sen amplía el concepto de desarrollo. No basta con medir salario, producción o crecimiento; también importa si las personas poseen libertades reales para educarse, cuidar su salud, participar, elegir y construir el tipo de vida que valoran. Aplicado a la carrera, un empleo puede pagar bien y aun así limitar aprendizaje, autonomía o bienestar.</a:t>
            </a:r>
          </a:p>
          <a:p/>
          <a:p>
            <a:r>
              <a:t>Joseph Stiglitz sostiene que la desigualdad está influida por decisiones institucionales y políticas. Las reglas sobre competencia, educación, impuestos, negociación y protección social cambian la distribución de oportunidades. Esto recuerda que el resultado del mercado no surge en un vacío: depende de normas y relaciones de poder.</a:t>
            </a:r>
          </a:p>
          <a:p/>
          <a:p>
            <a:r>
              <a:t>Estas perspectivas no deben utilizarse como consignas para aceptar o rechazar automáticamente una empresa. Sirven para ampliar las preguntas: además de eficiencia y beneficio, ¿cómo se distribuyen riesgos y recompensas?, ¿qué autonomía existe?, ¿qué oportunidades de aprendizaje ofrece el trabajo?, ¿cómo se protege la dignidad y qué libertad real conserva la persona?</a:t>
            </a:r>
          </a:p>
          <a:p/>
          <a:p>
            <a:r>
              <a:t>Al comparar ambas diapositivas, el objetivo no es declarar un ganador ideológico. Es comprender que la empresa observa costos, precios e incentivos, mientras el profesional también debe observar dignidad, crecimiento, seguridad, libertad y poder de negociación. Una decisión madura integra ambas dimensiones.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A muchos se nos educó con una secuencia aparentemente segura: graduarnos de la preparatoria, completar cuatro o cinco años de ingeniería, licenciatura o formación técnica y después obtener un trabajo estable. Esa expectativa dio estructura y motivación, pero estaba incompleta. La formación académica es valiosa; sin embargo, un título no funciona como un contrato anticipado con el mercado laboral.</a:t>
            </a:r>
          </a:p>
          <a:p/>
          <a:p>
            <a:r>
              <a:t>No siempre nos explicaron que, además del conocimiento de la carrera, tendríamos que interpretar culturas organizacionales, políticas internas, estilos de liderazgo, egos, conflictos, prioridades cambiantes y relaciones de poder. Tampoco que necesitaríamos negociar expectativas, comunicar desacuerdos, pedir ayuda, establecer límites y reconocer cuándo un problema es técnico y cuándo pertenece al sistema de trabajo.</a:t>
            </a:r>
          </a:p>
          <a:p/>
          <a:p>
            <a:r>
              <a:t>La universidad puede ofrecer fundamentos, disciplina, pensamiento lógico y oportunidades para aprender. Pero ninguna institución puede enseñarnos de antemano todas las herramientas, industrias y situaciones humanas que encontraremos. Siempre aparecerán lagunas técnicas. Lo profesional no es saberlo todo; es identificar la brecha, investigar, practicar, validar y pedir colaboración sin fingir dominio.</a:t>
            </a:r>
          </a:p>
          <a:p/>
          <a:p>
            <a:r>
              <a:t>También existen barreras de idioma. En tecnología, una parte importante de la documentación, las comunidades, los mensajes de error, las entrevistas y las vacantes internacionales utiliza inglés. No dominarlo todavía no invalida nuestras capacidades, pero sí puede limitar el acceso. Por eso debe tratarse como una competencia profesional que se desarrolla progresivamente: lectura técnica, vocabulario del puesto, escucha, escritura y conversación.</a:t>
            </a:r>
          </a:p>
          <a:p/>
          <a:p>
            <a:r>
              <a:t>Las vacantes no aparecen cuando una persona se siente completamente preparada. Aparecen cuando una empresa tiene presupuesto, urgencia y una necesidad concreta. Si no podemos responder en ese momento, otra persona lo hará. Esto no debe producir miedo, sino una actitud de preparación continua: observar el mercado, mantener evidencias, fortalecer redes, practicar entrevistas y actualizar el perfil antes de necesitarlo.</a:t>
            </a:r>
          </a:p>
          <a:p/>
          <a:p>
            <a:r>
              <a:t>El mensaje no es que estudiar no sirve. El mensaje es que la educación formal es el inicio de una carrera que debemos aprender a gestionar. Al título debemos sumar experiencia demostrable, habilidades blandas, criterio, idioma, networking, negociación y capacidad para movernos cuando cambian nuestras metas o el entorno.</a:t>
            </a:r>
          </a:p>
          <a:p/>
          <a:p>
            <a:r>
              <a:t>La seguridad profesional no proviene únicamente de permanecer muchos años en una empresa. También proviene de saber que podemos aprender, demostrar valor, construir relaciones y crear alternativas. La carrera deja de ser una promesa externa y se convierte en una responsabilidad que dirigimos con información y autocontrol.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[Tiempo sugerido: 4 minutos]</a:t>
            </a:r>
          </a:p>
          <a:p>
            <a:r>
              <a:t>Texto para leer:</a:t>
            </a:r>
          </a:p>
          <a:p>
            <a:r>
              <a:t>Estas reseñas de Santo Domingo muestran que una empresa puede ser un buen espacio para comenzar, aprender tecnologías, recibir apoyo de compañeros y adquirir experiencia. Al mismo tiempo, algunas personas describen desalineación entre el título y las funciones, estancamiento, múltiples proyectos, micromanagement o tareas adicionales producidas por el bajo desempeño de otros compañeros.</a:t>
            </a:r>
          </a:p>
          <a:p/>
          <a:p>
            <a:r>
              <a:t>El caso C1 corresponde a una reseña de DevOps Engineer publicada el 5 de noviembre de 2024 con cuatro sobre cinco. El caso C2 fue publicado por un Junior Software Engineer el 24 de agosto de 2024 con tres sobre cinco. El caso C3 pertenece a un antiguo Quality Assurance Engineer y fue publicado el 3 de mayo de 2023 con cinco sobre cinco. El caso C4 corresponde a un antiguo Software QA Engineer y fue publicado el 9 de febrero de 2023 con cuatro sobre cinco. Todas identifican Santo Domingo como ubicación y se presentan sin mencionar la empresa.</a:t>
            </a:r>
          </a:p>
          <a:p/>
          <a:p>
            <a:r>
              <a:t>Hay organizaciones en las que entraremos durante una etapa corta. Puede terminar el proyecto, cambiar el presupuesto, desaparecer la necesidad o la empresa decidir prescindir de nuestros servicios conforme al contrato y la legislación aplicable. Nosotros también podemos decidir cerrar el ciclo cuando el puesto deja de aportar aprendizaje, estabilidad, bienestar o coherencia con nuestros objetivos.</a:t>
            </a:r>
          </a:p>
          <a:p/>
          <a:p>
            <a:r>
              <a:t>Trabajar cada día como si pudiera ser el último no significa vivir con miedo. Significa mantener el trabajo documentado, entregar calidad, comunicar el estado real, evitar conocimiento escondido y dejar una transferencia que proteja al equipo. También significa conservar actualizado el CV, el portafolio, los contactos profesionales y, cuando sea posible, un fondo financiero para responder a cambios inesperados.</a:t>
            </a:r>
          </a:p>
          <a:p/>
          <a:p>
            <a:r>
              <a:t>Para quienes conectan con una perspectiva de fe, Colosenses 3:23 expresa: «Y todo lo que hagáis, hacedlo de corazón, como para el Señor y no para los hombres». Esta reflexión invita a trabajar con excelencia por convicción y valores, no únicamente para recibir aprobación de un jefe. En un público diverso puede traducirse como actuar con integridad incluso cuando nadie está observando.</a:t>
            </a:r>
          </a:p>
          <a:p/>
          <a:p>
            <a:r>
              <a:t>Debemos agradecer sanamente a quien nos ofrece una oportunidad. Agradecer no significa aceptar una deuda infinita ni pensar que debemos permanecer para siempre porque una empresa nos contrató cuando comenzábamos. La organización recibió nuestro trabajo y nosotros recibimos compensación, experiencia y aprendizaje. Fue un intercambio profesional que puede ser valioso sin convertirse en un apego enfermizo.</a:t>
            </a:r>
          </a:p>
          <a:p/>
          <a:p>
            <a:r>
              <a:t>Si no somos accionistas, la empresa no nos pertenece y tampoco controlamos todas sus decisiones. Esto no reduce la importancia de nuestro trabajo; aclara la relación. Nuestra responsabilidad es aportar valor, respetar acuerdos, cuidar la reputación y preparar el siguiente paso. La lealtad profesional saludable es compatible con reconocer cuándo un ciclo terminó.</a:t>
            </a:r>
          </a:p>
          <a:p/>
          <a:p>
            <a:r>
              <a:t>No conviertan una salida en traición ni una permanencia prolongada en la única prueba de compromiso. Evalúen resultados, aprendizaje, condiciones, salud, ingresos y dirección profesional. Entrar, aportar, aprender y cerrar bien un ciclo también puede ser una historia de éxito.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oogle.com/forms/d/e/1FAIpQLSfkSlA1WPgVU4sj6K3Ol3QkT7Dnbv3puESRw7DDC_3QESRljA/viewform?usp=header" TargetMode="External"/><Relationship Id="rId3" Type="http://schemas.openxmlformats.org/officeDocument/2006/relationships/hyperlink" Target="https://www.instagram.com/p/DaB3AGmACVT/" TargetMode="Externa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hyperlink" Target="https://docs.google.com/forms/d/e/1FAIpQLSfkSlA1WPgVU4sj6K3Ol3QkT7Dnbv3puESRw7DDC_3QESRljA/viewform?usp=header"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github.com/marlenis-concepcion/vamcodeAutomationPractice/blob/main/README.md"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452360" y="0"/>
            <a:ext cx="4736592" cy="6858000"/>
          </a:xfrm>
          <a:prstGeom prst="rect">
            <a:avLst/>
          </a:prstGeom>
          <a:solidFill>
            <a:srgbClr val="0C2341"/>
          </a:solidFill>
          <a:ln>
            <a:solidFill>
              <a:srgbClr val="0C23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955279" y="685800"/>
            <a:ext cx="2606040" cy="260604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79" y="1571853"/>
            <a:ext cx="2606040" cy="438912"/>
          </a:xfrm>
          <a:prstGeom prst="rect">
            <a:avLst/>
          </a:prstGeom>
          <a:noFill/>
        </p:spPr>
        <p:txBody>
          <a:bodyPr wrap="square" anchor="t" lIns="36576" rIns="36576" tIns="36576" bIns="36576">
            <a:spAutoFit/>
          </a:bodyPr>
          <a:lstStyle/>
          <a:p>
            <a:pPr algn="ctr"/>
            <a:r>
              <a:rPr sz="2200" b="1" i="0">
                <a:solidFill>
                  <a:srgbClr val="FFFFFF"/>
                </a:solidFill>
                <a:latin typeface="Aptos"/>
              </a:rPr>
              <a:t>QA</a:t>
            </a:r>
          </a:p>
        </p:txBody>
      </p:sp>
      <p:sp>
        <p:nvSpPr>
          <p:cNvPr id="7" name="Oval 6"/>
          <p:cNvSpPr/>
          <p:nvPr/>
        </p:nvSpPr>
        <p:spPr>
          <a:xfrm>
            <a:off x="9372600" y="2057400"/>
            <a:ext cx="2057400" cy="205740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72600" y="2756916"/>
            <a:ext cx="2057400" cy="438912"/>
          </a:xfrm>
          <a:prstGeom prst="rect">
            <a:avLst/>
          </a:prstGeom>
          <a:noFill/>
        </p:spPr>
        <p:txBody>
          <a:bodyPr wrap="square" anchor="t" lIns="36576" rIns="36576" tIns="36576" bIns="36576">
            <a:spAutoFit/>
          </a:bodyPr>
          <a:lstStyle/>
          <a:p>
            <a:pPr algn="ctr"/>
            <a:r>
              <a:rPr sz="2200" b="1" i="0">
                <a:solidFill>
                  <a:srgbClr val="FFFFFF"/>
                </a:solidFill>
                <a:latin typeface="Aptos"/>
              </a:rPr>
              <a:t>IA</a:t>
            </a:r>
          </a:p>
        </p:txBody>
      </p:sp>
      <p:sp>
        <p:nvSpPr>
          <p:cNvPr id="9" name="Oval 8"/>
          <p:cNvSpPr/>
          <p:nvPr/>
        </p:nvSpPr>
        <p:spPr>
          <a:xfrm>
            <a:off x="7726679" y="4069080"/>
            <a:ext cx="1572768" cy="1572768"/>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79" y="4603821"/>
            <a:ext cx="1572768" cy="438912"/>
          </a:xfrm>
          <a:prstGeom prst="rect">
            <a:avLst/>
          </a:prstGeom>
          <a:noFill/>
        </p:spPr>
        <p:txBody>
          <a:bodyPr wrap="square" anchor="t" lIns="36576" rIns="36576" tIns="36576" bIns="36576">
            <a:spAutoFit/>
          </a:bodyPr>
          <a:lstStyle/>
          <a:p>
            <a:pPr algn="ctr"/>
            <a:r>
              <a:rPr sz="1600" b="1" i="0">
                <a:solidFill>
                  <a:srgbClr val="FFFFFF"/>
                </a:solidFill>
                <a:latin typeface="Aptos"/>
              </a:rPr>
              <a:t>CI</a:t>
            </a:r>
          </a:p>
        </p:txBody>
      </p:sp>
      <p:sp>
        <p:nvSpPr>
          <p:cNvPr id="11" name="Oval 10"/>
          <p:cNvSpPr/>
          <p:nvPr/>
        </p:nvSpPr>
        <p:spPr>
          <a:xfrm>
            <a:off x="9784080" y="4709160"/>
            <a:ext cx="1143000" cy="114300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0" y="5097780"/>
            <a:ext cx="1143000" cy="438912"/>
          </a:xfrm>
          <a:prstGeom prst="rect">
            <a:avLst/>
          </a:prstGeom>
          <a:noFill/>
        </p:spPr>
        <p:txBody>
          <a:bodyPr wrap="square" anchor="t" lIns="36576" rIns="36576" tIns="36576" bIns="36576">
            <a:spAutoFit/>
          </a:bodyPr>
          <a:lstStyle/>
          <a:p>
            <a:pPr algn="ctr"/>
            <a:r>
              <a:rPr sz="1600" b="1" i="0">
                <a:solidFill>
                  <a:srgbClr val="FFFFFF"/>
                </a:solidFill>
                <a:latin typeface="Aptos"/>
              </a:rPr>
              <a:t>CV</a:t>
            </a:r>
          </a:p>
        </p:txBody>
      </p:sp>
      <p:sp>
        <p:nvSpPr>
          <p:cNvPr id="13" name="TextBox 12"/>
          <p:cNvSpPr txBox="1"/>
          <p:nvPr/>
        </p:nvSpPr>
        <p:spPr>
          <a:xfrm>
            <a:off x="658368" y="694944"/>
            <a:ext cx="3657600" cy="320040"/>
          </a:xfrm>
          <a:prstGeom prst="rect">
            <a:avLst/>
          </a:prstGeom>
          <a:noFill/>
        </p:spPr>
        <p:txBody>
          <a:bodyPr wrap="square" anchor="t" lIns="36576" rIns="36576" tIns="36576" bIns="36576">
            <a:spAutoFit/>
          </a:bodyPr>
          <a:lstStyle/>
          <a:p>
            <a:pPr algn="l"/>
            <a:r>
              <a:rPr sz="1500" b="1" i="0">
                <a:solidFill>
                  <a:srgbClr val="31CADB"/>
                </a:solidFill>
                <a:latin typeface="Aptos"/>
              </a:rPr>
              <a:t>CHARLA–TALLER</a:t>
            </a:r>
          </a:p>
        </p:txBody>
      </p:sp>
      <p:sp>
        <p:nvSpPr>
          <p:cNvPr id="14" name="TextBox 13"/>
          <p:cNvSpPr txBox="1"/>
          <p:nvPr/>
        </p:nvSpPr>
        <p:spPr>
          <a:xfrm>
            <a:off x="658368" y="1170432"/>
            <a:ext cx="6446520" cy="1874519"/>
          </a:xfrm>
          <a:prstGeom prst="rect">
            <a:avLst/>
          </a:prstGeom>
          <a:noFill/>
        </p:spPr>
        <p:txBody>
          <a:bodyPr wrap="square" anchor="t" lIns="36576" rIns="36576" tIns="36576" bIns="36576">
            <a:spAutoFit/>
          </a:bodyPr>
          <a:lstStyle/>
          <a:p>
            <a:pPr algn="l"/>
            <a:r>
              <a:rPr sz="3100" b="1" i="0">
                <a:solidFill>
                  <a:srgbClr val="FFFFFF"/>
                </a:solidFill>
                <a:latin typeface="Aptos"/>
              </a:rPr>
              <a:t>La transformación del Software QA Engineering</a:t>
            </a:r>
          </a:p>
        </p:txBody>
      </p:sp>
      <p:sp>
        <p:nvSpPr>
          <p:cNvPr id="15" name="TextBox 14"/>
          <p:cNvSpPr txBox="1"/>
          <p:nvPr/>
        </p:nvSpPr>
        <p:spPr>
          <a:xfrm>
            <a:off x="685800" y="3310128"/>
            <a:ext cx="6263640" cy="804672"/>
          </a:xfrm>
          <a:prstGeom prst="rect">
            <a:avLst/>
          </a:prstGeom>
          <a:noFill/>
        </p:spPr>
        <p:txBody>
          <a:bodyPr wrap="square" anchor="t" lIns="36576" rIns="36576" tIns="36576" bIns="36576">
            <a:spAutoFit/>
          </a:bodyPr>
          <a:lstStyle/>
          <a:p>
            <a:pPr algn="l"/>
            <a:r>
              <a:rPr sz="1800" b="0" i="0">
                <a:solidFill>
                  <a:srgbClr val="E0F5F9"/>
                </a:solidFill>
                <a:latin typeface="Aptos"/>
              </a:rPr>
              <a:t>IA, automatización y empleabilidad en un mercado cambiante</a:t>
            </a:r>
          </a:p>
        </p:txBody>
      </p:sp>
      <p:sp>
        <p:nvSpPr>
          <p:cNvPr id="16" name="Rectangle 15"/>
          <p:cNvSpPr/>
          <p:nvPr/>
        </p:nvSpPr>
        <p:spPr>
          <a:xfrm>
            <a:off x="676656" y="4434840"/>
            <a:ext cx="5897880" cy="54864"/>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 y="4754880"/>
            <a:ext cx="6035040" cy="1143000"/>
          </a:xfrm>
          <a:prstGeom prst="rect">
            <a:avLst/>
          </a:prstGeom>
          <a:noFill/>
        </p:spPr>
        <p:txBody>
          <a:bodyPr wrap="square" anchor="t" lIns="36576" rIns="36576" tIns="36576" bIns="36576">
            <a:spAutoFit/>
          </a:bodyPr>
          <a:lstStyle/>
          <a:p>
            <a:pPr algn="l"/>
            <a:r>
              <a:rPr sz="1350" b="0" i="0">
                <a:solidFill>
                  <a:srgbClr val="FFFFFF"/>
                </a:solidFill>
                <a:latin typeface="Aptos"/>
              </a:rPr>
              <a:t>Modalidad virtual · 2 de julio de 2026
6:30 p. m. – 9:30 p. m. · Duración: 3 horas
Enfoque práctico, participativo y orientado al empleo</a:t>
            </a:r>
          </a:p>
        </p:txBody>
      </p:sp>
      <p:sp>
        <p:nvSpPr>
          <p:cNvPr id="18" name="TextBox 17"/>
          <p:cNvSpPr txBox="1"/>
          <p:nvPr/>
        </p:nvSpPr>
        <p:spPr>
          <a:xfrm>
            <a:off x="676656" y="5779008"/>
            <a:ext cx="6400800" cy="256032"/>
          </a:xfrm>
          <a:prstGeom prst="rect">
            <a:avLst/>
          </a:prstGeom>
          <a:noFill/>
        </p:spPr>
        <p:txBody>
          <a:bodyPr wrap="square" anchor="t" lIns="36576" rIns="36576" tIns="36576" bIns="36576">
            <a:spAutoFit/>
          </a:bodyPr>
          <a:lstStyle/>
          <a:p>
            <a:pPr algn="l"/>
            <a:r>
              <a:rPr sz="1150" b="1" i="0">
                <a:solidFill>
                  <a:srgbClr val="31CADB"/>
                </a:solidFill>
                <a:latin typeface="Aptos"/>
              </a:rPr>
              <a:t>Mtra. Marlenis Judith Concepción Cuevas</a:t>
            </a:r>
          </a:p>
        </p:txBody>
      </p:sp>
      <p:sp>
        <p:nvSpPr>
          <p:cNvPr id="19" name="TextBox 18"/>
          <p:cNvSpPr txBox="1"/>
          <p:nvPr/>
        </p:nvSpPr>
        <p:spPr>
          <a:xfrm>
            <a:off x="676656" y="6044184"/>
            <a:ext cx="6510528" cy="219456"/>
          </a:xfrm>
          <a:prstGeom prst="rect">
            <a:avLst/>
          </a:prstGeom>
          <a:noFill/>
        </p:spPr>
        <p:txBody>
          <a:bodyPr wrap="square" anchor="t" lIns="36576" rIns="36576" tIns="36576" bIns="36576">
            <a:spAutoFit/>
          </a:bodyPr>
          <a:lstStyle/>
          <a:p>
            <a:pPr algn="l"/>
            <a:r>
              <a:rPr sz="910" b="1" i="0">
                <a:solidFill>
                  <a:srgbClr val="FFFFFF"/>
                </a:solidFill>
                <a:latin typeface="Aptos"/>
              </a:rPr>
              <a:t>Senior Software Development Engineer in Test (SDET) · Docente e investigadora</a:t>
            </a:r>
          </a:p>
        </p:txBody>
      </p:sp>
      <p:sp>
        <p:nvSpPr>
          <p:cNvPr id="20" name="TextBox 19"/>
          <p:cNvSpPr txBox="1"/>
          <p:nvPr/>
        </p:nvSpPr>
        <p:spPr>
          <a:xfrm>
            <a:off x="676656" y="6291072"/>
            <a:ext cx="6547104" cy="201168"/>
          </a:xfrm>
          <a:prstGeom prst="rect">
            <a:avLst/>
          </a:prstGeom>
          <a:noFill/>
        </p:spPr>
        <p:txBody>
          <a:bodyPr wrap="square" anchor="t" lIns="36576" rIns="36576" tIns="36576" bIns="36576">
            <a:spAutoFit/>
          </a:bodyPr>
          <a:lstStyle/>
          <a:p>
            <a:pPr algn="l"/>
            <a:r>
              <a:rPr sz="819" b="0" i="0">
                <a:solidFill>
                  <a:srgbClr val="E0F5F9"/>
                </a:solidFill>
                <a:latin typeface="Aptos"/>
              </a:rPr>
              <a:t>Escuela de Informática · Facultad de Ciencias · Universidad Autónoma de Santo Domingo</a:t>
            </a:r>
          </a:p>
        </p:txBody>
      </p:sp>
      <p:pic>
        <p:nvPicPr>
          <p:cNvPr id="21" name="Picture 20" descr="logo_uasd.png"/>
          <p:cNvPicPr>
            <a:picLocks noChangeAspect="1"/>
          </p:cNvPicPr>
          <p:nvPr/>
        </p:nvPicPr>
        <p:blipFill>
          <a:blip r:embed="rId2"/>
          <a:stretch>
            <a:fillRect/>
          </a:stretch>
        </p:blipFill>
        <p:spPr>
          <a:xfrm>
            <a:off x="10899648" y="274320"/>
            <a:ext cx="960120" cy="9601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02</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Resultados y ruta de las tres horas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El objetivo no es aprender todas las herramientas; es saber decidir qué aprender y demostrarlo.</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02</a:t>
            </a:r>
          </a:p>
        </p:txBody>
      </p:sp>
      <p:sp>
        <p:nvSpPr>
          <p:cNvPr id="9" name="Rounded Rectangle 8"/>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Una dirección profesional</a:t>
            </a:r>
          </a:p>
        </p:txBody>
      </p:sp>
      <p:sp>
        <p:nvSpPr>
          <p:cNvPr id="14" name="TextBox 13"/>
          <p:cNvSpPr txBox="1"/>
          <p:nvPr/>
        </p:nvSpPr>
        <p:spPr>
          <a:xfrm>
            <a:off x="1627632"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Elegirás un rol objetivo dentro de QA y reconocerás qué exige el mercado para ese rol.</a:t>
            </a:r>
          </a:p>
        </p:txBody>
      </p:sp>
      <p:sp>
        <p:nvSpPr>
          <p:cNvPr id="15" name="Rounded Rectangle 14"/>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36207"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10527"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Una ruta de aprendizaje</a:t>
            </a:r>
          </a:p>
        </p:txBody>
      </p:sp>
      <p:sp>
        <p:nvSpPr>
          <p:cNvPr id="20" name="TextBox 19"/>
          <p:cNvSpPr txBox="1"/>
          <p:nvPr/>
        </p:nvSpPr>
        <p:spPr>
          <a:xfrm>
            <a:off x="7150607"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Convertirás requisitos de vacantes reales en una guía de estudio organizada por prioridades.</a:t>
            </a:r>
          </a:p>
        </p:txBody>
      </p:sp>
      <p:sp>
        <p:nvSpPr>
          <p:cNvPr id="21" name="Rounded Rectangle 20"/>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13232"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87552"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Evidencias de capacidad</a:t>
            </a:r>
          </a:p>
        </p:txBody>
      </p:sp>
      <p:sp>
        <p:nvSpPr>
          <p:cNvPr id="26" name="TextBox 25"/>
          <p:cNvSpPr txBox="1"/>
          <p:nvPr/>
        </p:nvSpPr>
        <p:spPr>
          <a:xfrm>
            <a:off x="1627632"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Sabrás qué proyectos, documentos y automatizaciones publicar para demostrar lo que sabes hacer.</a:t>
            </a:r>
          </a:p>
        </p:txBody>
      </p:sp>
      <p:sp>
        <p:nvSpPr>
          <p:cNvPr id="27" name="Rounded Rectangle 26"/>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36207"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510527"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Un plan de acción</a:t>
            </a:r>
          </a:p>
        </p:txBody>
      </p:sp>
      <p:sp>
        <p:nvSpPr>
          <p:cNvPr id="32" name="TextBox 31"/>
          <p:cNvSpPr txBox="1"/>
          <p:nvPr/>
        </p:nvSpPr>
        <p:spPr>
          <a:xfrm>
            <a:off x="7150607"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Cerrarás con acciones para buscar empleo, prepararte para entrevistas y mantenerte actualizado.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0080"/>
            <a:ext cx="3108960" cy="292608"/>
          </a:xfrm>
          <a:prstGeom prst="rect">
            <a:avLst/>
          </a:prstGeom>
          <a:noFill/>
        </p:spPr>
        <p:txBody>
          <a:bodyPr wrap="square" anchor="t" lIns="36576" rIns="36576" tIns="36576" bIns="36576">
            <a:spAutoFit/>
          </a:bodyPr>
          <a:lstStyle/>
          <a:p>
            <a:pPr algn="l"/>
            <a:r>
              <a:rPr sz="1300" b="1" i="0">
                <a:solidFill>
                  <a:srgbClr val="F4A03A"/>
                </a:solidFill>
                <a:latin typeface="Aptos"/>
              </a:rPr>
              <a:t>ACTIVIDAD PRÁCTICA</a:t>
            </a:r>
          </a:p>
        </p:txBody>
      </p:sp>
      <p:sp>
        <p:nvSpPr>
          <p:cNvPr id="5" name="TextBox 4"/>
          <p:cNvSpPr txBox="1"/>
          <p:nvPr/>
        </p:nvSpPr>
        <p:spPr>
          <a:xfrm>
            <a:off x="658368" y="1170432"/>
            <a:ext cx="7726679" cy="749808"/>
          </a:xfrm>
          <a:prstGeom prst="rect">
            <a:avLst/>
          </a:prstGeom>
          <a:noFill/>
        </p:spPr>
        <p:txBody>
          <a:bodyPr wrap="square" anchor="t" lIns="36576" rIns="36576" tIns="36576" bIns="36576">
            <a:spAutoFit/>
          </a:bodyPr>
          <a:lstStyle/>
          <a:p>
            <a:pPr algn="l"/>
            <a:r>
              <a:rPr sz="2900" b="1" i="0">
                <a:solidFill>
                  <a:srgbClr val="FFFFFF"/>
                </a:solidFill>
                <a:latin typeface="Aptos"/>
              </a:rPr>
              <a:t>Conozcámonos: ¿desde dónde participas?</a:t>
            </a:r>
          </a:p>
        </p:txBody>
      </p:sp>
      <p:sp>
        <p:nvSpPr>
          <p:cNvPr id="6" name="Rounded Rectangle 5"/>
          <p:cNvSpPr/>
          <p:nvPr/>
        </p:nvSpPr>
        <p:spPr>
          <a:xfrm>
            <a:off x="658368" y="2286000"/>
            <a:ext cx="7452360" cy="2304288"/>
          </a:xfrm>
          <a:prstGeom prst="roundRect">
            <a:avLst/>
          </a:prstGeom>
          <a:solidFill>
            <a:srgbClr val="122A4B"/>
          </a:solidFill>
          <a:ln>
            <a:solidFill>
              <a:srgbClr val="12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24328"/>
            <a:ext cx="1600200" cy="274320"/>
          </a:xfrm>
          <a:prstGeom prst="rect">
            <a:avLst/>
          </a:prstGeom>
          <a:noFill/>
        </p:spPr>
        <p:txBody>
          <a:bodyPr wrap="square" anchor="t" lIns="36576" rIns="36576" tIns="36576" bIns="36576">
            <a:spAutoFit/>
          </a:bodyPr>
          <a:lstStyle/>
          <a:p>
            <a:pPr algn="l"/>
            <a:r>
              <a:rPr sz="1100" b="1" i="0">
                <a:solidFill>
                  <a:srgbClr val="31CADB"/>
                </a:solidFill>
                <a:latin typeface="Aptos"/>
              </a:rPr>
              <a:t>INSTRUCCIÓN</a:t>
            </a:r>
          </a:p>
        </p:txBody>
      </p:sp>
      <p:sp>
        <p:nvSpPr>
          <p:cNvPr id="8" name="TextBox 7"/>
          <p:cNvSpPr txBox="1"/>
          <p:nvPr/>
        </p:nvSpPr>
        <p:spPr>
          <a:xfrm>
            <a:off x="1005840" y="3063240"/>
            <a:ext cx="6693408" cy="1078992"/>
          </a:xfrm>
          <a:prstGeom prst="rect">
            <a:avLst/>
          </a:prstGeom>
          <a:noFill/>
        </p:spPr>
        <p:txBody>
          <a:bodyPr wrap="square" anchor="t" lIns="36576" rIns="36576" tIns="36576" bIns="36576">
            <a:spAutoFit/>
          </a:bodyPr>
          <a:lstStyle/>
          <a:p>
            <a:pPr algn="l"/>
            <a:r>
              <a:rPr sz="1800" b="0" i="0">
                <a:solidFill>
                  <a:srgbClr val="FFFFFF"/>
                </a:solidFill>
                <a:latin typeface="Aptos"/>
              </a:rPr>
              <a:t>Responde por el chat o levanta la mano si deseas compartir: ¿desde dónde nos escuchas?, ¿cuál es tu nivel de seniority?, ¿cuál es tu profesión o área actual? y ¿qué esperas de este taller?</a:t>
            </a:r>
          </a:p>
        </p:txBody>
      </p:sp>
      <p:sp>
        <p:nvSpPr>
          <p:cNvPr id="9" name="Rounded Rectangle 8"/>
          <p:cNvSpPr/>
          <p:nvPr/>
        </p:nvSpPr>
        <p:spPr>
          <a:xfrm>
            <a:off x="8503920" y="1170432"/>
            <a:ext cx="2788920" cy="3419856"/>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37360"/>
            <a:ext cx="2331720" cy="658368"/>
          </a:xfrm>
          <a:prstGeom prst="rect">
            <a:avLst/>
          </a:prstGeom>
          <a:noFill/>
        </p:spPr>
        <p:txBody>
          <a:bodyPr wrap="square" anchor="t" lIns="36576" rIns="36576" tIns="36576" bIns="36576">
            <a:spAutoFit/>
          </a:bodyPr>
          <a:lstStyle/>
          <a:p>
            <a:pPr algn="ctr"/>
            <a:r>
              <a:rPr sz="3100" b="1" i="0">
                <a:solidFill>
                  <a:srgbClr val="07132A"/>
                </a:solidFill>
                <a:latin typeface="Aptos"/>
              </a:rPr>
              <a:t>5 min</a:t>
            </a:r>
          </a:p>
        </p:txBody>
      </p:sp>
      <p:sp>
        <p:nvSpPr>
          <p:cNvPr id="11" name="TextBox 10"/>
          <p:cNvSpPr txBox="1"/>
          <p:nvPr/>
        </p:nvSpPr>
        <p:spPr>
          <a:xfrm>
            <a:off x="8732520" y="2670048"/>
            <a:ext cx="2331720" cy="237744"/>
          </a:xfrm>
          <a:prstGeom prst="rect">
            <a:avLst/>
          </a:prstGeom>
          <a:noFill/>
        </p:spPr>
        <p:txBody>
          <a:bodyPr wrap="square" anchor="t" lIns="36576" rIns="36576" tIns="36576" bIns="36576">
            <a:spAutoFit/>
          </a:bodyPr>
          <a:lstStyle/>
          <a:p>
            <a:pPr algn="ctr"/>
            <a:r>
              <a:rPr sz="1100" b="1" i="0">
                <a:solidFill>
                  <a:srgbClr val="07132A"/>
                </a:solidFill>
                <a:latin typeface="Aptos"/>
              </a:rPr>
              <a:t>ENTREGABLE</a:t>
            </a:r>
          </a:p>
        </p:txBody>
      </p:sp>
      <p:sp>
        <p:nvSpPr>
          <p:cNvPr id="12" name="TextBox 11"/>
          <p:cNvSpPr txBox="1"/>
          <p:nvPr/>
        </p:nvSpPr>
        <p:spPr>
          <a:xfrm>
            <a:off x="8805672" y="3108960"/>
            <a:ext cx="2194560" cy="1024128"/>
          </a:xfrm>
          <a:prstGeom prst="rect">
            <a:avLst/>
          </a:prstGeom>
          <a:noFill/>
        </p:spPr>
        <p:txBody>
          <a:bodyPr wrap="square" anchor="t" lIns="36576" rIns="36576" tIns="36576" bIns="36576">
            <a:spAutoFit/>
          </a:bodyPr>
          <a:lstStyle/>
          <a:p>
            <a:pPr algn="ctr"/>
            <a:r>
              <a:rPr sz="1500" b="1" i="0">
                <a:solidFill>
                  <a:srgbClr val="07132A"/>
                </a:solidFill>
                <a:latin typeface="Aptos"/>
              </a:rPr>
              <a:t>Ubicación + seniority + profesión + expectativa</a:t>
            </a:r>
          </a:p>
        </p:txBody>
      </p:sp>
      <p:sp>
        <p:nvSpPr>
          <p:cNvPr id="13" name="TextBox 12"/>
          <p:cNvSpPr txBox="1"/>
          <p:nvPr/>
        </p:nvSpPr>
        <p:spPr>
          <a:xfrm>
            <a:off x="932688" y="5193792"/>
            <a:ext cx="9738360" cy="384048"/>
          </a:xfrm>
          <a:prstGeom prst="rect">
            <a:avLst/>
          </a:prstGeom>
          <a:noFill/>
        </p:spPr>
        <p:txBody>
          <a:bodyPr wrap="square" anchor="t" lIns="36576" rIns="36576" tIns="36576" bIns="36576">
            <a:spAutoFit/>
          </a:bodyPr>
          <a:lstStyle/>
          <a:p>
            <a:pPr algn="ctr"/>
            <a:r>
              <a:rPr sz="1700" b="1" i="0">
                <a:solidFill>
                  <a:srgbClr val="E0F5F9"/>
                </a:solidFill>
                <a:latin typeface="Aptos"/>
              </a:rPr>
              <a:t>Trabaja con una vacante, requisito o caso real.</a:t>
            </a:r>
          </a:p>
        </p:txBody>
      </p:sp>
      <p:sp>
        <p:nvSpPr>
          <p:cNvPr id="14" name="TextBox 13"/>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Aplicación inmediata</a:t>
            </a:r>
          </a:p>
        </p:txBody>
      </p:sp>
      <p:sp>
        <p:nvSpPr>
          <p:cNvPr id="15" name="TextBox 14"/>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04</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Tres señales del mercado laboral</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Las herramientas cambian, pero la capacidad de aprender y razonar sigue ganando valor.</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Fuentes: World Economic Forum, Future of Jobs Report 2025; LinkedIn, Skills on the Rise 2025.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04</a:t>
            </a:r>
          </a:p>
        </p:txBody>
      </p:sp>
      <p:sp>
        <p:nvSpPr>
          <p:cNvPr id="10" name="Rounded Rectangle 9"/>
          <p:cNvSpPr/>
          <p:nvPr/>
        </p:nvSpPr>
        <p:spPr>
          <a:xfrm>
            <a:off x="640080" y="1508760"/>
            <a:ext cx="3346704" cy="40690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719072" y="1883664"/>
            <a:ext cx="1188720" cy="11887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8" y="2212848"/>
            <a:ext cx="1847088" cy="384048"/>
          </a:xfrm>
          <a:prstGeom prst="rect">
            <a:avLst/>
          </a:prstGeom>
          <a:noFill/>
        </p:spPr>
        <p:txBody>
          <a:bodyPr wrap="square" anchor="t" lIns="36576" rIns="36576" tIns="36576" bIns="36576">
            <a:spAutoFit/>
          </a:bodyPr>
          <a:lstStyle/>
          <a:p>
            <a:pPr algn="ctr"/>
            <a:r>
              <a:rPr sz="2400" b="1" i="0">
                <a:solidFill>
                  <a:srgbClr val="FFFFFF"/>
                </a:solidFill>
                <a:latin typeface="Aptos"/>
              </a:rPr>
              <a:t>39%</a:t>
            </a:r>
          </a:p>
        </p:txBody>
      </p:sp>
      <p:sp>
        <p:nvSpPr>
          <p:cNvPr id="13" name="TextBox 12"/>
          <p:cNvSpPr txBox="1"/>
          <p:nvPr/>
        </p:nvSpPr>
        <p:spPr>
          <a:xfrm>
            <a:off x="1024127" y="3364992"/>
            <a:ext cx="2578608" cy="1353312"/>
          </a:xfrm>
          <a:prstGeom prst="rect">
            <a:avLst/>
          </a:prstGeom>
          <a:noFill/>
        </p:spPr>
        <p:txBody>
          <a:bodyPr wrap="square" anchor="t" lIns="36576" rIns="36576" tIns="36576" bIns="36576">
            <a:spAutoFit/>
          </a:bodyPr>
          <a:lstStyle/>
          <a:p>
            <a:pPr algn="ctr"/>
            <a:r>
              <a:rPr sz="1600" b="1" i="0">
                <a:solidFill>
                  <a:srgbClr val="16263C"/>
                </a:solidFill>
                <a:latin typeface="Aptos"/>
              </a:rPr>
              <a:t>de las competencias esenciales podrían cambiar hacia 2030 según empleadores consultados.</a:t>
            </a:r>
          </a:p>
        </p:txBody>
      </p:sp>
      <p:sp>
        <p:nvSpPr>
          <p:cNvPr id="14" name="Rounded Rectangle 13"/>
          <p:cNvSpPr/>
          <p:nvPr/>
        </p:nvSpPr>
        <p:spPr>
          <a:xfrm>
            <a:off x="4462272" y="1508760"/>
            <a:ext cx="3346704" cy="40690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41264" y="1883664"/>
            <a:ext cx="1188720" cy="11887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0" y="2212848"/>
            <a:ext cx="1847088" cy="384048"/>
          </a:xfrm>
          <a:prstGeom prst="rect">
            <a:avLst/>
          </a:prstGeom>
          <a:noFill/>
        </p:spPr>
        <p:txBody>
          <a:bodyPr wrap="square" anchor="t" lIns="36576" rIns="36576" tIns="36576" bIns="36576">
            <a:spAutoFit/>
          </a:bodyPr>
          <a:lstStyle/>
          <a:p>
            <a:pPr algn="ctr"/>
            <a:r>
              <a:rPr sz="2400" b="1" i="0">
                <a:solidFill>
                  <a:srgbClr val="FFFFFF"/>
                </a:solidFill>
                <a:latin typeface="Aptos"/>
              </a:rPr>
              <a:t>#1</a:t>
            </a:r>
          </a:p>
        </p:txBody>
      </p:sp>
      <p:sp>
        <p:nvSpPr>
          <p:cNvPr id="17" name="TextBox 16"/>
          <p:cNvSpPr txBox="1"/>
          <p:nvPr/>
        </p:nvSpPr>
        <p:spPr>
          <a:xfrm>
            <a:off x="4846320" y="3364992"/>
            <a:ext cx="2578608" cy="1353312"/>
          </a:xfrm>
          <a:prstGeom prst="rect">
            <a:avLst/>
          </a:prstGeom>
          <a:noFill/>
        </p:spPr>
        <p:txBody>
          <a:bodyPr wrap="square" anchor="t" lIns="36576" rIns="36576" tIns="36576" bIns="36576">
            <a:spAutoFit/>
          </a:bodyPr>
          <a:lstStyle/>
          <a:p>
            <a:pPr algn="ctr"/>
            <a:r>
              <a:rPr sz="1600" b="1" i="0">
                <a:solidFill>
                  <a:srgbClr val="16263C"/>
                </a:solidFill>
                <a:latin typeface="Aptos"/>
              </a:rPr>
              <a:t>el pensamiento analítico continúa como competencia central para los empleadores.</a:t>
            </a:r>
          </a:p>
        </p:txBody>
      </p:sp>
      <p:sp>
        <p:nvSpPr>
          <p:cNvPr id="18" name="Rounded Rectangle 17"/>
          <p:cNvSpPr/>
          <p:nvPr/>
        </p:nvSpPr>
        <p:spPr>
          <a:xfrm>
            <a:off x="8284463" y="1508760"/>
            <a:ext cx="3346704" cy="40690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63455" y="1883664"/>
            <a:ext cx="1188720" cy="11887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34272" y="2212848"/>
            <a:ext cx="1847088" cy="384048"/>
          </a:xfrm>
          <a:prstGeom prst="rect">
            <a:avLst/>
          </a:prstGeom>
          <a:noFill/>
        </p:spPr>
        <p:txBody>
          <a:bodyPr wrap="square" anchor="t" lIns="36576" rIns="36576" tIns="36576" bIns="36576">
            <a:spAutoFit/>
          </a:bodyPr>
          <a:lstStyle/>
          <a:p>
            <a:pPr algn="ctr"/>
            <a:r>
              <a:rPr sz="2400" b="1" i="0">
                <a:solidFill>
                  <a:srgbClr val="FFFFFF"/>
                </a:solidFill>
                <a:latin typeface="Aptos"/>
              </a:rPr>
              <a:t>IA</a:t>
            </a:r>
          </a:p>
        </p:txBody>
      </p:sp>
      <p:sp>
        <p:nvSpPr>
          <p:cNvPr id="21" name="TextBox 20"/>
          <p:cNvSpPr txBox="1"/>
          <p:nvPr/>
        </p:nvSpPr>
        <p:spPr>
          <a:xfrm>
            <a:off x="8668511" y="3364992"/>
            <a:ext cx="2578608" cy="1353312"/>
          </a:xfrm>
          <a:prstGeom prst="rect">
            <a:avLst/>
          </a:prstGeom>
          <a:noFill/>
        </p:spPr>
        <p:txBody>
          <a:bodyPr wrap="square" anchor="t" lIns="36576" rIns="36576" tIns="36576" bIns="36576">
            <a:spAutoFit/>
          </a:bodyPr>
          <a:lstStyle/>
          <a:p>
            <a:pPr algn="ctr"/>
            <a:r>
              <a:rPr sz="1600" b="1" i="0">
                <a:solidFill>
                  <a:srgbClr val="16263C"/>
                </a:solidFill>
                <a:latin typeface="Aptos"/>
              </a:rPr>
              <a:t>la alfabetización en IA aparece entre las capacidades de crecimiento más rápido.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05</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QA no desaparece: cambia el tipo de trabajo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Las tareas repetitivas se aceleran; el criterio y la responsabilidad aumentan.</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05</a:t>
            </a:r>
          </a:p>
        </p:txBody>
      </p:sp>
      <p:sp>
        <p:nvSpPr>
          <p:cNvPr id="9" name="Rounded Rectangle 8"/>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TRABAJO QUE SE AUTOMATIZA O ACELERA</a:t>
            </a:r>
          </a:p>
        </p:txBody>
      </p:sp>
      <p:sp>
        <p:nvSpPr>
          <p:cNvPr id="12" name="TextBox 11"/>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Generación inicial de casos y datos de prueba</a:t>
            </a:r>
          </a:p>
          <a:p>
            <a:pPr>
              <a:lnSpc>
                <a:spcPct val="105000"/>
              </a:lnSpc>
              <a:spcAft>
                <a:spcPts val="900"/>
              </a:spcAft>
              <a:defRPr sz="1600">
                <a:solidFill>
                  <a:srgbClr val="16263C"/>
                </a:solidFill>
                <a:latin typeface="Aptos"/>
              </a:defRPr>
            </a:pPr>
            <a:r>
              <a:t>•  Ejecución repetitiva de regresiones estables</a:t>
            </a:r>
          </a:p>
          <a:p>
            <a:pPr>
              <a:lnSpc>
                <a:spcPct val="105000"/>
              </a:lnSpc>
              <a:spcAft>
                <a:spcPts val="900"/>
              </a:spcAft>
              <a:defRPr sz="1600">
                <a:solidFill>
                  <a:srgbClr val="16263C"/>
                </a:solidFill>
                <a:latin typeface="Aptos"/>
              </a:defRPr>
            </a:pPr>
            <a:r>
              <a:t>•  Resumen de logs y documentación</a:t>
            </a:r>
          </a:p>
          <a:p>
            <a:pPr>
              <a:lnSpc>
                <a:spcPct val="105000"/>
              </a:lnSpc>
              <a:spcAft>
                <a:spcPts val="900"/>
              </a:spcAft>
              <a:defRPr sz="1600">
                <a:solidFill>
                  <a:srgbClr val="16263C"/>
                </a:solidFill>
                <a:latin typeface="Aptos"/>
              </a:defRPr>
            </a:pPr>
            <a:r>
              <a:t>•  Creación de borradores de reportes</a:t>
            </a:r>
          </a:p>
        </p:txBody>
      </p:sp>
      <p:sp>
        <p:nvSpPr>
          <p:cNvPr id="13" name="TextBox 12"/>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TRABAJO QUE GANA VALOR</a:t>
            </a:r>
          </a:p>
        </p:txBody>
      </p:sp>
      <p:sp>
        <p:nvSpPr>
          <p:cNvPr id="14" name="TextBox 13"/>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Análisis de riesgo y ambigüedades</a:t>
            </a:r>
          </a:p>
          <a:p>
            <a:pPr>
              <a:lnSpc>
                <a:spcPct val="105000"/>
              </a:lnSpc>
              <a:spcAft>
                <a:spcPts val="900"/>
              </a:spcAft>
              <a:defRPr sz="1600">
                <a:solidFill>
                  <a:srgbClr val="FFFFFF"/>
                </a:solidFill>
                <a:latin typeface="Aptos"/>
              </a:defRPr>
            </a:pPr>
            <a:r>
              <a:t>•  Pruebas exploratorias y pensamiento crítico</a:t>
            </a:r>
          </a:p>
          <a:p>
            <a:pPr>
              <a:lnSpc>
                <a:spcPct val="105000"/>
              </a:lnSpc>
              <a:spcAft>
                <a:spcPts val="900"/>
              </a:spcAft>
              <a:defRPr sz="1600">
                <a:solidFill>
                  <a:srgbClr val="FFFFFF"/>
                </a:solidFill>
                <a:latin typeface="Aptos"/>
              </a:defRPr>
            </a:pPr>
            <a:r>
              <a:t>•  Comprensión del negocio y del usuario</a:t>
            </a:r>
          </a:p>
          <a:p>
            <a:pPr>
              <a:lnSpc>
                <a:spcPct val="105000"/>
              </a:lnSpc>
              <a:spcAft>
                <a:spcPts val="900"/>
              </a:spcAft>
              <a:defRPr sz="1600">
                <a:solidFill>
                  <a:srgbClr val="FFFFFF"/>
                </a:solidFill>
                <a:latin typeface="Aptos"/>
              </a:defRPr>
            </a:pPr>
            <a:r>
              <a:t>•  Decisiones éticas, privacidad y calidad</a:t>
            </a:r>
          </a:p>
        </p:txBody>
      </p:sp>
      <p:sp>
        <p:nvSpPr>
          <p:cNvPr id="15" name="Rounded Rectangle 14"/>
          <p:cNvSpPr/>
          <p:nvPr/>
        </p:nvSpPr>
        <p:spPr>
          <a:xfrm>
            <a:off x="841248" y="4736592"/>
            <a:ext cx="10497312" cy="932688"/>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864608"/>
            <a:ext cx="9985248" cy="219456"/>
          </a:xfrm>
          <a:prstGeom prst="rect">
            <a:avLst/>
          </a:prstGeom>
          <a:noFill/>
        </p:spPr>
        <p:txBody>
          <a:bodyPr wrap="square" anchor="t" lIns="36576" rIns="36576" tIns="36576" bIns="36576">
            <a:spAutoFit/>
          </a:bodyPr>
          <a:lstStyle/>
          <a:p>
            <a:pPr algn="ctr"/>
            <a:r>
              <a:rPr sz="1150" b="1" i="0">
                <a:solidFill>
                  <a:srgbClr val="07132A"/>
                </a:solidFill>
                <a:latin typeface="Aptos"/>
              </a:rPr>
              <a:t>TAMBIÉN SE AUTOMATIZAN TAREAS EN PROFESIONES NO TECNOLÓGICAS</a:t>
            </a:r>
          </a:p>
        </p:txBody>
      </p:sp>
      <p:sp>
        <p:nvSpPr>
          <p:cNvPr id="17" name="TextBox 16"/>
          <p:cNvSpPr txBox="1"/>
          <p:nvPr/>
        </p:nvSpPr>
        <p:spPr>
          <a:xfrm>
            <a:off x="1051560" y="5166360"/>
            <a:ext cx="10076688" cy="384048"/>
          </a:xfrm>
          <a:prstGeom prst="rect">
            <a:avLst/>
          </a:prstGeom>
          <a:noFill/>
        </p:spPr>
        <p:txBody>
          <a:bodyPr wrap="square" anchor="t" lIns="36576" rIns="36576" tIns="36576" bIns="36576">
            <a:spAutoFit/>
          </a:bodyPr>
          <a:lstStyle/>
          <a:p>
            <a:pPr algn="ctr"/>
            <a:r>
              <a:rPr sz="1019" b="1" i="0">
                <a:solidFill>
                  <a:srgbClr val="07132A"/>
                </a:solidFill>
                <a:latin typeface="Aptos"/>
              </a:rPr>
              <a:t>Administración: agenda y documentos  ·  Finanzas: facturas y conciliaciones  ·  RR. HH.: filtros y onboarding
Educación: borradores y cuestionarios  ·  Salud: citas y transcripción  ·  Ventas/mercadeo: mensajes y segmentación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06</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El ecosistema profesional de QA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No todas las vacantes piden lo mismo. Primero identifica la familia de roles que te interesa.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06</a:t>
            </a:r>
          </a:p>
        </p:txBody>
      </p:sp>
      <p:sp>
        <p:nvSpPr>
          <p:cNvPr id="9" name="Rounded Rectangle 8"/>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QA manual / funcional</a:t>
            </a:r>
          </a:p>
        </p:txBody>
      </p:sp>
      <p:sp>
        <p:nvSpPr>
          <p:cNvPr id="14" name="TextBox 13"/>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Requisitos, casos, exploración, reporte de defectos, evidencia y negocio.</a:t>
            </a:r>
          </a:p>
        </p:txBody>
      </p:sp>
      <p:sp>
        <p:nvSpPr>
          <p:cNvPr id="15" name="Rounded Rectangle 14"/>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API y datos</a:t>
            </a:r>
          </a:p>
        </p:txBody>
      </p:sp>
      <p:sp>
        <p:nvSpPr>
          <p:cNvPr id="20" name="TextBox 19"/>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HTTP, JSON, Postman, contratos, consultas SQL y consistencia de datos.</a:t>
            </a:r>
          </a:p>
        </p:txBody>
      </p:sp>
      <p:sp>
        <p:nvSpPr>
          <p:cNvPr id="21" name="Rounded Rectangle 20"/>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QA automation</a:t>
            </a:r>
          </a:p>
        </p:txBody>
      </p:sp>
      <p:sp>
        <p:nvSpPr>
          <p:cNvPr id="26" name="TextBox 25"/>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Programación, framework, patrones, Git, CI y mantenimiento de pruebas.</a:t>
            </a:r>
          </a:p>
        </p:txBody>
      </p:sp>
      <p:sp>
        <p:nvSpPr>
          <p:cNvPr id="27" name="Rounded Rectangle 26"/>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Performance / seguridad</a:t>
            </a:r>
          </a:p>
        </p:txBody>
      </p:sp>
      <p:sp>
        <p:nvSpPr>
          <p:cNvPr id="32" name="TextBox 31"/>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Carga, observabilidad, riesgos, OWASP y herramientas especializadas.</a:t>
            </a:r>
          </a:p>
        </p:txBody>
      </p:sp>
      <p:sp>
        <p:nvSpPr>
          <p:cNvPr id="33" name="Rounded Rectangle 32"/>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95216"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69536"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7" name="TextBox 36"/>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SDET / quality engineering</a:t>
            </a:r>
          </a:p>
        </p:txBody>
      </p:sp>
      <p:sp>
        <p:nvSpPr>
          <p:cNvPr id="38" name="TextBox 37"/>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Arquitectura de pruebas, calidad del código, pipelines y estrategia.</a:t>
            </a:r>
          </a:p>
        </p:txBody>
      </p:sp>
      <p:sp>
        <p:nvSpPr>
          <p:cNvPr id="39" name="Rounded Rectangle 38"/>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3" name="TextBox 42"/>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AI testing</a:t>
            </a:r>
          </a:p>
        </p:txBody>
      </p:sp>
      <p:sp>
        <p:nvSpPr>
          <p:cNvPr id="44" name="TextBox 43"/>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Datos, sesgo, comportamiento probabilístico, modelos, red teaming y monitoreo.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07</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¿A qué otras especialidades puedes evolucionar?</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experiencia en QA desarrolla capacidades transferibles, pero cada ruta requiere preparación adicional.</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Rutas cercanas: negocio, producto, operaciones, seguridad, datos, IA y liderazgo.</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07</a:t>
            </a:r>
          </a:p>
        </p:txBody>
      </p:sp>
      <p:sp>
        <p:nvSpPr>
          <p:cNvPr id="10" name="Rounded Rectangle 9"/>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Análisis de negocio</a:t>
            </a:r>
          </a:p>
        </p:txBody>
      </p:sp>
      <p:sp>
        <p:nvSpPr>
          <p:cNvPr id="15" name="TextBox 14"/>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Requisitos, procesos, reglas, criterios de aceptación y comunicación con usuarios.</a:t>
            </a:r>
          </a:p>
        </p:txBody>
      </p:sp>
      <p:sp>
        <p:nvSpPr>
          <p:cNvPr id="16" name="Rounded Rectangle 15"/>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Producto</a:t>
            </a:r>
          </a:p>
        </p:txBody>
      </p:sp>
      <p:sp>
        <p:nvSpPr>
          <p:cNvPr id="21" name="TextBox 20"/>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Product Owner, product analyst o product operations con foco en valor y experiencia.</a:t>
            </a:r>
          </a:p>
        </p:txBody>
      </p:sp>
      <p:sp>
        <p:nvSpPr>
          <p:cNvPr id="22" name="Rounded Rectangle 21"/>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DevOps / release</a:t>
            </a:r>
          </a:p>
        </p:txBody>
      </p:sp>
      <p:sp>
        <p:nvSpPr>
          <p:cNvPr id="27" name="TextBox 26"/>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Pipelines, ambientes, observabilidad, despliegues, confiabilidad y mejora operativa.</a:t>
            </a:r>
          </a:p>
        </p:txBody>
      </p:sp>
      <p:sp>
        <p:nvSpPr>
          <p:cNvPr id="28" name="Rounded Rectangle 27"/>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Ciberseguridad</a:t>
            </a:r>
          </a:p>
        </p:txBody>
      </p:sp>
      <p:sp>
        <p:nvSpPr>
          <p:cNvPr id="33" name="TextBox 32"/>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Application security, pruebas de seguridad, riesgos, OWASP y DevSecOps.</a:t>
            </a:r>
          </a:p>
        </p:txBody>
      </p:sp>
      <p:sp>
        <p:nvSpPr>
          <p:cNvPr id="34" name="Rounded Rectangle 33"/>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395216"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669536"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8" name="TextBox 37"/>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Datos e IA</a:t>
            </a:r>
          </a:p>
        </p:txBody>
      </p:sp>
      <p:sp>
        <p:nvSpPr>
          <p:cNvPr id="39" name="TextBox 38"/>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Data quality, ETL testing, validación de modelos, sesgo, drift y sistemas generativos.</a:t>
            </a:r>
          </a:p>
        </p:txBody>
      </p:sp>
      <p:sp>
        <p:nvSpPr>
          <p:cNvPr id="40" name="Rounded Rectangle 39"/>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77199"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351520"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4" name="TextBox 43"/>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Liderazgo de calidad</a:t>
            </a:r>
          </a:p>
        </p:txBody>
      </p:sp>
      <p:sp>
        <p:nvSpPr>
          <p:cNvPr id="45" name="TextBox 44"/>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QA Lead, Test Manager, Quality Coach, consultoría y estrategia organizacional.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640080"/>
            <a:ext cx="3108960" cy="292608"/>
          </a:xfrm>
          <a:prstGeom prst="rect">
            <a:avLst/>
          </a:prstGeom>
          <a:noFill/>
        </p:spPr>
        <p:txBody>
          <a:bodyPr wrap="square" anchor="t" lIns="36576" rIns="36576" tIns="36576" bIns="36576">
            <a:spAutoFit/>
          </a:bodyPr>
          <a:lstStyle/>
          <a:p>
            <a:pPr algn="l"/>
            <a:r>
              <a:rPr sz="1300" b="1" i="0">
                <a:solidFill>
                  <a:srgbClr val="F4A03A"/>
                </a:solidFill>
                <a:latin typeface="Aptos"/>
              </a:rPr>
              <a:t>ACTIVIDAD PRÁCTICA</a:t>
            </a:r>
          </a:p>
        </p:txBody>
      </p:sp>
      <p:sp>
        <p:nvSpPr>
          <p:cNvPr id="5" name="TextBox 4"/>
          <p:cNvSpPr txBox="1"/>
          <p:nvPr/>
        </p:nvSpPr>
        <p:spPr>
          <a:xfrm>
            <a:off x="658368" y="1170432"/>
            <a:ext cx="7726679" cy="749808"/>
          </a:xfrm>
          <a:prstGeom prst="rect">
            <a:avLst/>
          </a:prstGeom>
          <a:noFill/>
        </p:spPr>
        <p:txBody>
          <a:bodyPr wrap="square" anchor="t" lIns="36576" rIns="36576" tIns="36576" bIns="36576">
            <a:spAutoFit/>
          </a:bodyPr>
          <a:lstStyle/>
          <a:p>
            <a:pPr algn="l"/>
            <a:r>
              <a:rPr sz="2900" b="1" i="0">
                <a:solidFill>
                  <a:srgbClr val="FFFFFF"/>
                </a:solidFill>
                <a:latin typeface="Aptos"/>
              </a:rPr>
              <a:t>Elige un rol objetivo, no diez cursos</a:t>
            </a:r>
          </a:p>
        </p:txBody>
      </p:sp>
      <p:sp>
        <p:nvSpPr>
          <p:cNvPr id="6" name="Rounded Rectangle 5"/>
          <p:cNvSpPr/>
          <p:nvPr/>
        </p:nvSpPr>
        <p:spPr>
          <a:xfrm>
            <a:off x="658368" y="2286000"/>
            <a:ext cx="7452360" cy="2304288"/>
          </a:xfrm>
          <a:prstGeom prst="roundRect">
            <a:avLst/>
          </a:prstGeom>
          <a:solidFill>
            <a:srgbClr val="122A4B"/>
          </a:solidFill>
          <a:ln>
            <a:solidFill>
              <a:srgbClr val="12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24328"/>
            <a:ext cx="1600200" cy="274320"/>
          </a:xfrm>
          <a:prstGeom prst="rect">
            <a:avLst/>
          </a:prstGeom>
          <a:noFill/>
        </p:spPr>
        <p:txBody>
          <a:bodyPr wrap="square" anchor="t" lIns="36576" rIns="36576" tIns="36576" bIns="36576">
            <a:spAutoFit/>
          </a:bodyPr>
          <a:lstStyle/>
          <a:p>
            <a:pPr algn="l"/>
            <a:r>
              <a:rPr sz="1100" b="1" i="0">
                <a:solidFill>
                  <a:srgbClr val="31CADB"/>
                </a:solidFill>
                <a:latin typeface="Aptos"/>
              </a:rPr>
              <a:t>INSTRUCCIÓN</a:t>
            </a:r>
          </a:p>
        </p:txBody>
      </p:sp>
      <p:sp>
        <p:nvSpPr>
          <p:cNvPr id="8" name="TextBox 7"/>
          <p:cNvSpPr txBox="1"/>
          <p:nvPr/>
        </p:nvSpPr>
        <p:spPr>
          <a:xfrm>
            <a:off x="1005840" y="3063240"/>
            <a:ext cx="6693408" cy="1078992"/>
          </a:xfrm>
          <a:prstGeom prst="rect">
            <a:avLst/>
          </a:prstGeom>
          <a:noFill/>
        </p:spPr>
        <p:txBody>
          <a:bodyPr wrap="square" anchor="t" lIns="36576" rIns="36576" tIns="36576" bIns="36576">
            <a:spAutoFit/>
          </a:bodyPr>
          <a:lstStyle/>
          <a:p>
            <a:pPr algn="l"/>
            <a:r>
              <a:rPr sz="1800" b="0" i="0">
                <a:solidFill>
                  <a:srgbClr val="FFFFFF"/>
                </a:solidFill>
                <a:latin typeface="Aptos"/>
              </a:rPr>
              <a:t>Selecciona un puesto que te gustaría alcanzar en los próximos 6 a 12 meses. Escribe el título, nivel, tipo de empresa y tres tareas que esperas realizar.</a:t>
            </a:r>
          </a:p>
        </p:txBody>
      </p:sp>
      <p:sp>
        <p:nvSpPr>
          <p:cNvPr id="9" name="Rounded Rectangle 8"/>
          <p:cNvSpPr/>
          <p:nvPr/>
        </p:nvSpPr>
        <p:spPr>
          <a:xfrm>
            <a:off x="8503920" y="1170432"/>
            <a:ext cx="2788920" cy="3419856"/>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37360"/>
            <a:ext cx="2331720" cy="658368"/>
          </a:xfrm>
          <a:prstGeom prst="rect">
            <a:avLst/>
          </a:prstGeom>
          <a:noFill/>
        </p:spPr>
        <p:txBody>
          <a:bodyPr wrap="square" anchor="t" lIns="36576" rIns="36576" tIns="36576" bIns="36576">
            <a:spAutoFit/>
          </a:bodyPr>
          <a:lstStyle/>
          <a:p>
            <a:pPr algn="ctr"/>
            <a:r>
              <a:rPr sz="3100" b="1" i="0">
                <a:solidFill>
                  <a:srgbClr val="07132A"/>
                </a:solidFill>
                <a:latin typeface="Aptos"/>
              </a:rPr>
              <a:t>5 min</a:t>
            </a:r>
          </a:p>
        </p:txBody>
      </p:sp>
      <p:sp>
        <p:nvSpPr>
          <p:cNvPr id="11" name="TextBox 10"/>
          <p:cNvSpPr txBox="1"/>
          <p:nvPr/>
        </p:nvSpPr>
        <p:spPr>
          <a:xfrm>
            <a:off x="8732520" y="2670048"/>
            <a:ext cx="2331720" cy="237744"/>
          </a:xfrm>
          <a:prstGeom prst="rect">
            <a:avLst/>
          </a:prstGeom>
          <a:noFill/>
        </p:spPr>
        <p:txBody>
          <a:bodyPr wrap="square" anchor="t" lIns="36576" rIns="36576" tIns="36576" bIns="36576">
            <a:spAutoFit/>
          </a:bodyPr>
          <a:lstStyle/>
          <a:p>
            <a:pPr algn="ctr"/>
            <a:r>
              <a:rPr sz="1100" b="1" i="0">
                <a:solidFill>
                  <a:srgbClr val="07132A"/>
                </a:solidFill>
                <a:latin typeface="Aptos"/>
              </a:rPr>
              <a:t>ENTREGABLE</a:t>
            </a:r>
          </a:p>
        </p:txBody>
      </p:sp>
      <p:sp>
        <p:nvSpPr>
          <p:cNvPr id="12" name="TextBox 11"/>
          <p:cNvSpPr txBox="1"/>
          <p:nvPr/>
        </p:nvSpPr>
        <p:spPr>
          <a:xfrm>
            <a:off x="8805672" y="3108960"/>
            <a:ext cx="2194560" cy="1024128"/>
          </a:xfrm>
          <a:prstGeom prst="rect">
            <a:avLst/>
          </a:prstGeom>
          <a:noFill/>
        </p:spPr>
        <p:txBody>
          <a:bodyPr wrap="square" anchor="t" lIns="36576" rIns="36576" tIns="36576" bIns="36576">
            <a:spAutoFit/>
          </a:bodyPr>
          <a:lstStyle/>
          <a:p>
            <a:pPr algn="ctr"/>
            <a:r>
              <a:rPr sz="1500" b="1" i="0">
                <a:solidFill>
                  <a:srgbClr val="07132A"/>
                </a:solidFill>
                <a:latin typeface="Aptos"/>
              </a:rPr>
              <a:t>Ficha de puesto objetivo</a:t>
            </a:r>
          </a:p>
        </p:txBody>
      </p:sp>
      <p:sp>
        <p:nvSpPr>
          <p:cNvPr id="13" name="TextBox 12"/>
          <p:cNvSpPr txBox="1"/>
          <p:nvPr/>
        </p:nvSpPr>
        <p:spPr>
          <a:xfrm>
            <a:off x="932688" y="5193792"/>
            <a:ext cx="9738360" cy="384048"/>
          </a:xfrm>
          <a:prstGeom prst="rect">
            <a:avLst/>
          </a:prstGeom>
          <a:noFill/>
        </p:spPr>
        <p:txBody>
          <a:bodyPr wrap="square" anchor="t" lIns="36576" rIns="36576" tIns="36576" bIns="36576">
            <a:spAutoFit/>
          </a:bodyPr>
          <a:lstStyle/>
          <a:p>
            <a:pPr algn="ctr"/>
            <a:r>
              <a:rPr sz="1700" b="1" i="0">
                <a:solidFill>
                  <a:srgbClr val="E0F5F9"/>
                </a:solidFill>
                <a:latin typeface="Aptos"/>
              </a:rPr>
              <a:t>Trabaja con una vacante, requisito o caso real.</a:t>
            </a:r>
          </a:p>
        </p:txBody>
      </p:sp>
      <p:sp>
        <p:nvSpPr>
          <p:cNvPr id="14" name="TextBox 13"/>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Aplicación inmediata</a:t>
            </a:r>
          </a:p>
        </p:txBody>
      </p:sp>
      <p:sp>
        <p:nvSpPr>
          <p:cNvPr id="15" name="TextBox 14"/>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10</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¿Dónde puede ayudar la IA?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Un asistente acelera borradores; el QA valida relevancia, riesgo y exactitud.</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Referencia: ISTQB Certified Tester – Testing with Generative AI, versión 1.1.</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10</a:t>
            </a:r>
          </a:p>
        </p:txBody>
      </p:sp>
      <p:sp>
        <p:nvSpPr>
          <p:cNvPr id="10" name="Oval 9"/>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2" name="Rounded Rectangle 11"/>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Requisitos</a:t>
            </a:r>
          </a:p>
        </p:txBody>
      </p:sp>
      <p:sp>
        <p:nvSpPr>
          <p:cNvPr id="14" name="TextBox 13"/>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Detectar ambigüedades, reglas faltantes y preguntas.</a:t>
            </a:r>
          </a:p>
        </p:txBody>
      </p:sp>
      <p:sp>
        <p:nvSpPr>
          <p:cNvPr id="15" name="TextBox 14"/>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6" name="Oval 15"/>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8" name="Rounded Rectangle 17"/>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Diseño</a:t>
            </a:r>
          </a:p>
        </p:txBody>
      </p:sp>
      <p:sp>
        <p:nvSpPr>
          <p:cNvPr id="20" name="TextBox 19"/>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Proponer escenarios, datos y casos límite.</a:t>
            </a:r>
          </a:p>
        </p:txBody>
      </p:sp>
      <p:sp>
        <p:nvSpPr>
          <p:cNvPr id="21" name="TextBox 20"/>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2" name="Oval 21"/>
          <p:cNvSpPr/>
          <p:nvPr/>
        </p:nvSpPr>
        <p:spPr>
          <a:xfrm>
            <a:off x="5806440"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4" name="Rounded Rectangle 23"/>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Ejecución</a:t>
            </a:r>
          </a:p>
        </p:txBody>
      </p:sp>
      <p:sp>
        <p:nvSpPr>
          <p:cNvPr id="26" name="TextBox 25"/>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Explicar errores, resumir logs y comparar resultados.</a:t>
            </a:r>
          </a:p>
        </p:txBody>
      </p:sp>
      <p:sp>
        <p:nvSpPr>
          <p:cNvPr id="27" name="TextBox 26"/>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8" name="Oval 27"/>
          <p:cNvSpPr/>
          <p:nvPr/>
        </p:nvSpPr>
        <p:spPr>
          <a:xfrm>
            <a:off x="8063179" y="1325880"/>
            <a:ext cx="585216" cy="585216"/>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30" name="Rounded Rectangle 29"/>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Reporte</a:t>
            </a:r>
          </a:p>
        </p:txBody>
      </p:sp>
      <p:sp>
        <p:nvSpPr>
          <p:cNvPr id="32" name="TextBox 31"/>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Mejorar claridad, pasos, impacto y evidencia.</a:t>
            </a:r>
          </a:p>
        </p:txBody>
      </p:sp>
      <p:sp>
        <p:nvSpPr>
          <p:cNvPr id="33" name="TextBox 32"/>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4" name="Oval 33"/>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6" name="Rounded Rectangle 35"/>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Aprendizaje</a:t>
            </a:r>
          </a:p>
        </p:txBody>
      </p:sp>
      <p:sp>
        <p:nvSpPr>
          <p:cNvPr id="38" name="TextBox 37"/>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Crear ejercicios, explicar código y practicar entrevistas.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11</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Prompt útil para analizar requisitos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Un buen prompt define contexto, objetivo, restricciones, criterios y formato de salida.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11</a:t>
            </a:r>
          </a:p>
        </p:txBody>
      </p:sp>
      <p:sp>
        <p:nvSpPr>
          <p:cNvPr id="9" name="Rounded Rectangle 8"/>
          <p:cNvSpPr/>
          <p:nvPr/>
        </p:nvSpPr>
        <p:spPr>
          <a:xfrm>
            <a:off x="594360" y="1335024"/>
            <a:ext cx="6995160" cy="4526280"/>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68680" y="1572768"/>
            <a:ext cx="146304" cy="146304"/>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15568" y="1572768"/>
            <a:ext cx="146304" cy="14630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62456" y="1572768"/>
            <a:ext cx="146304" cy="146304"/>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1965960"/>
            <a:ext cx="6355080" cy="3547872"/>
          </a:xfrm>
          <a:prstGeom prst="rect">
            <a:avLst/>
          </a:prstGeom>
          <a:noFill/>
        </p:spPr>
        <p:txBody>
          <a:bodyPr wrap="square" anchor="t" lIns="36576" rIns="36576" tIns="36576" bIns="36576">
            <a:spAutoFit/>
          </a:bodyPr>
          <a:lstStyle/>
          <a:p>
            <a:pPr algn="l"/>
            <a:r>
              <a:rPr sz="1150" b="0" i="0">
                <a:solidFill>
                  <a:srgbClr val="FFFFFF"/>
                </a:solidFill>
                <a:latin typeface="Menlo"/>
              </a:rPr>
              <a:t>ROL: Actúa como QA analyst de una aplicación bancaria.
CONTEXTO: Historia de usuario sobre transferencias entre cuentas.
OBJETIVO: Detecta ambigüedades, riesgos y criterios faltantes.
RESTRICCIONES: No inventes reglas. Marca cada supuesto.
SALIDA:
1. Preguntas al negocio
2. Riesgos priorizados
3. Escenarios positivos y negativos
4. Datos de prueba
5. Criterios de aceptación sugeridos</a:t>
            </a:r>
          </a:p>
        </p:txBody>
      </p:sp>
      <p:sp>
        <p:nvSpPr>
          <p:cNvPr id="14" name="Rounded Rectangle 13"/>
          <p:cNvSpPr/>
          <p:nvPr/>
        </p:nvSpPr>
        <p:spPr>
          <a:xfrm>
            <a:off x="7882127" y="1335024"/>
            <a:ext cx="3639312" cy="45262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1700784"/>
            <a:ext cx="2889504" cy="292608"/>
          </a:xfrm>
          <a:prstGeom prst="rect">
            <a:avLst/>
          </a:prstGeom>
          <a:noFill/>
        </p:spPr>
        <p:txBody>
          <a:bodyPr wrap="square" anchor="t" lIns="36576" rIns="36576" tIns="36576" bIns="36576">
            <a:spAutoFit/>
          </a:bodyPr>
          <a:lstStyle/>
          <a:p>
            <a:pPr algn="l"/>
            <a:r>
              <a:rPr sz="1200" b="1" i="0">
                <a:solidFill>
                  <a:srgbClr val="195CAA"/>
                </a:solidFill>
                <a:latin typeface="Aptos"/>
              </a:rPr>
              <a:t>ANTES DE USAR LA SALIDA</a:t>
            </a:r>
          </a:p>
        </p:txBody>
      </p:sp>
      <p:sp>
        <p:nvSpPr>
          <p:cNvPr id="16" name="TextBox 15"/>
          <p:cNvSpPr txBox="1"/>
          <p:nvPr/>
        </p:nvSpPr>
        <p:spPr>
          <a:xfrm>
            <a:off x="8247888" y="2212848"/>
            <a:ext cx="2788920" cy="3154680"/>
          </a:xfrm>
          <a:prstGeom prst="rect">
            <a:avLst/>
          </a:prstGeom>
          <a:noFill/>
        </p:spPr>
        <p:txBody>
          <a:bodyPr wrap="square" lIns="36576" rIns="36576">
            <a:spAutoFit/>
          </a:bodyPr>
          <a:lstStyle/>
          <a:p>
            <a:pPr>
              <a:lnSpc>
                <a:spcPct val="105000"/>
              </a:lnSpc>
              <a:spcAft>
                <a:spcPts val="900"/>
              </a:spcAft>
              <a:defRPr sz="1380">
                <a:solidFill>
                  <a:srgbClr val="16263C"/>
                </a:solidFill>
                <a:latin typeface="Aptos"/>
              </a:defRPr>
            </a:pPr>
            <a:r>
              <a:t>✓  Contrasta con el requisito original</a:t>
            </a:r>
          </a:p>
          <a:p>
            <a:pPr>
              <a:lnSpc>
                <a:spcPct val="105000"/>
              </a:lnSpc>
              <a:spcAft>
                <a:spcPts val="900"/>
              </a:spcAft>
              <a:defRPr sz="1380">
                <a:solidFill>
                  <a:srgbClr val="16263C"/>
                </a:solidFill>
                <a:latin typeface="Aptos"/>
              </a:defRPr>
            </a:pPr>
            <a:r>
              <a:t>✓  Elimina supuestos no confirmados</a:t>
            </a:r>
          </a:p>
          <a:p>
            <a:pPr>
              <a:lnSpc>
                <a:spcPct val="105000"/>
              </a:lnSpc>
              <a:spcAft>
                <a:spcPts val="900"/>
              </a:spcAft>
              <a:defRPr sz="1380">
                <a:solidFill>
                  <a:srgbClr val="16263C"/>
                </a:solidFill>
                <a:latin typeface="Aptos"/>
              </a:defRPr>
            </a:pPr>
            <a:r>
              <a:t>✓  Prioriza según riesgo</a:t>
            </a:r>
          </a:p>
          <a:p>
            <a:pPr>
              <a:lnSpc>
                <a:spcPct val="105000"/>
              </a:lnSpc>
              <a:spcAft>
                <a:spcPts val="900"/>
              </a:spcAft>
              <a:defRPr sz="1380">
                <a:solidFill>
                  <a:srgbClr val="16263C"/>
                </a:solidFill>
                <a:latin typeface="Aptos"/>
              </a:defRPr>
            </a:pPr>
            <a:r>
              <a:t>✓  Protege datos sensibles</a:t>
            </a:r>
          </a:p>
          <a:p>
            <a:pPr>
              <a:lnSpc>
                <a:spcPct val="105000"/>
              </a:lnSpc>
              <a:spcAft>
                <a:spcPts val="900"/>
              </a:spcAft>
              <a:defRPr sz="1380">
                <a:solidFill>
                  <a:srgbClr val="16263C"/>
                </a:solidFill>
                <a:latin typeface="Aptos"/>
              </a:defRPr>
            </a:pPr>
            <a:r>
              <a:t>✓  Documenta tu decisión final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12</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Uso responsable: cinco límites que no se negocian</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productividad nunca justifica comprometer información o calidad.</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Referencia: ISTQB CT-GenAI; OWASP Top 10 for LLM Applications 2025.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12</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RIESGOS FRECUENTES</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Alucinaciones y respuestas plausibles pero falsas</a:t>
            </a:r>
          </a:p>
          <a:p>
            <a:pPr>
              <a:lnSpc>
                <a:spcPct val="105000"/>
              </a:lnSpc>
              <a:spcAft>
                <a:spcPts val="900"/>
              </a:spcAft>
              <a:defRPr sz="1600">
                <a:solidFill>
                  <a:srgbClr val="16263C"/>
                </a:solidFill>
                <a:latin typeface="Aptos"/>
              </a:defRPr>
            </a:pPr>
            <a:r>
              <a:t>•  Exposición de credenciales o datos personales</a:t>
            </a:r>
          </a:p>
          <a:p>
            <a:pPr>
              <a:lnSpc>
                <a:spcPct val="105000"/>
              </a:lnSpc>
              <a:spcAft>
                <a:spcPts val="900"/>
              </a:spcAft>
              <a:defRPr sz="1600">
                <a:solidFill>
                  <a:srgbClr val="16263C"/>
                </a:solidFill>
                <a:latin typeface="Aptos"/>
              </a:defRPr>
            </a:pPr>
            <a:r>
              <a:t>•  Sesgos en ejemplos, datos o decisiones</a:t>
            </a:r>
          </a:p>
          <a:p>
            <a:pPr>
              <a:lnSpc>
                <a:spcPct val="105000"/>
              </a:lnSpc>
              <a:spcAft>
                <a:spcPts val="900"/>
              </a:spcAft>
              <a:defRPr sz="1600">
                <a:solidFill>
                  <a:srgbClr val="16263C"/>
                </a:solidFill>
                <a:latin typeface="Aptos"/>
              </a:defRPr>
            </a:pPr>
            <a:r>
              <a:t>•  Código inseguro o difícil de mantener</a:t>
            </a:r>
          </a:p>
          <a:p>
            <a:pPr>
              <a:lnSpc>
                <a:spcPct val="105000"/>
              </a:lnSpc>
              <a:spcAft>
                <a:spcPts val="900"/>
              </a:spcAft>
              <a:defRPr sz="1600">
                <a:solidFill>
                  <a:srgbClr val="16263C"/>
                </a:solidFill>
                <a:latin typeface="Aptos"/>
              </a:defRPr>
            </a:pPr>
            <a:r>
              <a:t>•  Dependencia sin aprendizaje real</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CONTROLES PROFESIONALES</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Anonimizar y minimizar los datos</a:t>
            </a:r>
          </a:p>
          <a:p>
            <a:pPr>
              <a:lnSpc>
                <a:spcPct val="105000"/>
              </a:lnSpc>
              <a:spcAft>
                <a:spcPts val="900"/>
              </a:spcAft>
              <a:defRPr sz="1600">
                <a:solidFill>
                  <a:srgbClr val="FFFFFF"/>
                </a:solidFill>
                <a:latin typeface="Aptos"/>
              </a:defRPr>
            </a:pPr>
            <a:r>
              <a:t>•  Verificar contra fuentes y ejecución</a:t>
            </a:r>
          </a:p>
          <a:p>
            <a:pPr>
              <a:lnSpc>
                <a:spcPct val="105000"/>
              </a:lnSpc>
              <a:spcAft>
                <a:spcPts val="900"/>
              </a:spcAft>
              <a:defRPr sz="1600">
                <a:solidFill>
                  <a:srgbClr val="FFFFFF"/>
                </a:solidFill>
                <a:latin typeface="Aptos"/>
              </a:defRPr>
            </a:pPr>
            <a:r>
              <a:t>•  Revisar seguridad y licencias</a:t>
            </a:r>
          </a:p>
          <a:p>
            <a:pPr>
              <a:lnSpc>
                <a:spcPct val="105000"/>
              </a:lnSpc>
              <a:spcAft>
                <a:spcPts val="900"/>
              </a:spcAft>
              <a:defRPr sz="1600">
                <a:solidFill>
                  <a:srgbClr val="FFFFFF"/>
                </a:solidFill>
                <a:latin typeface="Aptos"/>
              </a:defRPr>
            </a:pPr>
            <a:r>
              <a:t>•  Conservar trazabilidad de cambios</a:t>
            </a:r>
          </a:p>
          <a:p>
            <a:pPr>
              <a:lnSpc>
                <a:spcPct val="105000"/>
              </a:lnSpc>
              <a:spcAft>
                <a:spcPts val="900"/>
              </a:spcAft>
              <a:defRPr sz="1600">
                <a:solidFill>
                  <a:srgbClr val="FFFFFF"/>
                </a:solidFill>
                <a:latin typeface="Aptos"/>
              </a:defRPr>
            </a:pPr>
            <a:r>
              <a:t>•  Mantener decisión y responsabilidad humana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13</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Probar sistemas con IA exige nuevas preguntas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salida puede ser probabilística; la calidad necesita criterios estadísticos, éticos y contextuales.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 ISTQB Certified Tester AI Testing, syllabus 2.0, 2026.</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13</a:t>
            </a:r>
          </a:p>
        </p:txBody>
      </p:sp>
      <p:sp>
        <p:nvSpPr>
          <p:cNvPr id="10" name="Rounded Rectangle 9"/>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Datos</a:t>
            </a:r>
          </a:p>
        </p:txBody>
      </p:sp>
      <p:sp>
        <p:nvSpPr>
          <p:cNvPr id="15" name="TextBox 14"/>
          <p:cNvSpPr txBox="1"/>
          <p:nvPr/>
        </p:nvSpPr>
        <p:spPr>
          <a:xfrm>
            <a:off x="1627632"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Representatividad, calidad, etiquetas, privacidad, sesgo y trazabilidad.</a:t>
            </a:r>
          </a:p>
        </p:txBody>
      </p:sp>
      <p:sp>
        <p:nvSpPr>
          <p:cNvPr id="16" name="Rounded Rectangle 15"/>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6207"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10527"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Modelo</a:t>
            </a:r>
          </a:p>
        </p:txBody>
      </p:sp>
      <p:sp>
        <p:nvSpPr>
          <p:cNvPr id="21" name="TextBox 20"/>
          <p:cNvSpPr txBox="1"/>
          <p:nvPr/>
        </p:nvSpPr>
        <p:spPr>
          <a:xfrm>
            <a:off x="7150607"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Métricas, robustez, variabilidad, ataques, drift y comparación.</a:t>
            </a:r>
          </a:p>
        </p:txBody>
      </p:sp>
      <p:sp>
        <p:nvSpPr>
          <p:cNvPr id="22" name="Rounded Rectangle 21"/>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3694175"/>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7552" y="3950207"/>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Sistema</a:t>
            </a:r>
          </a:p>
        </p:txBody>
      </p:sp>
      <p:sp>
        <p:nvSpPr>
          <p:cNvPr id="27" name="TextBox 26"/>
          <p:cNvSpPr txBox="1"/>
          <p:nvPr/>
        </p:nvSpPr>
        <p:spPr>
          <a:xfrm>
            <a:off x="1627632"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Integración, latencia, seguridad, experiencia y fallback.</a:t>
            </a:r>
          </a:p>
        </p:txBody>
      </p:sp>
      <p:sp>
        <p:nvSpPr>
          <p:cNvPr id="28" name="Rounded Rectangle 27"/>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36207"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10527"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Generativa</a:t>
            </a:r>
          </a:p>
        </p:txBody>
      </p:sp>
      <p:sp>
        <p:nvSpPr>
          <p:cNvPr id="33" name="TextBox 32"/>
          <p:cNvSpPr txBox="1"/>
          <p:nvPr/>
        </p:nvSpPr>
        <p:spPr>
          <a:xfrm>
            <a:off x="7150607"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Alucinaciones, toxicidad, prompt injection, red teaming y uso indebido.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14</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¿Qué conviene automatizar?</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mejor candidata es una prueba valiosa, repetible, estable y suficientemente clara.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14</a:t>
            </a:r>
          </a:p>
        </p:txBody>
      </p:sp>
      <p:sp>
        <p:nvSpPr>
          <p:cNvPr id="9" name="Rounded Rectangle 8"/>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BUENOS CANDIDATOS</a:t>
            </a:r>
          </a:p>
        </p:txBody>
      </p:sp>
      <p:sp>
        <p:nvSpPr>
          <p:cNvPr id="12" name="TextBox 11"/>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Regresiones críticas y frecuentes</a:t>
            </a:r>
          </a:p>
          <a:p>
            <a:pPr>
              <a:lnSpc>
                <a:spcPct val="105000"/>
              </a:lnSpc>
              <a:spcAft>
                <a:spcPts val="900"/>
              </a:spcAft>
              <a:defRPr sz="1600">
                <a:solidFill>
                  <a:srgbClr val="16263C"/>
                </a:solidFill>
                <a:latin typeface="Aptos"/>
              </a:defRPr>
            </a:pPr>
            <a:r>
              <a:t>•  Validaciones de API y contratos</a:t>
            </a:r>
          </a:p>
          <a:p>
            <a:pPr>
              <a:lnSpc>
                <a:spcPct val="105000"/>
              </a:lnSpc>
              <a:spcAft>
                <a:spcPts val="900"/>
              </a:spcAft>
              <a:defRPr sz="1600">
                <a:solidFill>
                  <a:srgbClr val="16263C"/>
                </a:solidFill>
                <a:latin typeface="Aptos"/>
              </a:defRPr>
            </a:pPr>
            <a:r>
              <a:t>•  Flujos estables con resultados claros</a:t>
            </a:r>
          </a:p>
          <a:p>
            <a:pPr>
              <a:lnSpc>
                <a:spcPct val="105000"/>
              </a:lnSpc>
              <a:spcAft>
                <a:spcPts val="900"/>
              </a:spcAft>
              <a:defRPr sz="1600">
                <a:solidFill>
                  <a:srgbClr val="16263C"/>
                </a:solidFill>
                <a:latin typeface="Aptos"/>
              </a:defRPr>
            </a:pPr>
            <a:r>
              <a:t>•  Combinaciones de datos repetitivas</a:t>
            </a:r>
          </a:p>
          <a:p>
            <a:pPr>
              <a:lnSpc>
                <a:spcPct val="105000"/>
              </a:lnSpc>
              <a:spcAft>
                <a:spcPts val="900"/>
              </a:spcAft>
              <a:defRPr sz="1600">
                <a:solidFill>
                  <a:srgbClr val="16263C"/>
                </a:solidFill>
                <a:latin typeface="Aptos"/>
              </a:defRPr>
            </a:pPr>
            <a:r>
              <a:t>•  Pruebas necesarias en cada integración</a:t>
            </a:r>
          </a:p>
        </p:txBody>
      </p:sp>
      <p:sp>
        <p:nvSpPr>
          <p:cNvPr id="13" name="TextBox 12"/>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AUTOMATIZAR CON CAUTELA</a:t>
            </a:r>
          </a:p>
        </p:txBody>
      </p:sp>
      <p:sp>
        <p:nvSpPr>
          <p:cNvPr id="14" name="TextBox 13"/>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Experiencia visual altamente subjetiva</a:t>
            </a:r>
          </a:p>
          <a:p>
            <a:pPr>
              <a:lnSpc>
                <a:spcPct val="105000"/>
              </a:lnSpc>
              <a:spcAft>
                <a:spcPts val="900"/>
              </a:spcAft>
              <a:defRPr sz="1600">
                <a:solidFill>
                  <a:srgbClr val="FFFFFF"/>
                </a:solidFill>
                <a:latin typeface="Aptos"/>
              </a:defRPr>
            </a:pPr>
            <a:r>
              <a:t>•  Funcionalidad que cambia cada semana</a:t>
            </a:r>
          </a:p>
          <a:p>
            <a:pPr>
              <a:lnSpc>
                <a:spcPct val="105000"/>
              </a:lnSpc>
              <a:spcAft>
                <a:spcPts val="900"/>
              </a:spcAft>
              <a:defRPr sz="1600">
                <a:solidFill>
                  <a:srgbClr val="FFFFFF"/>
                </a:solidFill>
                <a:latin typeface="Aptos"/>
              </a:defRPr>
            </a:pPr>
            <a:r>
              <a:t>•  Escenarios de una sola ejecución</a:t>
            </a:r>
          </a:p>
          <a:p>
            <a:pPr>
              <a:lnSpc>
                <a:spcPct val="105000"/>
              </a:lnSpc>
              <a:spcAft>
                <a:spcPts val="900"/>
              </a:spcAft>
              <a:defRPr sz="1600">
                <a:solidFill>
                  <a:srgbClr val="FFFFFF"/>
                </a:solidFill>
                <a:latin typeface="Aptos"/>
              </a:defRPr>
            </a:pPr>
            <a:r>
              <a:t>•  Pruebas sin criterio de éxito claro</a:t>
            </a:r>
          </a:p>
          <a:p>
            <a:pPr>
              <a:lnSpc>
                <a:spcPct val="105000"/>
              </a:lnSpc>
              <a:spcAft>
                <a:spcPts val="900"/>
              </a:spcAft>
              <a:defRPr sz="1600">
                <a:solidFill>
                  <a:srgbClr val="FFFFFF"/>
                </a:solidFill>
                <a:latin typeface="Aptos"/>
              </a:defRPr>
            </a:pPr>
            <a:r>
              <a:t>•  Casos que requieren juicio exploratorio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15</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Ruta técnica progresiva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Aprende por capas; cada capa debe producir una evidencia visible.</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15</a:t>
            </a:r>
          </a:p>
        </p:txBody>
      </p:sp>
      <p:sp>
        <p:nvSpPr>
          <p:cNvPr id="9" name="Oval 8"/>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1" name="Rounded Rectangle 10"/>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Manual</a:t>
            </a:r>
          </a:p>
        </p:txBody>
      </p:sp>
      <p:sp>
        <p:nvSpPr>
          <p:cNvPr id="13" name="TextBox 12"/>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Casos, bugs, exploración y riesgo.</a:t>
            </a:r>
          </a:p>
        </p:txBody>
      </p:sp>
      <p:sp>
        <p:nvSpPr>
          <p:cNvPr id="14" name="TextBox 13"/>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5" name="Oval 14"/>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7" name="Rounded Rectangle 16"/>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API</a:t>
            </a:r>
          </a:p>
        </p:txBody>
      </p:sp>
      <p:sp>
        <p:nvSpPr>
          <p:cNvPr id="19" name="TextBox 18"/>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HTTP, JSON, Postman y contratos.</a:t>
            </a:r>
          </a:p>
        </p:txBody>
      </p:sp>
      <p:sp>
        <p:nvSpPr>
          <p:cNvPr id="20" name="TextBox 19"/>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1" name="Oval 20"/>
          <p:cNvSpPr/>
          <p:nvPr/>
        </p:nvSpPr>
        <p:spPr>
          <a:xfrm>
            <a:off x="5806440" y="1325880"/>
            <a:ext cx="585216" cy="585216"/>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3" name="Rounded Rectangle 22"/>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Datos</a:t>
            </a:r>
          </a:p>
        </p:txBody>
      </p:sp>
      <p:sp>
        <p:nvSpPr>
          <p:cNvPr id="25" name="TextBox 24"/>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SQL, consultas y validación.</a:t>
            </a:r>
          </a:p>
        </p:txBody>
      </p:sp>
      <p:sp>
        <p:nvSpPr>
          <p:cNvPr id="26" name="TextBox 25"/>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7" name="Oval 26"/>
          <p:cNvSpPr/>
          <p:nvPr/>
        </p:nvSpPr>
        <p:spPr>
          <a:xfrm>
            <a:off x="8063179"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29" name="Rounded Rectangle 28"/>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Código</a:t>
            </a:r>
          </a:p>
        </p:txBody>
      </p:sp>
      <p:sp>
        <p:nvSpPr>
          <p:cNvPr id="31" name="TextBox 30"/>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Un lenguaje, Git y buenas prácticas.</a:t>
            </a:r>
          </a:p>
        </p:txBody>
      </p:sp>
      <p:sp>
        <p:nvSpPr>
          <p:cNvPr id="32" name="TextBox 31"/>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3" name="Oval 32"/>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5" name="Rounded Rectangle 34"/>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Automatización</a:t>
            </a:r>
          </a:p>
        </p:txBody>
      </p:sp>
      <p:sp>
        <p:nvSpPr>
          <p:cNvPr id="37" name="TextBox 36"/>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Framework, patrones, reportes y CI.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18</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Playwright y CI: del código al pipeline</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Una prueba profesional expresa intención, usa localizadores estables y produce evidencia.</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 técnica: documentación oficial de Playwright.</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18</a:t>
            </a:r>
          </a:p>
        </p:txBody>
      </p:sp>
      <p:sp>
        <p:nvSpPr>
          <p:cNvPr id="10" name="Rounded Rectangle 9"/>
          <p:cNvSpPr/>
          <p:nvPr/>
        </p:nvSpPr>
        <p:spPr>
          <a:xfrm>
            <a:off x="594360" y="1335024"/>
            <a:ext cx="6995160" cy="4526280"/>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8680" y="1572768"/>
            <a:ext cx="146304" cy="146304"/>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15568" y="1572768"/>
            <a:ext cx="146304" cy="14630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62456" y="1572768"/>
            <a:ext cx="146304" cy="146304"/>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1965960"/>
            <a:ext cx="6355080" cy="3547872"/>
          </a:xfrm>
          <a:prstGeom prst="rect">
            <a:avLst/>
          </a:prstGeom>
          <a:noFill/>
        </p:spPr>
        <p:txBody>
          <a:bodyPr wrap="square" anchor="t" lIns="36576" rIns="36576" tIns="36576" bIns="36576">
            <a:spAutoFit/>
          </a:bodyPr>
          <a:lstStyle/>
          <a:p>
            <a:pPr algn="l"/>
            <a:r>
              <a:rPr sz="1150" b="0" i="0">
                <a:solidFill>
                  <a:srgbClr val="FFFFFF"/>
                </a:solidFill>
                <a:latin typeface="Menlo"/>
              </a:rPr>
              <a:t>import { test, expect } from '@playwright/test';
test('usuario válido accede al panel', async ({ page }) =&gt; {
  await page.goto('/login');
  await page.getByLabel('Correo').fill('qa@example.com');
  await page.getByLabel('Contraseña').fill('ClaveSegura1!');
  await page.getByRole('button', { name: 'Entrar' }).click();
  await expect(page.getByRole('heading', {
    name: 'Panel principal'
  })).toBeVisible();
});</a:t>
            </a:r>
          </a:p>
        </p:txBody>
      </p:sp>
      <p:sp>
        <p:nvSpPr>
          <p:cNvPr id="15" name="Rounded Rectangle 14"/>
          <p:cNvSpPr/>
          <p:nvPr/>
        </p:nvSpPr>
        <p:spPr>
          <a:xfrm>
            <a:off x="7882127" y="1335024"/>
            <a:ext cx="3639312" cy="4526280"/>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1700784"/>
            <a:ext cx="2889504" cy="292608"/>
          </a:xfrm>
          <a:prstGeom prst="rect">
            <a:avLst/>
          </a:prstGeom>
          <a:noFill/>
        </p:spPr>
        <p:txBody>
          <a:bodyPr wrap="square" anchor="t" lIns="36576" rIns="36576" tIns="36576" bIns="36576">
            <a:spAutoFit/>
          </a:bodyPr>
          <a:lstStyle/>
          <a:p>
            <a:pPr algn="l"/>
            <a:r>
              <a:rPr sz="1200" b="1" i="0">
                <a:solidFill>
                  <a:srgbClr val="195CAA"/>
                </a:solidFill>
                <a:latin typeface="Aptos"/>
              </a:rPr>
              <a:t>QUÉ OBSERVAR</a:t>
            </a:r>
          </a:p>
        </p:txBody>
      </p:sp>
      <p:sp>
        <p:nvSpPr>
          <p:cNvPr id="17" name="TextBox 16"/>
          <p:cNvSpPr txBox="1"/>
          <p:nvPr/>
        </p:nvSpPr>
        <p:spPr>
          <a:xfrm>
            <a:off x="8247888" y="2212848"/>
            <a:ext cx="2788920" cy="3154680"/>
          </a:xfrm>
          <a:prstGeom prst="rect">
            <a:avLst/>
          </a:prstGeom>
          <a:noFill/>
        </p:spPr>
        <p:txBody>
          <a:bodyPr wrap="square" lIns="36576" rIns="36576">
            <a:spAutoFit/>
          </a:bodyPr>
          <a:lstStyle/>
          <a:p>
            <a:pPr>
              <a:lnSpc>
                <a:spcPct val="105000"/>
              </a:lnSpc>
              <a:spcAft>
                <a:spcPts val="900"/>
              </a:spcAft>
              <a:defRPr sz="1380">
                <a:solidFill>
                  <a:srgbClr val="16263C"/>
                </a:solidFill>
                <a:latin typeface="Aptos"/>
              </a:defRPr>
            </a:pPr>
            <a:r>
              <a:t>✓  Nombre orientado al comportamiento</a:t>
            </a:r>
          </a:p>
          <a:p>
            <a:pPr>
              <a:lnSpc>
                <a:spcPct val="105000"/>
              </a:lnSpc>
              <a:spcAft>
                <a:spcPts val="900"/>
              </a:spcAft>
              <a:defRPr sz="1380">
                <a:solidFill>
                  <a:srgbClr val="16263C"/>
                </a:solidFill>
                <a:latin typeface="Aptos"/>
              </a:defRPr>
            </a:pPr>
            <a:r>
              <a:t>✓  Localizadores accesibles</a:t>
            </a:r>
          </a:p>
          <a:p>
            <a:pPr>
              <a:lnSpc>
                <a:spcPct val="105000"/>
              </a:lnSpc>
              <a:spcAft>
                <a:spcPts val="900"/>
              </a:spcAft>
              <a:defRPr sz="1380">
                <a:solidFill>
                  <a:srgbClr val="16263C"/>
                </a:solidFill>
                <a:latin typeface="Aptos"/>
              </a:defRPr>
            </a:pPr>
            <a:r>
              <a:t>✓  Resultado esperado explícito</a:t>
            </a:r>
          </a:p>
          <a:p>
            <a:pPr>
              <a:lnSpc>
                <a:spcPct val="105000"/>
              </a:lnSpc>
              <a:spcAft>
                <a:spcPts val="900"/>
              </a:spcAft>
              <a:defRPr sz="1380">
                <a:solidFill>
                  <a:srgbClr val="16263C"/>
                </a:solidFill>
                <a:latin typeface="Aptos"/>
              </a:defRPr>
            </a:pPr>
            <a:r>
              <a:t>✓  Datos separados del código real</a:t>
            </a:r>
          </a:p>
          <a:p>
            <a:pPr>
              <a:lnSpc>
                <a:spcPct val="105000"/>
              </a:lnSpc>
              <a:spcAft>
                <a:spcPts val="900"/>
              </a:spcAft>
              <a:defRPr sz="1380">
                <a:solidFill>
                  <a:srgbClr val="16263C"/>
                </a:solidFill>
                <a:latin typeface="Aptos"/>
              </a:defRPr>
            </a:pPr>
            <a:r>
              <a:t>✓  Reporte y trazas ante fallos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49808"/>
            <a:ext cx="1645920" cy="256032"/>
          </a:xfrm>
          <a:prstGeom prst="rect">
            <a:avLst/>
          </a:prstGeom>
          <a:noFill/>
        </p:spPr>
        <p:txBody>
          <a:bodyPr wrap="square" anchor="t" lIns="36576" rIns="36576" tIns="36576" bIns="36576">
            <a:spAutoFit/>
          </a:bodyPr>
          <a:lstStyle/>
          <a:p>
            <a:pPr algn="l"/>
            <a:r>
              <a:rPr sz="1200" b="1" i="0">
                <a:solidFill>
                  <a:srgbClr val="F4A03A"/>
                </a:solidFill>
                <a:latin typeface="Aptos"/>
              </a:rPr>
              <a:t>SECCIÓN</a:t>
            </a:r>
          </a:p>
        </p:txBody>
      </p:sp>
      <p:sp>
        <p:nvSpPr>
          <p:cNvPr id="5" name="TextBox 4"/>
          <p:cNvSpPr txBox="1"/>
          <p:nvPr/>
        </p:nvSpPr>
        <p:spPr>
          <a:xfrm>
            <a:off x="713232" y="1170432"/>
            <a:ext cx="2103120" cy="822960"/>
          </a:xfrm>
          <a:prstGeom prst="rect">
            <a:avLst/>
          </a:prstGeom>
          <a:noFill/>
        </p:spPr>
        <p:txBody>
          <a:bodyPr wrap="square" anchor="t" lIns="36576" rIns="36576" tIns="36576" bIns="36576">
            <a:spAutoFit/>
          </a:bodyPr>
          <a:lstStyle/>
          <a:p>
            <a:pPr algn="l"/>
            <a:r>
              <a:rPr sz="4700" b="1" i="0">
                <a:solidFill>
                  <a:srgbClr val="FFFFFF"/>
                </a:solidFill>
                <a:latin typeface="Aptos"/>
              </a:rPr>
              <a:t>PAUSA</a:t>
            </a:r>
          </a:p>
        </p:txBody>
      </p:sp>
      <p:sp>
        <p:nvSpPr>
          <p:cNvPr id="6" name="Rectangle 5"/>
          <p:cNvSpPr/>
          <p:nvPr/>
        </p:nvSpPr>
        <p:spPr>
          <a:xfrm>
            <a:off x="2880360" y="1024128"/>
            <a:ext cx="54864" cy="4480560"/>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37560" y="1280160"/>
            <a:ext cx="7909560" cy="1143000"/>
          </a:xfrm>
          <a:prstGeom prst="rect">
            <a:avLst/>
          </a:prstGeom>
          <a:noFill/>
        </p:spPr>
        <p:txBody>
          <a:bodyPr wrap="square" anchor="t" lIns="36576" rIns="36576" tIns="36576" bIns="36576">
            <a:spAutoFit/>
          </a:bodyPr>
          <a:lstStyle/>
          <a:p>
            <a:pPr algn="l"/>
            <a:r>
              <a:rPr sz="3100" b="1" i="0">
                <a:solidFill>
                  <a:srgbClr val="FFFFFF"/>
                </a:solidFill>
                <a:latin typeface="Aptos"/>
              </a:rPr>
              <a:t>Respira y regresa con una vacante abierta</a:t>
            </a:r>
          </a:p>
        </p:txBody>
      </p:sp>
      <p:sp>
        <p:nvSpPr>
          <p:cNvPr id="8" name="TextBox 7"/>
          <p:cNvSpPr txBox="1"/>
          <p:nvPr/>
        </p:nvSpPr>
        <p:spPr>
          <a:xfrm>
            <a:off x="3355848" y="2788920"/>
            <a:ext cx="7223760" cy="1051560"/>
          </a:xfrm>
          <a:prstGeom prst="rect">
            <a:avLst/>
          </a:prstGeom>
          <a:noFill/>
        </p:spPr>
        <p:txBody>
          <a:bodyPr wrap="square" anchor="t" lIns="36576" rIns="36576" tIns="36576" bIns="36576">
            <a:spAutoFit/>
          </a:bodyPr>
          <a:lstStyle/>
          <a:p>
            <a:pPr algn="l"/>
            <a:r>
              <a:rPr sz="1800" b="0" i="0">
                <a:solidFill>
                  <a:srgbClr val="E0F5F9"/>
                </a:solidFill>
                <a:latin typeface="Aptos"/>
              </a:rPr>
              <a:t>Al volver trabajaremos búsqueda de empleo, guía de estudio autónoma, CV, LinkedIn y entrevistas.</a:t>
            </a:r>
          </a:p>
        </p:txBody>
      </p:sp>
      <p:sp>
        <p:nvSpPr>
          <p:cNvPr id="9" name="TextBox 8"/>
          <p:cNvSpPr txBox="1"/>
          <p:nvPr/>
        </p:nvSpPr>
        <p:spPr>
          <a:xfrm>
            <a:off x="3355848" y="4956048"/>
            <a:ext cx="5486400" cy="292608"/>
          </a:xfrm>
          <a:prstGeom prst="rect">
            <a:avLst/>
          </a:prstGeom>
          <a:noFill/>
        </p:spPr>
        <p:txBody>
          <a:bodyPr wrap="square" anchor="t" lIns="36576" rIns="36576" tIns="36576" bIns="36576">
            <a:spAutoFit/>
          </a:bodyPr>
          <a:lstStyle/>
          <a:p>
            <a:pPr algn="l"/>
            <a:r>
              <a:rPr sz="1300" b="1" i="0">
                <a:solidFill>
                  <a:srgbClr val="F4A03A"/>
                </a:solidFill>
                <a:latin typeface="Aptos"/>
              </a:rPr>
              <a:t>Preguntar · practicar · demostrar</a:t>
            </a:r>
          </a:p>
        </p:txBody>
      </p:sp>
      <p:sp>
        <p:nvSpPr>
          <p:cNvPr id="10" name="TextBox 9"/>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Ruta de aprendizaje y empleabilidad</a:t>
            </a:r>
          </a:p>
        </p:txBody>
      </p:sp>
      <p:sp>
        <p:nvSpPr>
          <p:cNvPr id="11" name="TextBox 10"/>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21</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Primero busca la vacante; después diseña el estudio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autonomía no es estudiar sin dirección. Es tomar decisiones informadas sobre qué aprender.</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21</a:t>
            </a:r>
          </a:p>
        </p:txBody>
      </p:sp>
      <p:sp>
        <p:nvSpPr>
          <p:cNvPr id="9" name="Rounded Rectangle 8"/>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RUTA POCO EFECTIVA</a:t>
            </a:r>
          </a:p>
        </p:txBody>
      </p:sp>
      <p:sp>
        <p:nvSpPr>
          <p:cNvPr id="12" name="TextBox 11"/>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Comprar cursos por impulso</a:t>
            </a:r>
          </a:p>
          <a:p>
            <a:pPr>
              <a:lnSpc>
                <a:spcPct val="105000"/>
              </a:lnSpc>
              <a:spcAft>
                <a:spcPts val="900"/>
              </a:spcAft>
              <a:defRPr sz="1600">
                <a:solidFill>
                  <a:srgbClr val="16263C"/>
                </a:solidFill>
                <a:latin typeface="Aptos"/>
              </a:defRPr>
            </a:pPr>
            <a:r>
              <a:t>•  Aprender muchas herramientas superficialmente</a:t>
            </a:r>
          </a:p>
          <a:p>
            <a:pPr>
              <a:lnSpc>
                <a:spcPct val="105000"/>
              </a:lnSpc>
              <a:spcAft>
                <a:spcPts val="900"/>
              </a:spcAft>
              <a:defRPr sz="1600">
                <a:solidFill>
                  <a:srgbClr val="16263C"/>
                </a:solidFill>
                <a:latin typeface="Aptos"/>
              </a:defRPr>
            </a:pPr>
            <a:r>
              <a:t>•  Copiar proyectos sin comprenderlos</a:t>
            </a:r>
          </a:p>
          <a:p>
            <a:pPr>
              <a:lnSpc>
                <a:spcPct val="105000"/>
              </a:lnSpc>
              <a:spcAft>
                <a:spcPts val="900"/>
              </a:spcAft>
              <a:defRPr sz="1600">
                <a:solidFill>
                  <a:srgbClr val="16263C"/>
                </a:solidFill>
                <a:latin typeface="Aptos"/>
              </a:defRPr>
            </a:pPr>
            <a:r>
              <a:t>•  Usar el mismo CV para todas las vacantes</a:t>
            </a:r>
          </a:p>
          <a:p>
            <a:pPr>
              <a:lnSpc>
                <a:spcPct val="105000"/>
              </a:lnSpc>
              <a:spcAft>
                <a:spcPts val="900"/>
              </a:spcAft>
              <a:defRPr sz="1600">
                <a:solidFill>
                  <a:srgbClr val="16263C"/>
                </a:solidFill>
                <a:latin typeface="Aptos"/>
              </a:defRPr>
            </a:pPr>
            <a:r>
              <a:t>•  Esperar sentirse totalmente preparado</a:t>
            </a:r>
          </a:p>
        </p:txBody>
      </p:sp>
      <p:sp>
        <p:nvSpPr>
          <p:cNvPr id="13" name="TextBox 12"/>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RUTA ORIENTADA AL MERCADO</a:t>
            </a:r>
          </a:p>
        </p:txBody>
      </p:sp>
      <p:sp>
        <p:nvSpPr>
          <p:cNvPr id="14" name="TextBox 13"/>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Elegir un rol y nivel objetivo</a:t>
            </a:r>
          </a:p>
          <a:p>
            <a:pPr>
              <a:lnSpc>
                <a:spcPct val="105000"/>
              </a:lnSpc>
              <a:spcAft>
                <a:spcPts val="900"/>
              </a:spcAft>
              <a:defRPr sz="1600">
                <a:solidFill>
                  <a:srgbClr val="FFFFFF"/>
                </a:solidFill>
                <a:latin typeface="Aptos"/>
              </a:defRPr>
            </a:pPr>
            <a:r>
              <a:t>•  Analizar entre 10 y 20 vacantes</a:t>
            </a:r>
          </a:p>
          <a:p>
            <a:pPr>
              <a:lnSpc>
                <a:spcPct val="105000"/>
              </a:lnSpc>
              <a:spcAft>
                <a:spcPts val="900"/>
              </a:spcAft>
              <a:defRPr sz="1600">
                <a:solidFill>
                  <a:srgbClr val="FFFFFF"/>
                </a:solidFill>
                <a:latin typeface="Aptos"/>
              </a:defRPr>
            </a:pPr>
            <a:r>
              <a:t>•  Detectar competencias repetidas</a:t>
            </a:r>
          </a:p>
          <a:p>
            <a:pPr>
              <a:lnSpc>
                <a:spcPct val="105000"/>
              </a:lnSpc>
              <a:spcAft>
                <a:spcPts val="900"/>
              </a:spcAft>
              <a:defRPr sz="1600">
                <a:solidFill>
                  <a:srgbClr val="FFFFFF"/>
                </a:solidFill>
                <a:latin typeface="Aptos"/>
              </a:defRPr>
            </a:pPr>
            <a:r>
              <a:t>•  Priorizar brechas por frecuencia e impacto</a:t>
            </a:r>
          </a:p>
          <a:p>
            <a:pPr>
              <a:lnSpc>
                <a:spcPct val="105000"/>
              </a:lnSpc>
              <a:spcAft>
                <a:spcPts val="900"/>
              </a:spcAft>
              <a:defRPr sz="1600">
                <a:solidFill>
                  <a:srgbClr val="FFFFFF"/>
                </a:solidFill>
                <a:latin typeface="Aptos"/>
              </a:defRPr>
            </a:pPr>
            <a:r>
              <a:t>•  Crear evidencias y comenzar a aplicar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22</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Matriz de vacantes: convierte anuncios en datos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Ejemplo de análisis. La prioridad se define por repetición, importancia y brecha personal.</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22</a:t>
            </a:r>
          </a:p>
        </p:txBody>
      </p:sp>
      <p:sp>
        <p:nvSpPr>
          <p:cNvPr id="9" name="Rectangle 8"/>
          <p:cNvSpPr/>
          <p:nvPr/>
        </p:nvSpPr>
        <p:spPr>
          <a:xfrm>
            <a:off x="548640" y="1353312"/>
            <a:ext cx="2103120" cy="530352"/>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90472"/>
            <a:ext cx="1920239" cy="228600"/>
          </a:xfrm>
          <a:prstGeom prst="rect">
            <a:avLst/>
          </a:prstGeom>
          <a:noFill/>
        </p:spPr>
        <p:txBody>
          <a:bodyPr wrap="square" anchor="t" lIns="36576" rIns="36576" tIns="36576" bIns="36576">
            <a:spAutoFit/>
          </a:bodyPr>
          <a:lstStyle/>
          <a:p>
            <a:pPr algn="ctr"/>
            <a:r>
              <a:rPr sz="1150" b="1" i="0">
                <a:solidFill>
                  <a:srgbClr val="FFFFFF"/>
                </a:solidFill>
                <a:latin typeface="Aptos"/>
              </a:rPr>
              <a:t>Competencia</a:t>
            </a:r>
          </a:p>
        </p:txBody>
      </p:sp>
      <p:sp>
        <p:nvSpPr>
          <p:cNvPr id="11" name="Rectangle 10"/>
          <p:cNvSpPr/>
          <p:nvPr/>
        </p:nvSpPr>
        <p:spPr>
          <a:xfrm>
            <a:off x="2651760" y="1353312"/>
            <a:ext cx="1417320"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0" y="1490472"/>
            <a:ext cx="1234440" cy="228600"/>
          </a:xfrm>
          <a:prstGeom prst="rect">
            <a:avLst/>
          </a:prstGeom>
          <a:noFill/>
        </p:spPr>
        <p:txBody>
          <a:bodyPr wrap="square" anchor="t" lIns="36576" rIns="36576" tIns="36576" bIns="36576">
            <a:spAutoFit/>
          </a:bodyPr>
          <a:lstStyle/>
          <a:p>
            <a:pPr algn="ctr"/>
            <a:r>
              <a:rPr sz="1150" b="1" i="0">
                <a:solidFill>
                  <a:srgbClr val="FFFFFF"/>
                </a:solidFill>
                <a:latin typeface="Aptos"/>
              </a:rPr>
              <a:t>Frecuencia</a:t>
            </a:r>
          </a:p>
        </p:txBody>
      </p:sp>
      <p:sp>
        <p:nvSpPr>
          <p:cNvPr id="13" name="Rectangle 12"/>
          <p:cNvSpPr/>
          <p:nvPr/>
        </p:nvSpPr>
        <p:spPr>
          <a:xfrm>
            <a:off x="4069080" y="1353312"/>
            <a:ext cx="1417320"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0520" y="1490472"/>
            <a:ext cx="1234440" cy="228600"/>
          </a:xfrm>
          <a:prstGeom prst="rect">
            <a:avLst/>
          </a:prstGeom>
          <a:noFill/>
        </p:spPr>
        <p:txBody>
          <a:bodyPr wrap="square" anchor="t" lIns="36576" rIns="36576" tIns="36576" bIns="36576">
            <a:spAutoFit/>
          </a:bodyPr>
          <a:lstStyle/>
          <a:p>
            <a:pPr algn="ctr"/>
            <a:r>
              <a:rPr sz="1150" b="1" i="0">
                <a:solidFill>
                  <a:srgbClr val="FFFFFF"/>
                </a:solidFill>
                <a:latin typeface="Aptos"/>
              </a:rPr>
              <a:t>Mi nivel</a:t>
            </a:r>
          </a:p>
        </p:txBody>
      </p:sp>
      <p:sp>
        <p:nvSpPr>
          <p:cNvPr id="15" name="Rectangle 14"/>
          <p:cNvSpPr/>
          <p:nvPr/>
        </p:nvSpPr>
        <p:spPr>
          <a:xfrm>
            <a:off x="5486400" y="1353312"/>
            <a:ext cx="3429000"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0" y="1490472"/>
            <a:ext cx="3246120" cy="228600"/>
          </a:xfrm>
          <a:prstGeom prst="rect">
            <a:avLst/>
          </a:prstGeom>
          <a:noFill/>
        </p:spPr>
        <p:txBody>
          <a:bodyPr wrap="square" anchor="t" lIns="36576" rIns="36576" tIns="36576" bIns="36576">
            <a:spAutoFit/>
          </a:bodyPr>
          <a:lstStyle/>
          <a:p>
            <a:pPr algn="ctr"/>
            <a:r>
              <a:rPr sz="1150" b="1" i="0">
                <a:solidFill>
                  <a:srgbClr val="FFFFFF"/>
                </a:solidFill>
                <a:latin typeface="Aptos"/>
              </a:rPr>
              <a:t>Evidencia actual</a:t>
            </a:r>
          </a:p>
        </p:txBody>
      </p:sp>
      <p:sp>
        <p:nvSpPr>
          <p:cNvPr id="17" name="Rectangle 16"/>
          <p:cNvSpPr/>
          <p:nvPr/>
        </p:nvSpPr>
        <p:spPr>
          <a:xfrm>
            <a:off x="8915400" y="1353312"/>
            <a:ext cx="2715768"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1490472"/>
            <a:ext cx="2532888" cy="228600"/>
          </a:xfrm>
          <a:prstGeom prst="rect">
            <a:avLst/>
          </a:prstGeom>
          <a:noFill/>
        </p:spPr>
        <p:txBody>
          <a:bodyPr wrap="square" anchor="t" lIns="36576" rIns="36576" tIns="36576" bIns="36576">
            <a:spAutoFit/>
          </a:bodyPr>
          <a:lstStyle/>
          <a:p>
            <a:pPr algn="ctr"/>
            <a:r>
              <a:rPr sz="1150" b="1" i="0">
                <a:solidFill>
                  <a:srgbClr val="FFFFFF"/>
                </a:solidFill>
                <a:latin typeface="Aptos"/>
              </a:rPr>
              <a:t>Prioridad</a:t>
            </a:r>
          </a:p>
        </p:txBody>
      </p:sp>
      <p:sp>
        <p:nvSpPr>
          <p:cNvPr id="19" name="Rectangle 18"/>
          <p:cNvSpPr/>
          <p:nvPr/>
        </p:nvSpPr>
        <p:spPr>
          <a:xfrm>
            <a:off x="548640" y="1883664"/>
            <a:ext cx="21031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1975104"/>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Casos y bugs</a:t>
            </a:r>
          </a:p>
        </p:txBody>
      </p:sp>
      <p:sp>
        <p:nvSpPr>
          <p:cNvPr id="21" name="Rectangle 20"/>
          <p:cNvSpPr/>
          <p:nvPr/>
        </p:nvSpPr>
        <p:spPr>
          <a:xfrm>
            <a:off x="2651760" y="1883664"/>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43200" y="1975104"/>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9/10</a:t>
            </a:r>
          </a:p>
        </p:txBody>
      </p:sp>
      <p:sp>
        <p:nvSpPr>
          <p:cNvPr id="23" name="Rectangle 22"/>
          <p:cNvSpPr/>
          <p:nvPr/>
        </p:nvSpPr>
        <p:spPr>
          <a:xfrm>
            <a:off x="4069080" y="1883664"/>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0520" y="1975104"/>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Medio</a:t>
            </a:r>
          </a:p>
        </p:txBody>
      </p:sp>
      <p:sp>
        <p:nvSpPr>
          <p:cNvPr id="25" name="Rectangle 24"/>
          <p:cNvSpPr/>
          <p:nvPr/>
        </p:nvSpPr>
        <p:spPr>
          <a:xfrm>
            <a:off x="5486400" y="1883664"/>
            <a:ext cx="342900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77840" y="1975104"/>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Proyecto manual</a:t>
            </a:r>
          </a:p>
        </p:txBody>
      </p:sp>
      <p:sp>
        <p:nvSpPr>
          <p:cNvPr id="27" name="Rectangle 26"/>
          <p:cNvSpPr/>
          <p:nvPr/>
        </p:nvSpPr>
        <p:spPr>
          <a:xfrm>
            <a:off x="8915400" y="1883664"/>
            <a:ext cx="2715768"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1975104"/>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Alta</a:t>
            </a:r>
          </a:p>
        </p:txBody>
      </p:sp>
      <p:sp>
        <p:nvSpPr>
          <p:cNvPr id="29" name="Rectangle 28"/>
          <p:cNvSpPr/>
          <p:nvPr/>
        </p:nvSpPr>
        <p:spPr>
          <a:xfrm>
            <a:off x="548640" y="2560320"/>
            <a:ext cx="21031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2651760"/>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API / Postman</a:t>
            </a:r>
          </a:p>
        </p:txBody>
      </p:sp>
      <p:sp>
        <p:nvSpPr>
          <p:cNvPr id="31" name="Rectangle 30"/>
          <p:cNvSpPr/>
          <p:nvPr/>
        </p:nvSpPr>
        <p:spPr>
          <a:xfrm>
            <a:off x="2651760" y="2560320"/>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43200" y="2651760"/>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8/10</a:t>
            </a:r>
          </a:p>
        </p:txBody>
      </p:sp>
      <p:sp>
        <p:nvSpPr>
          <p:cNvPr id="33" name="Rectangle 32"/>
          <p:cNvSpPr/>
          <p:nvPr/>
        </p:nvSpPr>
        <p:spPr>
          <a:xfrm>
            <a:off x="4069080" y="2560320"/>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60520" y="2651760"/>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Bajo</a:t>
            </a:r>
          </a:p>
        </p:txBody>
      </p:sp>
      <p:sp>
        <p:nvSpPr>
          <p:cNvPr id="35" name="Rectangle 34"/>
          <p:cNvSpPr/>
          <p:nvPr/>
        </p:nvSpPr>
        <p:spPr>
          <a:xfrm>
            <a:off x="5486400" y="2560320"/>
            <a:ext cx="342900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77840" y="2651760"/>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Ninguna</a:t>
            </a:r>
          </a:p>
        </p:txBody>
      </p:sp>
      <p:sp>
        <p:nvSpPr>
          <p:cNvPr id="37" name="Rectangle 36"/>
          <p:cNvSpPr/>
          <p:nvPr/>
        </p:nvSpPr>
        <p:spPr>
          <a:xfrm>
            <a:off x="8915400" y="2560320"/>
            <a:ext cx="2715768"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06840" y="2651760"/>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Muy alta</a:t>
            </a:r>
          </a:p>
        </p:txBody>
      </p:sp>
      <p:sp>
        <p:nvSpPr>
          <p:cNvPr id="39" name="Rectangle 38"/>
          <p:cNvSpPr/>
          <p:nvPr/>
        </p:nvSpPr>
        <p:spPr>
          <a:xfrm>
            <a:off x="548640" y="3236976"/>
            <a:ext cx="21031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3328416"/>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SQL</a:t>
            </a:r>
          </a:p>
        </p:txBody>
      </p:sp>
      <p:sp>
        <p:nvSpPr>
          <p:cNvPr id="41" name="Rectangle 40"/>
          <p:cNvSpPr/>
          <p:nvPr/>
        </p:nvSpPr>
        <p:spPr>
          <a:xfrm>
            <a:off x="2651760" y="3236976"/>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0" y="3328416"/>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7/10</a:t>
            </a:r>
          </a:p>
        </p:txBody>
      </p:sp>
      <p:sp>
        <p:nvSpPr>
          <p:cNvPr id="43" name="Rectangle 42"/>
          <p:cNvSpPr/>
          <p:nvPr/>
        </p:nvSpPr>
        <p:spPr>
          <a:xfrm>
            <a:off x="4069080" y="3236976"/>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60520" y="3328416"/>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Bajo</a:t>
            </a:r>
          </a:p>
        </p:txBody>
      </p:sp>
      <p:sp>
        <p:nvSpPr>
          <p:cNvPr id="45" name="Rectangle 44"/>
          <p:cNvSpPr/>
          <p:nvPr/>
        </p:nvSpPr>
        <p:spPr>
          <a:xfrm>
            <a:off x="5486400" y="3236976"/>
            <a:ext cx="342900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577840" y="3328416"/>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Ejercicios</a:t>
            </a:r>
          </a:p>
        </p:txBody>
      </p:sp>
      <p:sp>
        <p:nvSpPr>
          <p:cNvPr id="47" name="Rectangle 46"/>
          <p:cNvSpPr/>
          <p:nvPr/>
        </p:nvSpPr>
        <p:spPr>
          <a:xfrm>
            <a:off x="8915400" y="3236976"/>
            <a:ext cx="2715768"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06840" y="3328416"/>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Alta</a:t>
            </a:r>
          </a:p>
        </p:txBody>
      </p:sp>
      <p:sp>
        <p:nvSpPr>
          <p:cNvPr id="49" name="Rectangle 48"/>
          <p:cNvSpPr/>
          <p:nvPr/>
        </p:nvSpPr>
        <p:spPr>
          <a:xfrm>
            <a:off x="548640" y="3913631"/>
            <a:ext cx="21031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4005071"/>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Git / GitHub</a:t>
            </a:r>
          </a:p>
        </p:txBody>
      </p:sp>
      <p:sp>
        <p:nvSpPr>
          <p:cNvPr id="51" name="Rectangle 50"/>
          <p:cNvSpPr/>
          <p:nvPr/>
        </p:nvSpPr>
        <p:spPr>
          <a:xfrm>
            <a:off x="2651760" y="3913631"/>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43200" y="4005071"/>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7/10</a:t>
            </a:r>
          </a:p>
        </p:txBody>
      </p:sp>
      <p:sp>
        <p:nvSpPr>
          <p:cNvPr id="53" name="Rectangle 52"/>
          <p:cNvSpPr/>
          <p:nvPr/>
        </p:nvSpPr>
        <p:spPr>
          <a:xfrm>
            <a:off x="4069080" y="3913631"/>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60520" y="4005071"/>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Medio</a:t>
            </a:r>
          </a:p>
        </p:txBody>
      </p:sp>
      <p:sp>
        <p:nvSpPr>
          <p:cNvPr id="55" name="Rectangle 54"/>
          <p:cNvSpPr/>
          <p:nvPr/>
        </p:nvSpPr>
        <p:spPr>
          <a:xfrm>
            <a:off x="5486400" y="3913631"/>
            <a:ext cx="342900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577840" y="4005071"/>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2 repositorios</a:t>
            </a:r>
          </a:p>
        </p:txBody>
      </p:sp>
      <p:sp>
        <p:nvSpPr>
          <p:cNvPr id="57" name="Rectangle 56"/>
          <p:cNvSpPr/>
          <p:nvPr/>
        </p:nvSpPr>
        <p:spPr>
          <a:xfrm>
            <a:off x="8915400" y="3913631"/>
            <a:ext cx="2715768"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06840" y="4005071"/>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Media</a:t>
            </a:r>
          </a:p>
        </p:txBody>
      </p:sp>
      <p:sp>
        <p:nvSpPr>
          <p:cNvPr id="59" name="Rectangle 58"/>
          <p:cNvSpPr/>
          <p:nvPr/>
        </p:nvSpPr>
        <p:spPr>
          <a:xfrm>
            <a:off x="548640" y="4590288"/>
            <a:ext cx="21031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0080" y="4681727"/>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Playwright</a:t>
            </a:r>
          </a:p>
        </p:txBody>
      </p:sp>
      <p:sp>
        <p:nvSpPr>
          <p:cNvPr id="61" name="Rectangle 60"/>
          <p:cNvSpPr/>
          <p:nvPr/>
        </p:nvSpPr>
        <p:spPr>
          <a:xfrm>
            <a:off x="2651760" y="4590288"/>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43200" y="4681727"/>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5/10</a:t>
            </a:r>
          </a:p>
        </p:txBody>
      </p:sp>
      <p:sp>
        <p:nvSpPr>
          <p:cNvPr id="63" name="Rectangle 62"/>
          <p:cNvSpPr/>
          <p:nvPr/>
        </p:nvSpPr>
        <p:spPr>
          <a:xfrm>
            <a:off x="4069080" y="4590288"/>
            <a:ext cx="141732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60520" y="4681727"/>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Bajo</a:t>
            </a:r>
          </a:p>
        </p:txBody>
      </p:sp>
      <p:sp>
        <p:nvSpPr>
          <p:cNvPr id="65" name="Rectangle 64"/>
          <p:cNvSpPr/>
          <p:nvPr/>
        </p:nvSpPr>
        <p:spPr>
          <a:xfrm>
            <a:off x="5486400" y="4590288"/>
            <a:ext cx="3429000"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577840" y="4681727"/>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Tutorial</a:t>
            </a:r>
          </a:p>
        </p:txBody>
      </p:sp>
      <p:sp>
        <p:nvSpPr>
          <p:cNvPr id="67" name="Rectangle 66"/>
          <p:cNvSpPr/>
          <p:nvPr/>
        </p:nvSpPr>
        <p:spPr>
          <a:xfrm>
            <a:off x="8915400" y="4590288"/>
            <a:ext cx="2715768" cy="676656"/>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06840" y="4681727"/>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Media</a:t>
            </a:r>
          </a:p>
        </p:txBody>
      </p:sp>
      <p:sp>
        <p:nvSpPr>
          <p:cNvPr id="69" name="Rectangle 68"/>
          <p:cNvSpPr/>
          <p:nvPr/>
        </p:nvSpPr>
        <p:spPr>
          <a:xfrm>
            <a:off x="548640" y="5266944"/>
            <a:ext cx="21031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080" y="5358383"/>
            <a:ext cx="1920239" cy="530352"/>
          </a:xfrm>
          <a:prstGeom prst="rect">
            <a:avLst/>
          </a:prstGeom>
          <a:noFill/>
        </p:spPr>
        <p:txBody>
          <a:bodyPr wrap="square" anchor="ctr" lIns="36576" rIns="36576" tIns="36576" bIns="36576">
            <a:spAutoFit/>
          </a:bodyPr>
          <a:lstStyle/>
          <a:p>
            <a:pPr algn="l"/>
            <a:r>
              <a:rPr sz="1050" b="1" i="0">
                <a:solidFill>
                  <a:srgbClr val="16263C"/>
                </a:solidFill>
                <a:latin typeface="Aptos"/>
              </a:rPr>
              <a:t>Inglés técnico</a:t>
            </a:r>
          </a:p>
        </p:txBody>
      </p:sp>
      <p:sp>
        <p:nvSpPr>
          <p:cNvPr id="71" name="Rectangle 70"/>
          <p:cNvSpPr/>
          <p:nvPr/>
        </p:nvSpPr>
        <p:spPr>
          <a:xfrm>
            <a:off x="2651760" y="5266944"/>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743200" y="5358383"/>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6/10</a:t>
            </a:r>
          </a:p>
        </p:txBody>
      </p:sp>
      <p:sp>
        <p:nvSpPr>
          <p:cNvPr id="73" name="Rectangle 72"/>
          <p:cNvSpPr/>
          <p:nvPr/>
        </p:nvSpPr>
        <p:spPr>
          <a:xfrm>
            <a:off x="4069080" y="5266944"/>
            <a:ext cx="141732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160520" y="5358383"/>
            <a:ext cx="1234440"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Medio</a:t>
            </a:r>
          </a:p>
        </p:txBody>
      </p:sp>
      <p:sp>
        <p:nvSpPr>
          <p:cNvPr id="75" name="Rectangle 74"/>
          <p:cNvSpPr/>
          <p:nvPr/>
        </p:nvSpPr>
        <p:spPr>
          <a:xfrm>
            <a:off x="5486400" y="5266944"/>
            <a:ext cx="3429000"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577840" y="5358383"/>
            <a:ext cx="3246120" cy="530352"/>
          </a:xfrm>
          <a:prstGeom prst="rect">
            <a:avLst/>
          </a:prstGeom>
          <a:noFill/>
        </p:spPr>
        <p:txBody>
          <a:bodyPr wrap="square" anchor="ctr" lIns="36576" rIns="36576" tIns="36576" bIns="36576">
            <a:spAutoFit/>
          </a:bodyPr>
          <a:lstStyle/>
          <a:p>
            <a:pPr algn="l"/>
            <a:r>
              <a:rPr sz="1050" b="0" i="0">
                <a:solidFill>
                  <a:srgbClr val="16263C"/>
                </a:solidFill>
                <a:latin typeface="Aptos"/>
              </a:rPr>
              <a:t>Lectura</a:t>
            </a:r>
          </a:p>
        </p:txBody>
      </p:sp>
      <p:sp>
        <p:nvSpPr>
          <p:cNvPr id="77" name="Rectangle 76"/>
          <p:cNvSpPr/>
          <p:nvPr/>
        </p:nvSpPr>
        <p:spPr>
          <a:xfrm>
            <a:off x="8915400" y="5266944"/>
            <a:ext cx="2715768" cy="676656"/>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06840" y="5358383"/>
            <a:ext cx="2532888" cy="530352"/>
          </a:xfrm>
          <a:prstGeom prst="rect">
            <a:avLst/>
          </a:prstGeom>
          <a:noFill/>
        </p:spPr>
        <p:txBody>
          <a:bodyPr wrap="square" anchor="ctr" lIns="36576" rIns="36576" tIns="36576" bIns="36576">
            <a:spAutoFit/>
          </a:bodyPr>
          <a:lstStyle/>
          <a:p>
            <a:pPr algn="l"/>
            <a:r>
              <a:rPr sz="1050" b="0" i="0">
                <a:solidFill>
                  <a:srgbClr val="16263C"/>
                </a:solidFill>
                <a:latin typeface="Aptos"/>
              </a:rPr>
              <a:t>Media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23</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Cómo crear tu guía de estudio autónoma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Cada tema debe tener propósito, práctica, evidencia y criterio de dominio.</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23</a:t>
            </a:r>
          </a:p>
        </p:txBody>
      </p:sp>
      <p:sp>
        <p:nvSpPr>
          <p:cNvPr id="9" name="Oval 8"/>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1" name="Rounded Rectangle 10"/>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Prioriza</a:t>
            </a:r>
          </a:p>
        </p:txBody>
      </p:sp>
      <p:sp>
        <p:nvSpPr>
          <p:cNvPr id="13" name="TextBox 12"/>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Elige 2 o 3 brechas de alto impacto.</a:t>
            </a:r>
          </a:p>
        </p:txBody>
      </p:sp>
      <p:sp>
        <p:nvSpPr>
          <p:cNvPr id="14" name="TextBox 13"/>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5" name="Oval 14"/>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7" name="Rounded Rectangle 16"/>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Define</a:t>
            </a:r>
          </a:p>
        </p:txBody>
      </p:sp>
      <p:sp>
        <p:nvSpPr>
          <p:cNvPr id="19" name="TextBox 18"/>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Escribe qué podrás hacer al terminar.</a:t>
            </a:r>
          </a:p>
        </p:txBody>
      </p:sp>
      <p:sp>
        <p:nvSpPr>
          <p:cNvPr id="20" name="TextBox 19"/>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1" name="Oval 20"/>
          <p:cNvSpPr/>
          <p:nvPr/>
        </p:nvSpPr>
        <p:spPr>
          <a:xfrm>
            <a:off x="5806440"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3" name="Rounded Rectangle 22"/>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Estudia</a:t>
            </a:r>
          </a:p>
        </p:txBody>
      </p:sp>
      <p:sp>
        <p:nvSpPr>
          <p:cNvPr id="25" name="TextBox 24"/>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Usa documentación, curso o mentoría.</a:t>
            </a:r>
          </a:p>
        </p:txBody>
      </p:sp>
      <p:sp>
        <p:nvSpPr>
          <p:cNvPr id="26" name="TextBox 25"/>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7" name="Oval 26"/>
          <p:cNvSpPr/>
          <p:nvPr/>
        </p:nvSpPr>
        <p:spPr>
          <a:xfrm>
            <a:off x="8063179" y="1325880"/>
            <a:ext cx="585216" cy="585216"/>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29" name="Rounded Rectangle 28"/>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Practica</a:t>
            </a:r>
          </a:p>
        </p:txBody>
      </p:sp>
      <p:sp>
        <p:nvSpPr>
          <p:cNvPr id="31" name="TextBox 30"/>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Resuelve una tarea semejante al trabajo.</a:t>
            </a:r>
          </a:p>
        </p:txBody>
      </p:sp>
      <p:sp>
        <p:nvSpPr>
          <p:cNvPr id="32" name="TextBox 31"/>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3" name="Oval 32"/>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5" name="Rounded Rectangle 34"/>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Demuestra</a:t>
            </a:r>
          </a:p>
        </p:txBody>
      </p:sp>
      <p:sp>
        <p:nvSpPr>
          <p:cNvPr id="37" name="TextBox 36"/>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Publica evidencia y solicita feedback.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24</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Técnicas para aprender sin depender de un curso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Ser autónomo no significa estar solo: significa dirigir el proceso y buscar ayuda de forma intencional.</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24</a:t>
            </a:r>
          </a:p>
        </p:txBody>
      </p:sp>
      <p:sp>
        <p:nvSpPr>
          <p:cNvPr id="9" name="Rounded Rectangle 8"/>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Documentación primero</a:t>
            </a:r>
          </a:p>
        </p:txBody>
      </p:sp>
      <p:sp>
        <p:nvSpPr>
          <p:cNvPr id="14" name="TextBox 13"/>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Lee la guía oficial, reproduce un ejemplo y explica con tus palabras.</a:t>
            </a:r>
          </a:p>
        </p:txBody>
      </p:sp>
      <p:sp>
        <p:nvSpPr>
          <p:cNvPr id="15" name="Rounded Rectangle 14"/>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Práctica deliberada</a:t>
            </a:r>
          </a:p>
        </p:txBody>
      </p:sp>
      <p:sp>
        <p:nvSpPr>
          <p:cNvPr id="20" name="TextBox 19"/>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Aísla una habilidad, repite con variaciones y registra errores.</a:t>
            </a:r>
          </a:p>
        </p:txBody>
      </p:sp>
      <p:sp>
        <p:nvSpPr>
          <p:cNvPr id="21" name="Rounded Rectangle 20"/>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Aprender construyendo</a:t>
            </a:r>
          </a:p>
        </p:txBody>
      </p:sp>
      <p:sp>
        <p:nvSpPr>
          <p:cNvPr id="26" name="TextBox 25"/>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Cada tema debe mejorar un proyecto conectado con el puesto objetivo.</a:t>
            </a:r>
          </a:p>
        </p:txBody>
      </p:sp>
      <p:sp>
        <p:nvSpPr>
          <p:cNvPr id="27" name="Rounded Rectangle 26"/>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Recuperación activa</a:t>
            </a:r>
          </a:p>
        </p:txBody>
      </p:sp>
      <p:sp>
        <p:nvSpPr>
          <p:cNvPr id="32" name="TextBox 31"/>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Cierra el recurso y explica o resuelve sin copiar.</a:t>
            </a:r>
          </a:p>
        </p:txBody>
      </p:sp>
      <p:sp>
        <p:nvSpPr>
          <p:cNvPr id="33" name="Rounded Rectangle 32"/>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95216"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69536"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7" name="TextBox 36"/>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Feedback temprano</a:t>
            </a:r>
          </a:p>
        </p:txBody>
      </p:sp>
      <p:sp>
        <p:nvSpPr>
          <p:cNvPr id="38" name="TextBox 37"/>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Comparte código, casos y reportes antes de considerarlos terminados.</a:t>
            </a:r>
          </a:p>
        </p:txBody>
      </p:sp>
      <p:sp>
        <p:nvSpPr>
          <p:cNvPr id="39" name="Rounded Rectangle 38"/>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3" name="TextBox 42"/>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Bitácora de aprendizaje</a:t>
            </a:r>
          </a:p>
        </p:txBody>
      </p:sp>
      <p:sp>
        <p:nvSpPr>
          <p:cNvPr id="44" name="TextBox 43"/>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Registra qué intentaste, qué falló, qué cambió y qué sigue.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25</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Cómo encontrar oportunidades de manera sistemática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Buscar empleo también es un proceso que se mide y mejora.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25</a:t>
            </a:r>
          </a:p>
        </p:txBody>
      </p:sp>
      <p:sp>
        <p:nvSpPr>
          <p:cNvPr id="9" name="Rounded Rectangle 8"/>
          <p:cNvSpPr/>
          <p:nvPr/>
        </p:nvSpPr>
        <p:spPr>
          <a:xfrm>
            <a:off x="713232" y="1371600"/>
            <a:ext cx="109728" cy="4224528"/>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1389888"/>
            <a:ext cx="6583680" cy="4370832"/>
          </a:xfrm>
          <a:prstGeom prst="rect">
            <a:avLst/>
          </a:prstGeom>
          <a:noFill/>
        </p:spPr>
        <p:txBody>
          <a:bodyPr wrap="square" lIns="36576" rIns="36576">
            <a:spAutoFit/>
          </a:bodyPr>
          <a:lstStyle/>
          <a:p>
            <a:pPr>
              <a:lnSpc>
                <a:spcPct val="105000"/>
              </a:lnSpc>
              <a:spcAft>
                <a:spcPts val="1000"/>
              </a:spcAft>
              <a:defRPr sz="1720">
                <a:solidFill>
                  <a:srgbClr val="16263C"/>
                </a:solidFill>
                <a:latin typeface="Aptos"/>
              </a:defRPr>
            </a:pPr>
            <a:r>
              <a:t>•  Diversifica: LinkedIn, Indeed, Glassdoor, Get on Board, Wellfound, Dice, RD Trabaja y Concursa.</a:t>
            </a:r>
          </a:p>
          <a:p>
            <a:pPr>
              <a:lnSpc>
                <a:spcPct val="105000"/>
              </a:lnSpc>
              <a:spcAft>
                <a:spcPts val="1000"/>
              </a:spcAft>
              <a:defRPr sz="1720">
                <a:solidFill>
                  <a:srgbClr val="16263C"/>
                </a:solidFill>
                <a:latin typeface="Aptos"/>
              </a:defRPr>
            </a:pPr>
            <a:r>
              <a:t>•  Consulta «Trabaja con nosotros» en portales institucionales de empresas públicas y privadas.</a:t>
            </a:r>
          </a:p>
          <a:p>
            <a:pPr>
              <a:lnSpc>
                <a:spcPct val="105000"/>
              </a:lnSpc>
              <a:spcAft>
                <a:spcPts val="1000"/>
              </a:spcAft>
              <a:defRPr sz="1720">
                <a:solidFill>
                  <a:srgbClr val="16263C"/>
                </a:solidFill>
                <a:latin typeface="Aptos"/>
              </a:defRPr>
            </a:pPr>
            <a:r>
              <a:t>•  Define un plan A y un plan B; aplica a perfiles relacionados con competencias transferibles.</a:t>
            </a:r>
          </a:p>
          <a:p>
            <a:pPr>
              <a:lnSpc>
                <a:spcPct val="105000"/>
              </a:lnSpc>
              <a:spcAft>
                <a:spcPts val="1000"/>
              </a:spcAft>
              <a:defRPr sz="1720">
                <a:solidFill>
                  <a:srgbClr val="16263C"/>
                </a:solidFill>
                <a:latin typeface="Aptos"/>
              </a:defRPr>
            </a:pPr>
            <a:r>
              <a:t>•  Alinea tu LinkedIn con el puesto objetivo y adapta el CV a cada tipo de vacante.</a:t>
            </a:r>
          </a:p>
          <a:p>
            <a:pPr>
              <a:lnSpc>
                <a:spcPct val="105000"/>
              </a:lnSpc>
              <a:spcAft>
                <a:spcPts val="1000"/>
              </a:spcAft>
              <a:defRPr sz="1720">
                <a:solidFill>
                  <a:srgbClr val="16263C"/>
                </a:solidFill>
                <a:latin typeface="Aptos"/>
              </a:defRPr>
            </a:pPr>
            <a:r>
              <a:t>•  Usa Glassdoor para contrastar referencias positivas y negativas; busca patrones, no opiniones aisladas.</a:t>
            </a:r>
          </a:p>
          <a:p>
            <a:pPr>
              <a:lnSpc>
                <a:spcPct val="105000"/>
              </a:lnSpc>
              <a:spcAft>
                <a:spcPts val="1000"/>
              </a:spcAft>
              <a:defRPr sz="1720">
                <a:solidFill>
                  <a:srgbClr val="16263C"/>
                </a:solidFill>
                <a:latin typeface="Aptos"/>
              </a:defRPr>
            </a:pPr>
            <a:r>
              <a:t>•  Mide aplicaciones y cultiva networking, proyectos, servicios o un emprendimiento propio.</a:t>
            </a:r>
          </a:p>
        </p:txBody>
      </p:sp>
      <p:sp>
        <p:nvSpPr>
          <p:cNvPr id="11" name="Rounded Rectangle 10"/>
          <p:cNvSpPr/>
          <p:nvPr/>
        </p:nvSpPr>
        <p:spPr>
          <a:xfrm>
            <a:off x="8028431" y="1444752"/>
            <a:ext cx="3401568" cy="3986784"/>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5904" y="1801368"/>
            <a:ext cx="2697480" cy="292608"/>
          </a:xfrm>
          <a:prstGeom prst="rect">
            <a:avLst/>
          </a:prstGeom>
          <a:noFill/>
        </p:spPr>
        <p:txBody>
          <a:bodyPr wrap="square" anchor="t" lIns="36576" rIns="36576" tIns="36576" bIns="36576">
            <a:spAutoFit/>
          </a:bodyPr>
          <a:lstStyle/>
          <a:p>
            <a:pPr algn="l"/>
            <a:r>
              <a:rPr sz="1200" b="1" i="0">
                <a:solidFill>
                  <a:srgbClr val="31CADB"/>
                </a:solidFill>
                <a:latin typeface="Aptos"/>
              </a:rPr>
              <a:t>PLAN A + PLAN B</a:t>
            </a:r>
          </a:p>
        </p:txBody>
      </p:sp>
      <p:sp>
        <p:nvSpPr>
          <p:cNvPr id="13" name="TextBox 12"/>
          <p:cNvSpPr txBox="1"/>
          <p:nvPr/>
        </p:nvSpPr>
        <p:spPr>
          <a:xfrm>
            <a:off x="8375904" y="2359152"/>
            <a:ext cx="2670048" cy="2468880"/>
          </a:xfrm>
          <a:prstGeom prst="rect">
            <a:avLst/>
          </a:prstGeom>
          <a:noFill/>
        </p:spPr>
        <p:txBody>
          <a:bodyPr wrap="square" anchor="t" lIns="36576" rIns="36576" tIns="36576" bIns="36576">
            <a:spAutoFit/>
          </a:bodyPr>
          <a:lstStyle/>
          <a:p>
            <a:pPr algn="l"/>
            <a:r>
              <a:rPr sz="2000" b="1" i="0">
                <a:solidFill>
                  <a:srgbClr val="FFFFFF"/>
                </a:solidFill>
                <a:latin typeface="Aptos"/>
              </a:rPr>
              <a:t>Posición objetivo → perfil alternativo → proyecto o emprendimiento</a:t>
            </a:r>
          </a:p>
        </p:txBody>
      </p:sp>
      <p:sp>
        <p:nvSpPr>
          <p:cNvPr id="14" name="TextBox 13"/>
          <p:cNvSpPr txBox="1"/>
          <p:nvPr/>
        </p:nvSpPr>
        <p:spPr>
          <a:xfrm>
            <a:off x="8375904" y="4791456"/>
            <a:ext cx="2670048" cy="384048"/>
          </a:xfrm>
          <a:prstGeom prst="rect">
            <a:avLst/>
          </a:prstGeom>
          <a:noFill/>
        </p:spPr>
        <p:txBody>
          <a:bodyPr wrap="square" anchor="t" lIns="36576" rIns="36576" tIns="36576" bIns="36576">
            <a:spAutoFit/>
          </a:bodyPr>
          <a:lstStyle/>
          <a:p>
            <a:pPr algn="l"/>
            <a:r>
              <a:rPr sz="1100" b="0" i="0">
                <a:solidFill>
                  <a:srgbClr val="E0F5F9"/>
                </a:solidFill>
                <a:latin typeface="Aptos"/>
              </a:rPr>
              <a:t>Prepárate, aplica, negocia y ajusta.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35</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CV, LinkedIn y GitHub alineados con la vacante</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En pocos segundos debe quedar claro qué rol buscas, qué sabes hacer y qué evidencia posees.</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35</a:t>
            </a:r>
          </a:p>
        </p:txBody>
      </p:sp>
      <p:sp>
        <p:nvSpPr>
          <p:cNvPr id="9" name="Rounded Rectangle 8"/>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INCLUYE</a:t>
            </a:r>
          </a:p>
        </p:txBody>
      </p:sp>
      <p:sp>
        <p:nvSpPr>
          <p:cNvPr id="12" name="TextBox 11"/>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Titular alineado con el puesto</a:t>
            </a:r>
          </a:p>
          <a:p>
            <a:pPr>
              <a:lnSpc>
                <a:spcPct val="105000"/>
              </a:lnSpc>
              <a:spcAft>
                <a:spcPts val="900"/>
              </a:spcAft>
              <a:defRPr sz="1600">
                <a:solidFill>
                  <a:srgbClr val="16263C"/>
                </a:solidFill>
                <a:latin typeface="Aptos"/>
              </a:defRPr>
            </a:pPr>
            <a:r>
              <a:t>•  Resumen breve con valor y nivel</a:t>
            </a:r>
          </a:p>
          <a:p>
            <a:pPr>
              <a:lnSpc>
                <a:spcPct val="105000"/>
              </a:lnSpc>
              <a:spcAft>
                <a:spcPts val="900"/>
              </a:spcAft>
              <a:defRPr sz="1600">
                <a:solidFill>
                  <a:srgbClr val="16263C"/>
                </a:solidFill>
                <a:latin typeface="Aptos"/>
              </a:defRPr>
            </a:pPr>
            <a:r>
              <a:t>•  Herramientas que realmente utilizas</a:t>
            </a:r>
          </a:p>
          <a:p>
            <a:pPr>
              <a:lnSpc>
                <a:spcPct val="105000"/>
              </a:lnSpc>
              <a:spcAft>
                <a:spcPts val="900"/>
              </a:spcAft>
              <a:defRPr sz="1600">
                <a:solidFill>
                  <a:srgbClr val="16263C"/>
                </a:solidFill>
                <a:latin typeface="Aptos"/>
              </a:defRPr>
            </a:pPr>
            <a:r>
              <a:t>•  Proyectos y logros con evidencia</a:t>
            </a:r>
          </a:p>
          <a:p>
            <a:pPr>
              <a:lnSpc>
                <a:spcPct val="105000"/>
              </a:lnSpc>
              <a:spcAft>
                <a:spcPts val="900"/>
              </a:spcAft>
              <a:defRPr sz="1600">
                <a:solidFill>
                  <a:srgbClr val="16263C"/>
                </a:solidFill>
                <a:latin typeface="Aptos"/>
              </a:defRPr>
            </a:pPr>
            <a:r>
              <a:t>•  Enlaces a LinkedIn y GitHub</a:t>
            </a:r>
          </a:p>
        </p:txBody>
      </p:sp>
      <p:sp>
        <p:nvSpPr>
          <p:cNvPr id="13" name="TextBox 12"/>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EVITA</a:t>
            </a:r>
          </a:p>
        </p:txBody>
      </p:sp>
      <p:sp>
        <p:nvSpPr>
          <p:cNvPr id="14" name="TextBox 13"/>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Lista interminable de cursos</a:t>
            </a:r>
          </a:p>
          <a:p>
            <a:pPr>
              <a:lnSpc>
                <a:spcPct val="105000"/>
              </a:lnSpc>
              <a:spcAft>
                <a:spcPts val="900"/>
              </a:spcAft>
              <a:defRPr sz="1600">
                <a:solidFill>
                  <a:srgbClr val="FFFFFF"/>
                </a:solidFill>
                <a:latin typeface="Aptos"/>
              </a:defRPr>
            </a:pPr>
            <a:r>
              <a:t>•  Herramientas sin contexto</a:t>
            </a:r>
          </a:p>
          <a:p>
            <a:pPr>
              <a:lnSpc>
                <a:spcPct val="105000"/>
              </a:lnSpc>
              <a:spcAft>
                <a:spcPts val="900"/>
              </a:spcAft>
              <a:defRPr sz="1600">
                <a:solidFill>
                  <a:srgbClr val="FFFFFF"/>
                </a:solidFill>
                <a:latin typeface="Aptos"/>
              </a:defRPr>
            </a:pPr>
            <a:r>
              <a:t>•  Responsabilidades copiadas</a:t>
            </a:r>
          </a:p>
          <a:p>
            <a:pPr>
              <a:lnSpc>
                <a:spcPct val="105000"/>
              </a:lnSpc>
              <a:spcAft>
                <a:spcPts val="900"/>
              </a:spcAft>
              <a:defRPr sz="1600">
                <a:solidFill>
                  <a:srgbClr val="FFFFFF"/>
                </a:solidFill>
                <a:latin typeface="Aptos"/>
              </a:defRPr>
            </a:pPr>
            <a:r>
              <a:t>•  Diseño difícil de leer</a:t>
            </a:r>
          </a:p>
          <a:p>
            <a:pPr>
              <a:lnSpc>
                <a:spcPct val="105000"/>
              </a:lnSpc>
              <a:spcAft>
                <a:spcPts val="900"/>
              </a:spcAft>
              <a:defRPr sz="1600">
                <a:solidFill>
                  <a:srgbClr val="FFFFFF"/>
                </a:solidFill>
                <a:latin typeface="Aptos"/>
              </a:defRPr>
            </a:pPr>
            <a:r>
              <a:t>•  Datos irrelevantes o sensibles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36</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Cómo prepararte para la entrevista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Las empresas evalúan conocimiento, razonamiento, comunicación y capacidad de aprendizaje.</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36</a:t>
            </a:r>
          </a:p>
        </p:txBody>
      </p:sp>
      <p:sp>
        <p:nvSpPr>
          <p:cNvPr id="9" name="Rounded Rectangle 8"/>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Fundamentos</a:t>
            </a:r>
          </a:p>
        </p:txBody>
      </p:sp>
      <p:sp>
        <p:nvSpPr>
          <p:cNvPr id="14" name="TextBox 13"/>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Explica tipos de prueba, riesgo, severidad, prioridad y ciclo de defectos.</a:t>
            </a:r>
          </a:p>
        </p:txBody>
      </p:sp>
      <p:sp>
        <p:nvSpPr>
          <p:cNvPr id="15" name="Rounded Rectangle 14"/>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Casos reales</a:t>
            </a:r>
          </a:p>
        </p:txBody>
      </p:sp>
      <p:sp>
        <p:nvSpPr>
          <p:cNvPr id="20" name="TextBox 19"/>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Prepara historias sobre un error, una decisión, un conflicto y un aprendizaje.</a:t>
            </a:r>
          </a:p>
        </p:txBody>
      </p:sp>
      <p:sp>
        <p:nvSpPr>
          <p:cNvPr id="21" name="Rounded Rectangle 20"/>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Práctica técnica</a:t>
            </a:r>
          </a:p>
        </p:txBody>
      </p:sp>
      <p:sp>
        <p:nvSpPr>
          <p:cNvPr id="26" name="TextBox 25"/>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Diseña casos, consulta SQL, prueba API o explica automatización.</a:t>
            </a:r>
          </a:p>
        </p:txBody>
      </p:sp>
      <p:sp>
        <p:nvSpPr>
          <p:cNvPr id="27" name="Rounded Rectangle 26"/>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Pensamiento visible</a:t>
            </a:r>
          </a:p>
        </p:txBody>
      </p:sp>
      <p:sp>
        <p:nvSpPr>
          <p:cNvPr id="32" name="TextBox 31"/>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Explica preguntas, supuestos, prioridades y criterios.</a:t>
            </a:r>
          </a:p>
        </p:txBody>
      </p:sp>
      <p:sp>
        <p:nvSpPr>
          <p:cNvPr id="33" name="Rounded Rectangle 32"/>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95216"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69536"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7" name="TextBox 36"/>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Preguntas a la empresa</a:t>
            </a:r>
          </a:p>
        </p:txBody>
      </p:sp>
      <p:sp>
        <p:nvSpPr>
          <p:cNvPr id="38" name="TextBox 37"/>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Consulta proceso, equipo, calidad, herramientas, mentoría y expectativas.</a:t>
            </a:r>
          </a:p>
        </p:txBody>
      </p:sp>
      <p:sp>
        <p:nvSpPr>
          <p:cNvPr id="39" name="Rounded Rectangle 38"/>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3" name="TextBox 42"/>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Seguimiento</a:t>
            </a:r>
          </a:p>
        </p:txBody>
      </p:sp>
      <p:sp>
        <p:nvSpPr>
          <p:cNvPr id="44" name="TextBox 43"/>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Agradece, registra feedback y actualiza tu guía de estudio.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37</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Actualización continua y plan de 30 días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No persigas cada novedad. Construye un radar conectado con tu rol y revísalo periódicamente.</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Fuentes sugeridas: documentación oficial de herramientas, ISTQB, GitHub, OWASP, comunidades y vacantes objetivo.</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37</a:t>
            </a:r>
          </a:p>
        </p:txBody>
      </p:sp>
      <p:sp>
        <p:nvSpPr>
          <p:cNvPr id="10" name="Oval 9"/>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2" name="Rounded Rectangle 11"/>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Semanal</a:t>
            </a:r>
          </a:p>
        </p:txBody>
      </p:sp>
      <p:sp>
        <p:nvSpPr>
          <p:cNvPr id="14" name="TextBox 13"/>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Leer releases, una vacante y una fuente técnica.</a:t>
            </a:r>
          </a:p>
        </p:txBody>
      </p:sp>
      <p:sp>
        <p:nvSpPr>
          <p:cNvPr id="15" name="TextBox 14"/>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6" name="Oval 15"/>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8" name="Rounded Rectangle 17"/>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Mensual</a:t>
            </a:r>
          </a:p>
        </p:txBody>
      </p:sp>
      <p:sp>
        <p:nvSpPr>
          <p:cNvPr id="20" name="TextBox 19"/>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Actualizar matriz, proyecto, CV y perfil.</a:t>
            </a:r>
          </a:p>
        </p:txBody>
      </p:sp>
      <p:sp>
        <p:nvSpPr>
          <p:cNvPr id="21" name="TextBox 20"/>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2" name="Oval 21"/>
          <p:cNvSpPr/>
          <p:nvPr/>
        </p:nvSpPr>
        <p:spPr>
          <a:xfrm>
            <a:off x="5806440"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4" name="Rounded Rectangle 23"/>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Trimestral</a:t>
            </a:r>
          </a:p>
        </p:txBody>
      </p:sp>
      <p:sp>
        <p:nvSpPr>
          <p:cNvPr id="26" name="TextBox 25"/>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Revisar 20 vacantes y ajustar la ruta.</a:t>
            </a:r>
          </a:p>
        </p:txBody>
      </p:sp>
      <p:sp>
        <p:nvSpPr>
          <p:cNvPr id="27" name="TextBox 26"/>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8" name="Oval 27"/>
          <p:cNvSpPr/>
          <p:nvPr/>
        </p:nvSpPr>
        <p:spPr>
          <a:xfrm>
            <a:off x="8063179" y="1325880"/>
            <a:ext cx="585216" cy="585216"/>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30" name="Rounded Rectangle 29"/>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Comunidad</a:t>
            </a:r>
          </a:p>
        </p:txBody>
      </p:sp>
      <p:sp>
        <p:nvSpPr>
          <p:cNvPr id="32" name="TextBox 31"/>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Eventos, meetups, QA Dominicana y colaboración.</a:t>
            </a:r>
          </a:p>
        </p:txBody>
      </p:sp>
      <p:sp>
        <p:nvSpPr>
          <p:cNvPr id="33" name="TextBox 32"/>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4" name="Oval 33"/>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6" name="Rounded Rectangle 35"/>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Evidencia</a:t>
            </a:r>
          </a:p>
        </p:txBody>
      </p:sp>
      <p:sp>
        <p:nvSpPr>
          <p:cNvPr id="38" name="TextBox 37"/>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Publicar una mejora demostrable y reflexionar.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16</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POO y principios para automatización mantenible</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El objetivo no es escribir más código, sino crear pruebas claras, reutilizables y fáciles de cambiar.</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Conceptos aplicados a frameworks de automatización y código de pruebas.</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16</a:t>
            </a:r>
          </a:p>
        </p:txBody>
      </p:sp>
      <p:sp>
        <p:nvSpPr>
          <p:cNvPr id="10" name="Rounded Rectangle 9"/>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POO</a:t>
            </a:r>
          </a:p>
        </p:txBody>
      </p:sp>
      <p:sp>
        <p:nvSpPr>
          <p:cNvPr id="15" name="TextBox 14"/>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Encapsular datos y comportamientos en objetos como LoginPage, ApiClient o TestUser.</a:t>
            </a:r>
          </a:p>
        </p:txBody>
      </p:sp>
      <p:sp>
        <p:nvSpPr>
          <p:cNvPr id="16" name="Rounded Rectangle 15"/>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DRY</a:t>
            </a:r>
          </a:p>
        </p:txBody>
      </p:sp>
      <p:sp>
        <p:nvSpPr>
          <p:cNvPr id="21" name="TextBox 20"/>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No repetir pasos, localizadores o datos; extraer únicamente lo que realmente se reutiliza.</a:t>
            </a:r>
          </a:p>
        </p:txBody>
      </p:sp>
      <p:sp>
        <p:nvSpPr>
          <p:cNvPr id="22" name="Rounded Rectangle 21"/>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77199" y="1353312"/>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351520" y="1609344"/>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KISS</a:t>
            </a:r>
          </a:p>
        </p:txBody>
      </p:sp>
      <p:sp>
        <p:nvSpPr>
          <p:cNvPr id="27" name="TextBox 26"/>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Preferir una solución sencilla y legible frente a una arquitectura innecesariamente compleja.</a:t>
            </a:r>
          </a:p>
        </p:txBody>
      </p:sp>
      <p:sp>
        <p:nvSpPr>
          <p:cNvPr id="28" name="Rounded Rectangle 27"/>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13232" y="3694175"/>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87552" y="3950207"/>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SOLID</a:t>
            </a:r>
          </a:p>
        </p:txBody>
      </p:sp>
      <p:sp>
        <p:nvSpPr>
          <p:cNvPr id="33" name="TextBox 32"/>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Separar responsabilidades, extender sin romper y depender de abstracciones controlables.</a:t>
            </a:r>
          </a:p>
        </p:txBody>
      </p:sp>
      <p:sp>
        <p:nvSpPr>
          <p:cNvPr id="34" name="Rounded Rectangle 33"/>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395216"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669536"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8" name="TextBox 37"/>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Código limpio</a:t>
            </a:r>
          </a:p>
        </p:txBody>
      </p:sp>
      <p:sp>
        <p:nvSpPr>
          <p:cNvPr id="39" name="TextBox 38"/>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Nombres expresivos, funciones pequeñas, errores claros y estructura consistente.</a:t>
            </a:r>
          </a:p>
        </p:txBody>
      </p:sp>
      <p:sp>
        <p:nvSpPr>
          <p:cNvPr id="40" name="Rounded Rectangle 39"/>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4" name="TextBox 43"/>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Pruebas independientes</a:t>
            </a:r>
          </a:p>
        </p:txBody>
      </p:sp>
      <p:sp>
        <p:nvSpPr>
          <p:cNvPr id="45" name="TextBox 44"/>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Cada prueba prepara sus datos, valida un propósito y deja el ambiente controlado.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17</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Ejemplos: DRY, KISS, SOLID y patrones de diseño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Los patrones son soluciones conocidas; deben utilizarse cuando resuelven un problema real.</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Ejemplos orientativos; la arquitectura debe responder al tamaño y riesgo del proyecto.</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17</a:t>
            </a:r>
          </a:p>
        </p:txBody>
      </p:sp>
      <p:sp>
        <p:nvSpPr>
          <p:cNvPr id="10" name="Rectangle 9"/>
          <p:cNvSpPr/>
          <p:nvPr/>
        </p:nvSpPr>
        <p:spPr>
          <a:xfrm>
            <a:off x="548640" y="1353312"/>
            <a:ext cx="1645920" cy="530352"/>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90472"/>
            <a:ext cx="1463040" cy="228600"/>
          </a:xfrm>
          <a:prstGeom prst="rect">
            <a:avLst/>
          </a:prstGeom>
          <a:noFill/>
        </p:spPr>
        <p:txBody>
          <a:bodyPr wrap="square" anchor="t" lIns="36576" rIns="36576" tIns="36576" bIns="36576">
            <a:spAutoFit/>
          </a:bodyPr>
          <a:lstStyle/>
          <a:p>
            <a:pPr algn="ctr"/>
            <a:r>
              <a:rPr sz="1150" b="1" i="0">
                <a:solidFill>
                  <a:srgbClr val="FFFFFF"/>
                </a:solidFill>
                <a:latin typeface="Aptos"/>
              </a:rPr>
              <a:t>Concepto</a:t>
            </a:r>
          </a:p>
        </p:txBody>
      </p:sp>
      <p:sp>
        <p:nvSpPr>
          <p:cNvPr id="12" name="Rectangle 11"/>
          <p:cNvSpPr/>
          <p:nvPr/>
        </p:nvSpPr>
        <p:spPr>
          <a:xfrm>
            <a:off x="2194560" y="1353312"/>
            <a:ext cx="5943600"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1490472"/>
            <a:ext cx="5760720" cy="228600"/>
          </a:xfrm>
          <a:prstGeom prst="rect">
            <a:avLst/>
          </a:prstGeom>
          <a:noFill/>
        </p:spPr>
        <p:txBody>
          <a:bodyPr wrap="square" anchor="t" lIns="36576" rIns="36576" tIns="36576" bIns="36576">
            <a:spAutoFit/>
          </a:bodyPr>
          <a:lstStyle/>
          <a:p>
            <a:pPr algn="ctr"/>
            <a:r>
              <a:rPr sz="1150" b="1" i="0">
                <a:solidFill>
                  <a:srgbClr val="FFFFFF"/>
                </a:solidFill>
                <a:latin typeface="Aptos"/>
              </a:rPr>
              <a:t>Ejemplo aplicado a QA</a:t>
            </a:r>
          </a:p>
        </p:txBody>
      </p:sp>
      <p:sp>
        <p:nvSpPr>
          <p:cNvPr id="14" name="Rectangle 13"/>
          <p:cNvSpPr/>
          <p:nvPr/>
        </p:nvSpPr>
        <p:spPr>
          <a:xfrm>
            <a:off x="8138160" y="1353312"/>
            <a:ext cx="3493008"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490472"/>
            <a:ext cx="3310127" cy="228600"/>
          </a:xfrm>
          <a:prstGeom prst="rect">
            <a:avLst/>
          </a:prstGeom>
          <a:noFill/>
        </p:spPr>
        <p:txBody>
          <a:bodyPr wrap="square" anchor="t" lIns="36576" rIns="36576" tIns="36576" bIns="36576">
            <a:spAutoFit/>
          </a:bodyPr>
          <a:lstStyle/>
          <a:p>
            <a:pPr algn="ctr"/>
            <a:r>
              <a:rPr sz="1150" b="1" i="0">
                <a:solidFill>
                  <a:srgbClr val="FFFFFF"/>
                </a:solidFill>
                <a:latin typeface="Aptos"/>
              </a:rPr>
              <a:t>Beneficio</a:t>
            </a:r>
          </a:p>
        </p:txBody>
      </p:sp>
      <p:sp>
        <p:nvSpPr>
          <p:cNvPr id="16" name="Rectangle 15"/>
          <p:cNvSpPr/>
          <p:nvPr/>
        </p:nvSpPr>
        <p:spPr>
          <a:xfrm>
            <a:off x="548640" y="1883664"/>
            <a:ext cx="164592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975104"/>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POO</a:t>
            </a:r>
          </a:p>
        </p:txBody>
      </p:sp>
      <p:sp>
        <p:nvSpPr>
          <p:cNvPr id="18" name="Rectangle 17"/>
          <p:cNvSpPr/>
          <p:nvPr/>
        </p:nvSpPr>
        <p:spPr>
          <a:xfrm>
            <a:off x="2194560" y="1883664"/>
            <a:ext cx="594360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86000" y="1975104"/>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LoginPage agrupa campos y acciones de acceso</a:t>
            </a:r>
          </a:p>
        </p:txBody>
      </p:sp>
      <p:sp>
        <p:nvSpPr>
          <p:cNvPr id="20" name="Rectangle 19"/>
          <p:cNvSpPr/>
          <p:nvPr/>
        </p:nvSpPr>
        <p:spPr>
          <a:xfrm>
            <a:off x="8138160" y="1883664"/>
            <a:ext cx="34930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975104"/>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Encapsulación y lectura</a:t>
            </a:r>
          </a:p>
        </p:txBody>
      </p:sp>
      <p:sp>
        <p:nvSpPr>
          <p:cNvPr id="22" name="Rectangle 21"/>
          <p:cNvSpPr/>
          <p:nvPr/>
        </p:nvSpPr>
        <p:spPr>
          <a:xfrm>
            <a:off x="548640" y="2400300"/>
            <a:ext cx="164592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2491740"/>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DRY</a:t>
            </a:r>
          </a:p>
        </p:txBody>
      </p:sp>
      <p:sp>
        <p:nvSpPr>
          <p:cNvPr id="24" name="Rectangle 23"/>
          <p:cNvSpPr/>
          <p:nvPr/>
        </p:nvSpPr>
        <p:spPr>
          <a:xfrm>
            <a:off x="2194560" y="2400300"/>
            <a:ext cx="594360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0" y="2491740"/>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Una fixture reutiliza preparación y limpieza</a:t>
            </a:r>
          </a:p>
        </p:txBody>
      </p:sp>
      <p:sp>
        <p:nvSpPr>
          <p:cNvPr id="26" name="Rectangle 25"/>
          <p:cNvSpPr/>
          <p:nvPr/>
        </p:nvSpPr>
        <p:spPr>
          <a:xfrm>
            <a:off x="8138160" y="2400300"/>
            <a:ext cx="34930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2491740"/>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Menos duplicación</a:t>
            </a:r>
          </a:p>
        </p:txBody>
      </p:sp>
      <p:sp>
        <p:nvSpPr>
          <p:cNvPr id="28" name="Rectangle 27"/>
          <p:cNvSpPr/>
          <p:nvPr/>
        </p:nvSpPr>
        <p:spPr>
          <a:xfrm>
            <a:off x="548640" y="2916936"/>
            <a:ext cx="164592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008376"/>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KISS</a:t>
            </a:r>
          </a:p>
        </p:txBody>
      </p:sp>
      <p:sp>
        <p:nvSpPr>
          <p:cNvPr id="30" name="Rectangle 29"/>
          <p:cNvSpPr/>
          <p:nvPr/>
        </p:nvSpPr>
        <p:spPr>
          <a:xfrm>
            <a:off x="2194560" y="2916936"/>
            <a:ext cx="594360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286000" y="3008376"/>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Una prueba valida un comportamiento principal</a:t>
            </a:r>
          </a:p>
        </p:txBody>
      </p:sp>
      <p:sp>
        <p:nvSpPr>
          <p:cNvPr id="32" name="Rectangle 31"/>
          <p:cNvSpPr/>
          <p:nvPr/>
        </p:nvSpPr>
        <p:spPr>
          <a:xfrm>
            <a:off x="8138160" y="2916936"/>
            <a:ext cx="34930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3008376"/>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Diagnóstico más simple</a:t>
            </a:r>
          </a:p>
        </p:txBody>
      </p:sp>
      <p:sp>
        <p:nvSpPr>
          <p:cNvPr id="34" name="Rectangle 33"/>
          <p:cNvSpPr/>
          <p:nvPr/>
        </p:nvSpPr>
        <p:spPr>
          <a:xfrm>
            <a:off x="548640" y="3433572"/>
            <a:ext cx="164592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3525012"/>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SOLID</a:t>
            </a:r>
          </a:p>
        </p:txBody>
      </p:sp>
      <p:sp>
        <p:nvSpPr>
          <p:cNvPr id="36" name="Rectangle 35"/>
          <p:cNvSpPr/>
          <p:nvPr/>
        </p:nvSpPr>
        <p:spPr>
          <a:xfrm>
            <a:off x="2194560" y="3433572"/>
            <a:ext cx="594360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86000" y="3525012"/>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ApiClient, TestData y Reporter separados</a:t>
            </a:r>
          </a:p>
        </p:txBody>
      </p:sp>
      <p:sp>
        <p:nvSpPr>
          <p:cNvPr id="38" name="Rectangle 37"/>
          <p:cNvSpPr/>
          <p:nvPr/>
        </p:nvSpPr>
        <p:spPr>
          <a:xfrm>
            <a:off x="8138160" y="3433572"/>
            <a:ext cx="34930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0" y="3525012"/>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Cambio con menor impacto</a:t>
            </a:r>
          </a:p>
        </p:txBody>
      </p:sp>
      <p:sp>
        <p:nvSpPr>
          <p:cNvPr id="40" name="Rectangle 39"/>
          <p:cNvSpPr/>
          <p:nvPr/>
        </p:nvSpPr>
        <p:spPr>
          <a:xfrm>
            <a:off x="548640" y="3950208"/>
            <a:ext cx="164592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 y="4041648"/>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Page Object</a:t>
            </a:r>
          </a:p>
        </p:txBody>
      </p:sp>
      <p:sp>
        <p:nvSpPr>
          <p:cNvPr id="42" name="Rectangle 41"/>
          <p:cNvSpPr/>
          <p:nvPr/>
        </p:nvSpPr>
        <p:spPr>
          <a:xfrm>
            <a:off x="2194560" y="3950208"/>
            <a:ext cx="594360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286000" y="4041648"/>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Cada pantalla expone acciones del usuario</a:t>
            </a:r>
          </a:p>
        </p:txBody>
      </p:sp>
      <p:sp>
        <p:nvSpPr>
          <p:cNvPr id="44" name="Rectangle 43"/>
          <p:cNvSpPr/>
          <p:nvPr/>
        </p:nvSpPr>
        <p:spPr>
          <a:xfrm>
            <a:off x="8138160" y="3950208"/>
            <a:ext cx="34930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0" y="4041648"/>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Localizadores centralizados</a:t>
            </a:r>
          </a:p>
        </p:txBody>
      </p:sp>
      <p:sp>
        <p:nvSpPr>
          <p:cNvPr id="46" name="Rectangle 45"/>
          <p:cNvSpPr/>
          <p:nvPr/>
        </p:nvSpPr>
        <p:spPr>
          <a:xfrm>
            <a:off x="548640" y="4466844"/>
            <a:ext cx="164592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4558283"/>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Builder</a:t>
            </a:r>
          </a:p>
        </p:txBody>
      </p:sp>
      <p:sp>
        <p:nvSpPr>
          <p:cNvPr id="48" name="Rectangle 47"/>
          <p:cNvSpPr/>
          <p:nvPr/>
        </p:nvSpPr>
        <p:spPr>
          <a:xfrm>
            <a:off x="2194560" y="4466844"/>
            <a:ext cx="594360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86000" y="4558283"/>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TestUserBuilder crea usuarios con variaciones</a:t>
            </a:r>
          </a:p>
        </p:txBody>
      </p:sp>
      <p:sp>
        <p:nvSpPr>
          <p:cNvPr id="50" name="Rectangle 49"/>
          <p:cNvSpPr/>
          <p:nvPr/>
        </p:nvSpPr>
        <p:spPr>
          <a:xfrm>
            <a:off x="8138160" y="4466844"/>
            <a:ext cx="34930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600" y="4558283"/>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Datos legibles y flexibles</a:t>
            </a:r>
          </a:p>
        </p:txBody>
      </p:sp>
      <p:sp>
        <p:nvSpPr>
          <p:cNvPr id="52" name="Rectangle 51"/>
          <p:cNvSpPr/>
          <p:nvPr/>
        </p:nvSpPr>
        <p:spPr>
          <a:xfrm>
            <a:off x="548640" y="4983479"/>
            <a:ext cx="164592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5074919"/>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Factory</a:t>
            </a:r>
          </a:p>
        </p:txBody>
      </p:sp>
      <p:sp>
        <p:nvSpPr>
          <p:cNvPr id="54" name="Rectangle 53"/>
          <p:cNvSpPr/>
          <p:nvPr/>
        </p:nvSpPr>
        <p:spPr>
          <a:xfrm>
            <a:off x="2194560" y="4983479"/>
            <a:ext cx="5943600"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86000" y="5074919"/>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BrowserFactory selecciona navegador o ambiente</a:t>
            </a:r>
          </a:p>
        </p:txBody>
      </p:sp>
      <p:sp>
        <p:nvSpPr>
          <p:cNvPr id="56" name="Rectangle 55"/>
          <p:cNvSpPr/>
          <p:nvPr/>
        </p:nvSpPr>
        <p:spPr>
          <a:xfrm>
            <a:off x="8138160" y="4983479"/>
            <a:ext cx="34930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0" y="5074919"/>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Creación controlada</a:t>
            </a:r>
          </a:p>
        </p:txBody>
      </p:sp>
      <p:sp>
        <p:nvSpPr>
          <p:cNvPr id="58" name="Rectangle 57"/>
          <p:cNvSpPr/>
          <p:nvPr/>
        </p:nvSpPr>
        <p:spPr>
          <a:xfrm>
            <a:off x="548640" y="5500116"/>
            <a:ext cx="164592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5591555"/>
            <a:ext cx="1463040" cy="370331"/>
          </a:xfrm>
          <a:prstGeom prst="rect">
            <a:avLst/>
          </a:prstGeom>
          <a:noFill/>
        </p:spPr>
        <p:txBody>
          <a:bodyPr wrap="square" anchor="ctr" lIns="36576" rIns="36576" tIns="36576" bIns="36576">
            <a:spAutoFit/>
          </a:bodyPr>
          <a:lstStyle/>
          <a:p>
            <a:pPr algn="l"/>
            <a:r>
              <a:rPr sz="1050" b="1" i="0">
                <a:solidFill>
                  <a:srgbClr val="16263C"/>
                </a:solidFill>
                <a:latin typeface="Aptos"/>
              </a:rPr>
              <a:t>Strategy</a:t>
            </a:r>
          </a:p>
        </p:txBody>
      </p:sp>
      <p:sp>
        <p:nvSpPr>
          <p:cNvPr id="60" name="Rectangle 59"/>
          <p:cNvSpPr/>
          <p:nvPr/>
        </p:nvSpPr>
        <p:spPr>
          <a:xfrm>
            <a:off x="2194560" y="5500116"/>
            <a:ext cx="5943600"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86000" y="5591555"/>
            <a:ext cx="5760720" cy="370331"/>
          </a:xfrm>
          <a:prstGeom prst="rect">
            <a:avLst/>
          </a:prstGeom>
          <a:noFill/>
        </p:spPr>
        <p:txBody>
          <a:bodyPr wrap="square" anchor="ctr" lIns="36576" rIns="36576" tIns="36576" bIns="36576">
            <a:spAutoFit/>
          </a:bodyPr>
          <a:lstStyle/>
          <a:p>
            <a:pPr algn="l"/>
            <a:r>
              <a:rPr sz="1050" b="0" i="0">
                <a:solidFill>
                  <a:srgbClr val="16263C"/>
                </a:solidFill>
                <a:latin typeface="Aptos"/>
              </a:rPr>
              <a:t>PaymentStrategy cambia la forma de pago</a:t>
            </a:r>
          </a:p>
        </p:txBody>
      </p:sp>
      <p:sp>
        <p:nvSpPr>
          <p:cNvPr id="62" name="Rectangle 61"/>
          <p:cNvSpPr/>
          <p:nvPr/>
        </p:nvSpPr>
        <p:spPr>
          <a:xfrm>
            <a:off x="8138160" y="5500116"/>
            <a:ext cx="34930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229600" y="5591555"/>
            <a:ext cx="3310127" cy="370331"/>
          </a:xfrm>
          <a:prstGeom prst="rect">
            <a:avLst/>
          </a:prstGeom>
          <a:noFill/>
        </p:spPr>
        <p:txBody>
          <a:bodyPr wrap="square" anchor="ctr" lIns="36576" rIns="36576" tIns="36576" bIns="36576">
            <a:spAutoFit/>
          </a:bodyPr>
          <a:lstStyle/>
          <a:p>
            <a:pPr algn="l"/>
            <a:r>
              <a:rPr sz="1050" b="0" i="0">
                <a:solidFill>
                  <a:srgbClr val="16263C"/>
                </a:solidFill>
                <a:latin typeface="Aptos"/>
              </a:rPr>
              <a:t>Comportamientos intercambiables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08</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Vacantes tecnológicas: 2015-2024 y desde 2024 con IA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Los puestos anteriores continúan, pero ahora incorporan IA, verificación y nuevas responsabilidades.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Tiempos orientativos para discusión, no mediciones universales. Fuentes de contexto: WEF 2025, LinkedIn 2025 e ISTQB 2026.</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08</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POSICIONES FRECUENTES 2015–2024</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Software developer, frontend, backend y full-stack</a:t>
            </a:r>
          </a:p>
          <a:p>
            <a:pPr>
              <a:lnSpc>
                <a:spcPct val="105000"/>
              </a:lnSpc>
              <a:spcAft>
                <a:spcPts val="900"/>
              </a:spcAft>
              <a:defRPr sz="1600">
                <a:solidFill>
                  <a:srgbClr val="16263C"/>
                </a:solidFill>
                <a:latin typeface="Aptos"/>
              </a:defRPr>
            </a:pPr>
            <a:r>
              <a:t>•  QA analyst, automation engineer y SDET</a:t>
            </a:r>
          </a:p>
          <a:p>
            <a:pPr>
              <a:lnSpc>
                <a:spcPct val="105000"/>
              </a:lnSpc>
              <a:spcAft>
                <a:spcPts val="900"/>
              </a:spcAft>
              <a:defRPr sz="1600">
                <a:solidFill>
                  <a:srgbClr val="16263C"/>
                </a:solidFill>
                <a:latin typeface="Aptos"/>
              </a:defRPr>
            </a:pPr>
            <a:r>
              <a:t>•  Business analyst y systems analyst</a:t>
            </a:r>
          </a:p>
          <a:p>
            <a:pPr>
              <a:lnSpc>
                <a:spcPct val="105000"/>
              </a:lnSpc>
              <a:spcAft>
                <a:spcPts val="900"/>
              </a:spcAft>
              <a:defRPr sz="1600">
                <a:solidFill>
                  <a:srgbClr val="16263C"/>
                </a:solidFill>
                <a:latin typeface="Aptos"/>
              </a:defRPr>
            </a:pPr>
            <a:r>
              <a:t>•  Data analyst, BI developer y data engineer</a:t>
            </a:r>
          </a:p>
          <a:p>
            <a:pPr>
              <a:lnSpc>
                <a:spcPct val="105000"/>
              </a:lnSpc>
              <a:spcAft>
                <a:spcPts val="900"/>
              </a:spcAft>
              <a:defRPr sz="1600">
                <a:solidFill>
                  <a:srgbClr val="16263C"/>
                </a:solidFill>
                <a:latin typeface="Aptos"/>
              </a:defRPr>
            </a:pPr>
            <a:r>
              <a:t>•  UX/UI designer y UX researcher</a:t>
            </a:r>
          </a:p>
          <a:p>
            <a:pPr>
              <a:lnSpc>
                <a:spcPct val="105000"/>
              </a:lnSpc>
              <a:spcAft>
                <a:spcPts val="900"/>
              </a:spcAft>
              <a:defRPr sz="1600">
                <a:solidFill>
                  <a:srgbClr val="16263C"/>
                </a:solidFill>
                <a:latin typeface="Aptos"/>
              </a:defRPr>
            </a:pPr>
            <a:r>
              <a:t>•  DevOps, cloud y cybersecurity analyst</a:t>
            </a:r>
          </a:p>
          <a:p>
            <a:pPr>
              <a:lnSpc>
                <a:spcPct val="105000"/>
              </a:lnSpc>
              <a:spcAft>
                <a:spcPts val="900"/>
              </a:spcAft>
              <a:defRPr sz="1600">
                <a:solidFill>
                  <a:srgbClr val="16263C"/>
                </a:solidFill>
                <a:latin typeface="Aptos"/>
              </a:defRPr>
            </a:pPr>
            <a:r>
              <a:t>•  Project manager, Scrum, soporte y technical writer</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POSICIONES Y CAPACIDADES 2024–ACTUALIDAD</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AI-assisted developer y GenAI engineer</a:t>
            </a:r>
          </a:p>
          <a:p>
            <a:pPr>
              <a:lnSpc>
                <a:spcPct val="105000"/>
              </a:lnSpc>
              <a:spcAft>
                <a:spcPts val="900"/>
              </a:spcAft>
              <a:defRPr sz="1600">
                <a:solidFill>
                  <a:srgbClr val="FFFFFF"/>
                </a:solidFill>
                <a:latin typeface="Aptos"/>
              </a:defRPr>
            </a:pPr>
            <a:r>
              <a:t>•  AI-augmented QA, AI tester y LLM evaluator</a:t>
            </a:r>
          </a:p>
          <a:p>
            <a:pPr>
              <a:lnSpc>
                <a:spcPct val="105000"/>
              </a:lnSpc>
              <a:spcAft>
                <a:spcPts val="900"/>
              </a:spcAft>
              <a:defRPr sz="1600">
                <a:solidFill>
                  <a:srgbClr val="FFFFFF"/>
                </a:solidFill>
                <a:latin typeface="Aptos"/>
              </a:defRPr>
            </a:pPr>
            <a:r>
              <a:t>•  AI business analyst y AI product manager</a:t>
            </a:r>
          </a:p>
          <a:p>
            <a:pPr>
              <a:lnSpc>
                <a:spcPct val="105000"/>
              </a:lnSpc>
              <a:spcAft>
                <a:spcPts val="900"/>
              </a:spcAft>
              <a:defRPr sz="1600">
                <a:solidFill>
                  <a:srgbClr val="FFFFFF"/>
                </a:solidFill>
                <a:latin typeface="Aptos"/>
              </a:defRPr>
            </a:pPr>
            <a:r>
              <a:t>•  Data/ML/AI engineer y model validator</a:t>
            </a:r>
          </a:p>
          <a:p>
            <a:pPr>
              <a:lnSpc>
                <a:spcPct val="105000"/>
              </a:lnSpc>
              <a:spcAft>
                <a:spcPts val="900"/>
              </a:spcAft>
              <a:defRPr sz="1600">
                <a:solidFill>
                  <a:srgbClr val="FFFFFF"/>
                </a:solidFill>
                <a:latin typeface="Aptos"/>
              </a:defRPr>
            </a:pPr>
            <a:r>
              <a:t>•  AI UX y conversation designer</a:t>
            </a:r>
          </a:p>
          <a:p>
            <a:pPr>
              <a:lnSpc>
                <a:spcPct val="105000"/>
              </a:lnSpc>
              <a:spcAft>
                <a:spcPts val="900"/>
              </a:spcAft>
              <a:defRPr sz="1600">
                <a:solidFill>
                  <a:srgbClr val="FFFFFF"/>
                </a:solidFill>
                <a:latin typeface="Aptos"/>
              </a:defRPr>
            </a:pPr>
            <a:r>
              <a:t>•  MLOps, LLMOps y AI security</a:t>
            </a:r>
          </a:p>
          <a:p>
            <a:pPr>
              <a:lnSpc>
                <a:spcPct val="105000"/>
              </a:lnSpc>
              <a:spcAft>
                <a:spcPts val="900"/>
              </a:spcAft>
              <a:defRPr sz="1600">
                <a:solidFill>
                  <a:srgbClr val="FFFFFF"/>
                </a:solidFill>
                <a:latin typeface="Aptos"/>
              </a:defRPr>
            </a:pPr>
            <a:r>
              <a:t>•  Responsible AI y AI agent builder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21792" y="457200"/>
            <a:ext cx="3246120" cy="274320"/>
          </a:xfrm>
          <a:prstGeom prst="rect">
            <a:avLst/>
          </a:prstGeom>
          <a:noFill/>
        </p:spPr>
        <p:txBody>
          <a:bodyPr wrap="square" anchor="t" lIns="36576" rIns="36576" tIns="36576" bIns="36576">
            <a:spAutoFit/>
          </a:bodyPr>
          <a:lstStyle/>
          <a:p>
            <a:pPr algn="l"/>
            <a:r>
              <a:rPr sz="1200" b="1" i="0">
                <a:solidFill>
                  <a:srgbClr val="F4A03A"/>
                </a:solidFill>
                <a:latin typeface="Aptos"/>
              </a:rPr>
              <a:t>BENEFICIO ESPECIAL</a:t>
            </a:r>
          </a:p>
        </p:txBody>
      </p:sp>
      <p:sp>
        <p:nvSpPr>
          <p:cNvPr id="5" name="TextBox 4"/>
          <p:cNvSpPr txBox="1"/>
          <p:nvPr/>
        </p:nvSpPr>
        <p:spPr>
          <a:xfrm>
            <a:off x="621792" y="841248"/>
            <a:ext cx="8915400" cy="566928"/>
          </a:xfrm>
          <a:prstGeom prst="rect">
            <a:avLst/>
          </a:prstGeom>
          <a:noFill/>
        </p:spPr>
        <p:txBody>
          <a:bodyPr wrap="square" anchor="t" lIns="36576" rIns="36576" tIns="36576" bIns="36576">
            <a:spAutoFit/>
          </a:bodyPr>
          <a:lstStyle/>
          <a:p>
            <a:pPr algn="l"/>
            <a:r>
              <a:rPr sz="2700" b="1" i="0">
                <a:solidFill>
                  <a:srgbClr val="FFFFFF"/>
                </a:solidFill>
                <a:latin typeface="Aptos"/>
              </a:rPr>
              <a:t>Sorteo de 6 boletas · Testing 4 All 2026</a:t>
            </a:r>
          </a:p>
        </p:txBody>
      </p:sp>
      <p:sp>
        <p:nvSpPr>
          <p:cNvPr id="6" name="Oval 5"/>
          <p:cNvSpPr/>
          <p:nvPr/>
        </p:nvSpPr>
        <p:spPr>
          <a:xfrm>
            <a:off x="10149840" y="438912"/>
            <a:ext cx="1234440" cy="123444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0" y="658368"/>
            <a:ext cx="1234440" cy="420624"/>
          </a:xfrm>
          <a:prstGeom prst="rect">
            <a:avLst/>
          </a:prstGeom>
          <a:noFill/>
        </p:spPr>
        <p:txBody>
          <a:bodyPr wrap="square" anchor="t" lIns="36576" rIns="36576" tIns="36576" bIns="36576">
            <a:spAutoFit/>
          </a:bodyPr>
          <a:lstStyle/>
          <a:p>
            <a:pPr algn="ctr"/>
            <a:r>
              <a:rPr sz="2800" b="1" i="0">
                <a:solidFill>
                  <a:srgbClr val="07132A"/>
                </a:solidFill>
                <a:latin typeface="Aptos"/>
              </a:rPr>
              <a:t>6</a:t>
            </a:r>
          </a:p>
        </p:txBody>
      </p:sp>
      <p:sp>
        <p:nvSpPr>
          <p:cNvPr id="8" name="TextBox 7"/>
          <p:cNvSpPr txBox="1"/>
          <p:nvPr/>
        </p:nvSpPr>
        <p:spPr>
          <a:xfrm>
            <a:off x="9875520" y="1719072"/>
            <a:ext cx="1783080" cy="228600"/>
          </a:xfrm>
          <a:prstGeom prst="rect">
            <a:avLst/>
          </a:prstGeom>
          <a:noFill/>
        </p:spPr>
        <p:txBody>
          <a:bodyPr wrap="square" anchor="t" lIns="36576" rIns="36576" tIns="36576" bIns="36576">
            <a:spAutoFit/>
          </a:bodyPr>
          <a:lstStyle/>
          <a:p>
            <a:pPr algn="ctr"/>
            <a:r>
              <a:rPr sz="1000" b="1" i="0">
                <a:solidFill>
                  <a:srgbClr val="F4A03A"/>
                </a:solidFill>
                <a:latin typeface="Aptos"/>
              </a:rPr>
              <a:t>GANADORES</a:t>
            </a:r>
          </a:p>
        </p:txBody>
      </p:sp>
      <p:sp>
        <p:nvSpPr>
          <p:cNvPr id="9" name="Rounded Rectangle 8"/>
          <p:cNvSpPr/>
          <p:nvPr/>
        </p:nvSpPr>
        <p:spPr>
          <a:xfrm>
            <a:off x="621792" y="1664208"/>
            <a:ext cx="10972800" cy="658368"/>
          </a:xfrm>
          <a:prstGeom prst="roundRect">
            <a:avLst/>
          </a:prstGeom>
          <a:solidFill>
            <a:srgbClr val="122A4B"/>
          </a:solidFill>
          <a:ln>
            <a:solidFill>
              <a:srgbClr val="122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856231"/>
            <a:ext cx="10424160" cy="274320"/>
          </a:xfrm>
          <a:prstGeom prst="rect">
            <a:avLst/>
          </a:prstGeom>
          <a:noFill/>
        </p:spPr>
        <p:txBody>
          <a:bodyPr wrap="square" anchor="t" lIns="36576" rIns="36576" tIns="36576" bIns="36576">
            <a:spAutoFit/>
          </a:bodyPr>
          <a:lstStyle/>
          <a:p>
            <a:pPr algn="ctr"/>
            <a:r>
              <a:rPr sz="1450" b="1" i="0">
                <a:solidFill>
                  <a:srgbClr val="E0F5F9"/>
                </a:solidFill>
                <a:latin typeface="Aptos"/>
              </a:rPr>
              <a:t>11 de julio de 2026 · 9:00 a. m.–5:00 p. m. · QA Dominicana · Universidad APEC</a:t>
            </a:r>
          </a:p>
        </p:txBody>
      </p:sp>
      <p:sp>
        <p:nvSpPr>
          <p:cNvPr id="11" name="Rounded Rectangle 10"/>
          <p:cNvSpPr/>
          <p:nvPr/>
        </p:nvSpPr>
        <p:spPr>
          <a:xfrm>
            <a:off x="621792" y="2651760"/>
            <a:ext cx="2514600" cy="1993392"/>
          </a:xfrm>
          <a:prstGeom prst="roundRect">
            <a:avLst/>
          </a:prstGeom>
          <a:solidFill>
            <a:srgbClr val="122A4B"/>
          </a:solidFill>
          <a:ln>
            <a:solidFill>
              <a:srgbClr val="314D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2889504"/>
            <a:ext cx="512064" cy="51206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980944"/>
            <a:ext cx="512064" cy="256032"/>
          </a:xfrm>
          <a:prstGeom prst="rect">
            <a:avLst/>
          </a:prstGeom>
          <a:noFill/>
        </p:spPr>
        <p:txBody>
          <a:bodyPr wrap="square" anchor="t" lIns="36576" rIns="36576" tIns="36576" bIns="36576">
            <a:spAutoFit/>
          </a:bodyPr>
          <a:lstStyle/>
          <a:p>
            <a:pPr algn="ctr"/>
            <a:r>
              <a:rPr sz="1300" b="1" i="0">
                <a:solidFill>
                  <a:srgbClr val="07132A"/>
                </a:solidFill>
                <a:latin typeface="Aptos"/>
              </a:rPr>
              <a:t>1</a:t>
            </a:r>
          </a:p>
        </p:txBody>
      </p:sp>
      <p:sp>
        <p:nvSpPr>
          <p:cNvPr id="14" name="TextBox 13"/>
          <p:cNvSpPr txBox="1"/>
          <p:nvPr/>
        </p:nvSpPr>
        <p:spPr>
          <a:xfrm>
            <a:off x="1426464" y="2816352"/>
            <a:ext cx="1536192" cy="530352"/>
          </a:xfrm>
          <a:prstGeom prst="rect">
            <a:avLst/>
          </a:prstGeom>
          <a:noFill/>
        </p:spPr>
        <p:txBody>
          <a:bodyPr wrap="square" anchor="ctr" lIns="36576" rIns="36576" tIns="36576" bIns="36576">
            <a:spAutoFit/>
          </a:bodyPr>
          <a:lstStyle/>
          <a:p>
            <a:pPr algn="l"/>
            <a:r>
              <a:rPr sz="1280" b="1" i="0">
                <a:solidFill>
                  <a:srgbClr val="FFFFFF"/>
                </a:solidFill>
                <a:latin typeface="Aptos"/>
              </a:rPr>
              <a:t>Completar el form</a:t>
            </a:r>
          </a:p>
        </p:txBody>
      </p:sp>
      <p:sp>
        <p:nvSpPr>
          <p:cNvPr id="15" name="TextBox 14"/>
          <p:cNvSpPr txBox="1"/>
          <p:nvPr/>
        </p:nvSpPr>
        <p:spPr>
          <a:xfrm>
            <a:off x="877824" y="3493008"/>
            <a:ext cx="2002536" cy="841248"/>
          </a:xfrm>
          <a:prstGeom prst="rect">
            <a:avLst/>
          </a:prstGeom>
          <a:noFill/>
        </p:spPr>
        <p:txBody>
          <a:bodyPr wrap="square" anchor="t" lIns="36576" rIns="36576" tIns="36576" bIns="36576">
            <a:spAutoFit/>
          </a:bodyPr>
          <a:lstStyle/>
          <a:p>
            <a:pPr algn="ctr"/>
            <a:r>
              <a:rPr sz="1130" b="0" i="0">
                <a:solidFill>
                  <a:srgbClr val="E0F5F9"/>
                </a:solidFill>
                <a:latin typeface="Aptos"/>
              </a:rPr>
              <a:t>Registrar correctamente los datos solicitados durante la charla.</a:t>
            </a:r>
          </a:p>
        </p:txBody>
      </p:sp>
      <p:sp>
        <p:nvSpPr>
          <p:cNvPr id="16" name="Rounded Rectangle 15"/>
          <p:cNvSpPr/>
          <p:nvPr/>
        </p:nvSpPr>
        <p:spPr>
          <a:xfrm>
            <a:off x="3410712" y="2651760"/>
            <a:ext cx="2514600" cy="1993392"/>
          </a:xfrm>
          <a:prstGeom prst="roundRect">
            <a:avLst/>
          </a:prstGeom>
          <a:solidFill>
            <a:srgbClr val="122A4B"/>
          </a:solidFill>
          <a:ln>
            <a:solidFill>
              <a:srgbClr val="314D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11880" y="2889504"/>
            <a:ext cx="512064" cy="51206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1880" y="2980944"/>
            <a:ext cx="512064" cy="256032"/>
          </a:xfrm>
          <a:prstGeom prst="rect">
            <a:avLst/>
          </a:prstGeom>
          <a:noFill/>
        </p:spPr>
        <p:txBody>
          <a:bodyPr wrap="square" anchor="t" lIns="36576" rIns="36576" tIns="36576" bIns="36576">
            <a:spAutoFit/>
          </a:bodyPr>
          <a:lstStyle/>
          <a:p>
            <a:pPr algn="ctr"/>
            <a:r>
              <a:rPr sz="1300" b="1" i="0">
                <a:solidFill>
                  <a:srgbClr val="07132A"/>
                </a:solidFill>
                <a:latin typeface="Aptos"/>
              </a:rPr>
              <a:t>2</a:t>
            </a:r>
          </a:p>
        </p:txBody>
      </p:sp>
      <p:sp>
        <p:nvSpPr>
          <p:cNvPr id="19" name="TextBox 18"/>
          <p:cNvSpPr txBox="1"/>
          <p:nvPr/>
        </p:nvSpPr>
        <p:spPr>
          <a:xfrm>
            <a:off x="4215384" y="2816352"/>
            <a:ext cx="1536192" cy="530352"/>
          </a:xfrm>
          <a:prstGeom prst="rect">
            <a:avLst/>
          </a:prstGeom>
          <a:noFill/>
        </p:spPr>
        <p:txBody>
          <a:bodyPr wrap="square" anchor="ctr" lIns="36576" rIns="36576" tIns="36576" bIns="36576">
            <a:spAutoFit/>
          </a:bodyPr>
          <a:lstStyle/>
          <a:p>
            <a:pPr algn="l"/>
            <a:r>
              <a:rPr sz="1280" b="1" i="0">
                <a:solidFill>
                  <a:srgbClr val="FFFFFF"/>
                </a:solidFill>
                <a:latin typeface="Aptos"/>
              </a:rPr>
              <a:t>Disponibilidad</a:t>
            </a:r>
          </a:p>
        </p:txBody>
      </p:sp>
      <p:sp>
        <p:nvSpPr>
          <p:cNvPr id="20" name="TextBox 19"/>
          <p:cNvSpPr txBox="1"/>
          <p:nvPr/>
        </p:nvSpPr>
        <p:spPr>
          <a:xfrm>
            <a:off x="3666744" y="3493008"/>
            <a:ext cx="2002536" cy="841248"/>
          </a:xfrm>
          <a:prstGeom prst="rect">
            <a:avLst/>
          </a:prstGeom>
          <a:noFill/>
        </p:spPr>
        <p:txBody>
          <a:bodyPr wrap="square" anchor="t" lIns="36576" rIns="36576" tIns="36576" bIns="36576">
            <a:spAutoFit/>
          </a:bodyPr>
          <a:lstStyle/>
          <a:p>
            <a:pPr algn="ctr"/>
            <a:r>
              <a:rPr sz="1130" b="0" i="0">
                <a:solidFill>
                  <a:srgbClr val="E0F5F9"/>
                </a:solidFill>
                <a:latin typeface="Aptos"/>
              </a:rPr>
              <a:t>No debes residir en Santo Domingo, pero sí poder llegar al evento.</a:t>
            </a:r>
          </a:p>
        </p:txBody>
      </p:sp>
      <p:sp>
        <p:nvSpPr>
          <p:cNvPr id="21" name="Rounded Rectangle 20"/>
          <p:cNvSpPr/>
          <p:nvPr/>
        </p:nvSpPr>
        <p:spPr>
          <a:xfrm>
            <a:off x="6199631" y="2651760"/>
            <a:ext cx="2514600" cy="1993392"/>
          </a:xfrm>
          <a:prstGeom prst="roundRect">
            <a:avLst/>
          </a:prstGeom>
          <a:solidFill>
            <a:srgbClr val="122A4B"/>
          </a:solidFill>
          <a:ln>
            <a:solidFill>
              <a:srgbClr val="314D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00799" y="2889504"/>
            <a:ext cx="512064" cy="512064"/>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799" y="2980944"/>
            <a:ext cx="512064" cy="256032"/>
          </a:xfrm>
          <a:prstGeom prst="rect">
            <a:avLst/>
          </a:prstGeom>
          <a:noFill/>
        </p:spPr>
        <p:txBody>
          <a:bodyPr wrap="square" anchor="t" lIns="36576" rIns="36576" tIns="36576" bIns="36576">
            <a:spAutoFit/>
          </a:bodyPr>
          <a:lstStyle/>
          <a:p>
            <a:pPr algn="ctr"/>
            <a:r>
              <a:rPr sz="1300" b="1" i="0">
                <a:solidFill>
                  <a:srgbClr val="07132A"/>
                </a:solidFill>
                <a:latin typeface="Aptos"/>
              </a:rPr>
              <a:t>3</a:t>
            </a:r>
          </a:p>
        </p:txBody>
      </p:sp>
      <p:sp>
        <p:nvSpPr>
          <p:cNvPr id="24" name="TextBox 23"/>
          <p:cNvSpPr txBox="1"/>
          <p:nvPr/>
        </p:nvSpPr>
        <p:spPr>
          <a:xfrm>
            <a:off x="7004303" y="2816352"/>
            <a:ext cx="1536192" cy="530352"/>
          </a:xfrm>
          <a:prstGeom prst="rect">
            <a:avLst/>
          </a:prstGeom>
          <a:noFill/>
        </p:spPr>
        <p:txBody>
          <a:bodyPr wrap="square" anchor="ctr" lIns="36576" rIns="36576" tIns="36576" bIns="36576">
            <a:spAutoFit/>
          </a:bodyPr>
          <a:lstStyle/>
          <a:p>
            <a:pPr algn="l"/>
            <a:r>
              <a:rPr sz="1280" b="1" i="0">
                <a:solidFill>
                  <a:srgbClr val="FFFFFF"/>
                </a:solidFill>
                <a:latin typeface="Aptos"/>
              </a:rPr>
              <a:t>Compromiso</a:t>
            </a:r>
          </a:p>
        </p:txBody>
      </p:sp>
      <p:sp>
        <p:nvSpPr>
          <p:cNvPr id="25" name="TextBox 24"/>
          <p:cNvSpPr txBox="1"/>
          <p:nvPr/>
        </p:nvSpPr>
        <p:spPr>
          <a:xfrm>
            <a:off x="6455664" y="3493008"/>
            <a:ext cx="2002536" cy="841248"/>
          </a:xfrm>
          <a:prstGeom prst="rect">
            <a:avLst/>
          </a:prstGeom>
          <a:noFill/>
        </p:spPr>
        <p:txBody>
          <a:bodyPr wrap="square" anchor="t" lIns="36576" rIns="36576" tIns="36576" bIns="36576">
            <a:spAutoFit/>
          </a:bodyPr>
          <a:lstStyle/>
          <a:p>
            <a:pPr algn="ctr"/>
            <a:r>
              <a:rPr sz="1130" b="0" i="0">
                <a:solidFill>
                  <a:srgbClr val="E0F5F9"/>
                </a:solidFill>
                <a:latin typeface="Aptos"/>
              </a:rPr>
              <a:t>Confirmar asistencia para aprender, conectar y retirar la boleta.</a:t>
            </a:r>
          </a:p>
        </p:txBody>
      </p:sp>
      <p:sp>
        <p:nvSpPr>
          <p:cNvPr id="26" name="Rounded Rectangle 25"/>
          <p:cNvSpPr/>
          <p:nvPr/>
        </p:nvSpPr>
        <p:spPr>
          <a:xfrm>
            <a:off x="8988551" y="2651760"/>
            <a:ext cx="2514600" cy="1993392"/>
          </a:xfrm>
          <a:prstGeom prst="roundRect">
            <a:avLst/>
          </a:prstGeom>
          <a:solidFill>
            <a:srgbClr val="122A4B"/>
          </a:solidFill>
          <a:ln>
            <a:solidFill>
              <a:srgbClr val="314D6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19" y="2889504"/>
            <a:ext cx="512064" cy="512064"/>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19" y="2980944"/>
            <a:ext cx="512064" cy="256032"/>
          </a:xfrm>
          <a:prstGeom prst="rect">
            <a:avLst/>
          </a:prstGeom>
          <a:noFill/>
        </p:spPr>
        <p:txBody>
          <a:bodyPr wrap="square" anchor="t" lIns="36576" rIns="36576" tIns="36576" bIns="36576">
            <a:spAutoFit/>
          </a:bodyPr>
          <a:lstStyle/>
          <a:p>
            <a:pPr algn="ctr"/>
            <a:r>
              <a:rPr sz="1300" b="1" i="0">
                <a:solidFill>
                  <a:srgbClr val="07132A"/>
                </a:solidFill>
                <a:latin typeface="Aptos"/>
              </a:rPr>
              <a:t>4</a:t>
            </a:r>
          </a:p>
        </p:txBody>
      </p:sp>
      <p:sp>
        <p:nvSpPr>
          <p:cNvPr id="29" name="TextBox 28"/>
          <p:cNvSpPr txBox="1"/>
          <p:nvPr/>
        </p:nvSpPr>
        <p:spPr>
          <a:xfrm>
            <a:off x="9793224" y="2816352"/>
            <a:ext cx="1536192" cy="530352"/>
          </a:xfrm>
          <a:prstGeom prst="rect">
            <a:avLst/>
          </a:prstGeom>
          <a:noFill/>
        </p:spPr>
        <p:txBody>
          <a:bodyPr wrap="square" anchor="ctr" lIns="36576" rIns="36576" tIns="36576" bIns="36576">
            <a:spAutoFit/>
          </a:bodyPr>
          <a:lstStyle/>
          <a:p>
            <a:pPr algn="l"/>
            <a:r>
              <a:rPr sz="1280" b="1" i="0">
                <a:solidFill>
                  <a:srgbClr val="FFFFFF"/>
                </a:solidFill>
                <a:latin typeface="Aptos"/>
              </a:rPr>
              <a:t>Sorteo y DM</a:t>
            </a:r>
          </a:p>
        </p:txBody>
      </p:sp>
      <p:sp>
        <p:nvSpPr>
          <p:cNvPr id="30" name="TextBox 29"/>
          <p:cNvSpPr txBox="1"/>
          <p:nvPr/>
        </p:nvSpPr>
        <p:spPr>
          <a:xfrm>
            <a:off x="9244583" y="3493008"/>
            <a:ext cx="2002536" cy="841248"/>
          </a:xfrm>
          <a:prstGeom prst="rect">
            <a:avLst/>
          </a:prstGeom>
          <a:noFill/>
        </p:spPr>
        <p:txBody>
          <a:bodyPr wrap="square" anchor="t" lIns="36576" rIns="36576" tIns="36576" bIns="36576">
            <a:spAutoFit/>
          </a:bodyPr>
          <a:lstStyle/>
          <a:p>
            <a:pPr algn="ctr"/>
            <a:r>
              <a:rPr sz="1130" b="0" i="0">
                <a:solidFill>
                  <a:srgbClr val="E0F5F9"/>
                </a:solidFill>
                <a:latin typeface="Aptos"/>
              </a:rPr>
              <a:t>Se elegirán seis nombres al azar y se confirmarán por mensaje privado.</a:t>
            </a:r>
          </a:p>
        </p:txBody>
      </p:sp>
      <p:sp>
        <p:nvSpPr>
          <p:cNvPr id="31" name="Rounded Rectangle 30"/>
          <p:cNvSpPr/>
          <p:nvPr/>
        </p:nvSpPr>
        <p:spPr>
          <a:xfrm>
            <a:off x="1325880" y="4919472"/>
            <a:ext cx="9555480" cy="658368"/>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572768" y="5111496"/>
            <a:ext cx="9070848" cy="274320"/>
          </a:xfrm>
          <a:prstGeom prst="rect">
            <a:avLst/>
          </a:prstGeom>
          <a:noFill/>
        </p:spPr>
        <p:txBody>
          <a:bodyPr wrap="square" anchor="t" lIns="36576" rIns="36576" tIns="36576" bIns="36576">
            <a:spAutoFit/>
          </a:bodyPr>
          <a:lstStyle/>
          <a:p>
            <a:pPr algn="ctr"/>
            <a:r>
              <a:rPr sz="1430" b="1" i="0">
                <a:solidFill>
                  <a:srgbClr val="07132A"/>
                </a:solidFill>
                <a:latin typeface="Aptos"/>
              </a:rPr>
              <a:t>6 boletas · Formulario · Disponibilidad para asistir · Confirmación y retiro personal</a:t>
            </a:r>
          </a:p>
        </p:txBody>
      </p:sp>
      <p:sp>
        <p:nvSpPr>
          <p:cNvPr id="33" name="Rounded Rectangle 32">
            <a:hlinkClick r:id="rId2"/>
          </p:cNvPr>
          <p:cNvSpPr/>
          <p:nvPr/>
        </p:nvSpPr>
        <p:spPr>
          <a:xfrm>
            <a:off x="1325880" y="5650992"/>
            <a:ext cx="9555480" cy="402336"/>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a:hlinkClick r:id="rId2"/>
          </p:cNvPr>
          <p:cNvSpPr txBox="1"/>
          <p:nvPr/>
        </p:nvSpPr>
        <p:spPr>
          <a:xfrm>
            <a:off x="1572768" y="5742432"/>
            <a:ext cx="9070848" cy="219456"/>
          </a:xfrm>
          <a:prstGeom prst="rect">
            <a:avLst/>
          </a:prstGeom>
          <a:noFill/>
        </p:spPr>
        <p:txBody>
          <a:bodyPr wrap="square" anchor="t" lIns="36576" rIns="36576" tIns="36576" bIns="36576">
            <a:spAutoFit/>
          </a:bodyPr>
          <a:lstStyle/>
          <a:p>
            <a:pPr algn="ctr"/>
            <a:r>
              <a:rPr sz="1180" b="1" i="0">
                <a:solidFill>
                  <a:srgbClr val="07132A"/>
                </a:solidFill>
                <a:latin typeface="Aptos"/>
              </a:rPr>
              <a:t>ABRIR FORMULARIO DEL SORTEO · 6 BOLETAS  ↗</a:t>
            </a:r>
          </a:p>
        </p:txBody>
      </p:sp>
      <p:sp>
        <p:nvSpPr>
          <p:cNvPr id="35" name="TextBox 34">
            <a:hlinkClick r:id="rId3"/>
          </p:cNvPr>
          <p:cNvSpPr txBox="1"/>
          <p:nvPr/>
        </p:nvSpPr>
        <p:spPr>
          <a:xfrm>
            <a:off x="2103120" y="6144768"/>
            <a:ext cx="7973568" cy="201168"/>
          </a:xfrm>
          <a:prstGeom prst="rect">
            <a:avLst/>
          </a:prstGeom>
          <a:noFill/>
        </p:spPr>
        <p:txBody>
          <a:bodyPr wrap="square" anchor="t" lIns="36576" rIns="36576" tIns="36576" bIns="36576">
            <a:spAutoFit/>
          </a:bodyPr>
          <a:lstStyle/>
          <a:p>
            <a:pPr algn="ctr"/>
            <a:r>
              <a:rPr sz="1019" b="1" i="0">
                <a:solidFill>
                  <a:srgbClr val="31CADB"/>
                </a:solidFill>
                <a:latin typeface="Aptos"/>
              </a:rPr>
              <a:t>VER AGENDA OFICIAL EN INSTAGRAM · @qa_dominicana  ↗</a:t>
            </a:r>
          </a:p>
        </p:txBody>
      </p:sp>
      <p:sp>
        <p:nvSpPr>
          <p:cNvPr id="36" name="TextBox 35"/>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Sorteo especial</a:t>
            </a:r>
          </a:p>
        </p:txBody>
      </p:sp>
      <p:sp>
        <p:nvSpPr>
          <p:cNvPr id="37" name="TextBox 36"/>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39</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Preguntas para el formulario del sorteo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Solicita solamente los datos necesarios para validar la participación y contactar a las personas ganadoras.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No solicites cédula, dirección exacta ni información que no sea necesaria para el sorteo.</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39</a:t>
            </a:r>
          </a:p>
        </p:txBody>
      </p:sp>
      <p:sp>
        <p:nvSpPr>
          <p:cNvPr id="10" name="Rounded Rectangle 9"/>
          <p:cNvSpPr/>
          <p:nvPr/>
        </p:nvSpPr>
        <p:spPr>
          <a:xfrm>
            <a:off x="713232" y="1371600"/>
            <a:ext cx="109728" cy="4224528"/>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1389888"/>
            <a:ext cx="6583680" cy="4370832"/>
          </a:xfrm>
          <a:prstGeom prst="rect">
            <a:avLst/>
          </a:prstGeom>
          <a:noFill/>
        </p:spPr>
        <p:txBody>
          <a:bodyPr wrap="square" lIns="36576" rIns="36576">
            <a:spAutoFit/>
          </a:bodyPr>
          <a:lstStyle/>
          <a:p>
            <a:pPr>
              <a:lnSpc>
                <a:spcPct val="105000"/>
              </a:lnSpc>
              <a:spcAft>
                <a:spcPts val="1000"/>
              </a:spcAft>
              <a:defRPr sz="1720">
                <a:solidFill>
                  <a:srgbClr val="16263C"/>
                </a:solidFill>
                <a:latin typeface="Aptos"/>
              </a:defRPr>
            </a:pPr>
            <a:r>
              <a:t>•  Nombre completo y correo electrónico</a:t>
            </a:r>
          </a:p>
          <a:p>
            <a:pPr>
              <a:lnSpc>
                <a:spcPct val="105000"/>
              </a:lnSpc>
              <a:spcAft>
                <a:spcPts val="1000"/>
              </a:spcAft>
              <a:defRPr sz="1720">
                <a:solidFill>
                  <a:srgbClr val="16263C"/>
                </a:solidFill>
                <a:latin typeface="Aptos"/>
              </a:defRPr>
            </a:pPr>
            <a:r>
              <a:t>•  Usuario de Instagram o LinkedIn para confirmar por DM</a:t>
            </a:r>
          </a:p>
          <a:p>
            <a:pPr>
              <a:lnSpc>
                <a:spcPct val="105000"/>
              </a:lnSpc>
              <a:spcAft>
                <a:spcPts val="1000"/>
              </a:spcAft>
              <a:defRPr sz="1720">
                <a:solidFill>
                  <a:srgbClr val="16263C"/>
                </a:solidFill>
                <a:latin typeface="Aptos"/>
              </a:defRPr>
            </a:pPr>
            <a:r>
              <a:t>•  Ciudad o provincia desde donde se trasladará</a:t>
            </a:r>
          </a:p>
          <a:p>
            <a:pPr>
              <a:lnSpc>
                <a:spcPct val="105000"/>
              </a:lnSpc>
              <a:spcAft>
                <a:spcPts val="1000"/>
              </a:spcAft>
              <a:defRPr sz="1720">
                <a:solidFill>
                  <a:srgbClr val="16263C"/>
                </a:solidFill>
                <a:latin typeface="Aptos"/>
              </a:defRPr>
            </a:pPr>
            <a:r>
              <a:t>•  Área de estudio, trabajo o interés profesional</a:t>
            </a:r>
          </a:p>
          <a:p>
            <a:pPr>
              <a:lnSpc>
                <a:spcPct val="105000"/>
              </a:lnSpc>
              <a:spcAft>
                <a:spcPts val="1000"/>
              </a:spcAft>
              <a:defRPr sz="1720">
                <a:solidFill>
                  <a:srgbClr val="16263C"/>
                </a:solidFill>
                <a:latin typeface="Aptos"/>
              </a:defRPr>
            </a:pPr>
            <a:r>
              <a:t>•  Disponibilidad para asistir el 11 de julio, de 9:00 a. m. a 5:00 p. m.</a:t>
            </a:r>
          </a:p>
          <a:p>
            <a:pPr>
              <a:lnSpc>
                <a:spcPct val="105000"/>
              </a:lnSpc>
              <a:spcAft>
                <a:spcPts val="1000"/>
              </a:spcAft>
              <a:defRPr sz="1720">
                <a:solidFill>
                  <a:srgbClr val="16263C"/>
                </a:solidFill>
                <a:latin typeface="Aptos"/>
              </a:defRPr>
            </a:pPr>
            <a:r>
              <a:t>•  Compromiso de retirar personalmente la boleta en la entrada</a:t>
            </a:r>
          </a:p>
          <a:p>
            <a:pPr>
              <a:lnSpc>
                <a:spcPct val="105000"/>
              </a:lnSpc>
              <a:spcAft>
                <a:spcPts val="1000"/>
              </a:spcAft>
              <a:defRPr sz="1720">
                <a:solidFill>
                  <a:srgbClr val="16263C"/>
                </a:solidFill>
                <a:latin typeface="Aptos"/>
              </a:defRPr>
            </a:pPr>
            <a:r>
              <a:t>•  Aceptación de las bases y autorización de contacto para el sorteo</a:t>
            </a:r>
          </a:p>
        </p:txBody>
      </p:sp>
      <p:sp>
        <p:nvSpPr>
          <p:cNvPr id="12" name="Rounded Rectangle 11"/>
          <p:cNvSpPr/>
          <p:nvPr/>
        </p:nvSpPr>
        <p:spPr>
          <a:xfrm>
            <a:off x="8028431" y="1444752"/>
            <a:ext cx="3401568" cy="3986784"/>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75904" y="1801368"/>
            <a:ext cx="2697480" cy="292608"/>
          </a:xfrm>
          <a:prstGeom prst="rect">
            <a:avLst/>
          </a:prstGeom>
          <a:noFill/>
        </p:spPr>
        <p:txBody>
          <a:bodyPr wrap="square" anchor="t" lIns="36576" rIns="36576" tIns="36576" bIns="36576">
            <a:spAutoFit/>
          </a:bodyPr>
          <a:lstStyle/>
          <a:p>
            <a:pPr algn="l"/>
            <a:r>
              <a:rPr sz="1200" b="1" i="0">
                <a:solidFill>
                  <a:srgbClr val="31CADB"/>
                </a:solidFill>
                <a:latin typeface="Aptos"/>
              </a:rPr>
              <a:t>VALIDACIÓN</a:t>
            </a:r>
          </a:p>
        </p:txBody>
      </p:sp>
      <p:sp>
        <p:nvSpPr>
          <p:cNvPr id="14" name="TextBox 13"/>
          <p:cNvSpPr txBox="1"/>
          <p:nvPr/>
        </p:nvSpPr>
        <p:spPr>
          <a:xfrm>
            <a:off x="8375904" y="2359152"/>
            <a:ext cx="2670048" cy="2468880"/>
          </a:xfrm>
          <a:prstGeom prst="rect">
            <a:avLst/>
          </a:prstGeom>
          <a:noFill/>
        </p:spPr>
        <p:txBody>
          <a:bodyPr wrap="square" anchor="t" lIns="36576" rIns="36576" tIns="36576" bIns="36576">
            <a:spAutoFit/>
          </a:bodyPr>
          <a:lstStyle/>
          <a:p>
            <a:pPr algn="l"/>
            <a:r>
              <a:rPr sz="2000" b="1" i="0">
                <a:solidFill>
                  <a:srgbClr val="FFFFFF"/>
                </a:solidFill>
                <a:latin typeface="Aptos"/>
              </a:rPr>
              <a:t>Solo participan respuestas completas que confirmen disponibilidad real y aceptación de las bases.</a:t>
            </a:r>
          </a:p>
        </p:txBody>
      </p:sp>
      <p:sp>
        <p:nvSpPr>
          <p:cNvPr id="15" name="TextBox 14"/>
          <p:cNvSpPr txBox="1"/>
          <p:nvPr/>
        </p:nvSpPr>
        <p:spPr>
          <a:xfrm>
            <a:off x="8375904" y="4791456"/>
            <a:ext cx="2670048" cy="384048"/>
          </a:xfrm>
          <a:prstGeom prst="rect">
            <a:avLst/>
          </a:prstGeom>
          <a:noFill/>
        </p:spPr>
        <p:txBody>
          <a:bodyPr wrap="square" anchor="t" lIns="36576" rIns="36576" tIns="36576" bIns="36576">
            <a:spAutoFit/>
          </a:bodyPr>
          <a:lstStyle/>
          <a:p>
            <a:pPr algn="l"/>
            <a:r>
              <a:rPr sz="1100" b="0" i="0">
                <a:solidFill>
                  <a:srgbClr val="E0F5F9"/>
                </a:solidFill>
                <a:latin typeface="Aptos"/>
              </a:rPr>
              <a:t>Selección aleatoria de 6 personas.</a:t>
            </a:r>
          </a:p>
        </p:txBody>
      </p:sp>
      <p:sp>
        <p:nvSpPr>
          <p:cNvPr id="16" name="Rounded Rectangle 15">
            <a:hlinkClick r:id="rId3"/>
          </p:cNvPr>
          <p:cNvSpPr/>
          <p:nvPr/>
        </p:nvSpPr>
        <p:spPr>
          <a:xfrm>
            <a:off x="960120" y="5669280"/>
            <a:ext cx="10259568" cy="438912"/>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a:hlinkClick r:id="rId3"/>
          </p:cNvPr>
          <p:cNvSpPr txBox="1"/>
          <p:nvPr/>
        </p:nvSpPr>
        <p:spPr>
          <a:xfrm>
            <a:off x="1170432" y="5769864"/>
            <a:ext cx="9838944" cy="219456"/>
          </a:xfrm>
          <a:prstGeom prst="rect">
            <a:avLst/>
          </a:prstGeom>
          <a:noFill/>
        </p:spPr>
        <p:txBody>
          <a:bodyPr wrap="square" anchor="t" lIns="36576" rIns="36576" tIns="36576" bIns="36576">
            <a:spAutoFit/>
          </a:bodyPr>
          <a:lstStyle/>
          <a:p>
            <a:pPr algn="ctr"/>
            <a:r>
              <a:rPr sz="1180" b="1" i="0">
                <a:solidFill>
                  <a:srgbClr val="07132A"/>
                </a:solidFill>
                <a:latin typeface="Aptos"/>
              </a:rPr>
              <a:t>ABRIR FORMULARIO DEL SORTEO · 6 BOLETAS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658368"/>
            <a:ext cx="1828800" cy="320040"/>
          </a:xfrm>
          <a:prstGeom prst="rect">
            <a:avLst/>
          </a:prstGeom>
          <a:noFill/>
        </p:spPr>
        <p:txBody>
          <a:bodyPr wrap="square" anchor="t" lIns="36576" rIns="36576" tIns="36576" bIns="36576">
            <a:spAutoFit/>
          </a:bodyPr>
          <a:lstStyle/>
          <a:p>
            <a:pPr algn="l"/>
            <a:r>
              <a:rPr sz="1400" b="1" i="0">
                <a:solidFill>
                  <a:srgbClr val="31CADB"/>
                </a:solidFill>
                <a:latin typeface="Aptos"/>
              </a:rPr>
              <a:t>Cierre</a:t>
            </a:r>
          </a:p>
        </p:txBody>
      </p:sp>
      <p:sp>
        <p:nvSpPr>
          <p:cNvPr id="5" name="TextBox 4"/>
          <p:cNvSpPr txBox="1"/>
          <p:nvPr/>
        </p:nvSpPr>
        <p:spPr>
          <a:xfrm>
            <a:off x="713232" y="1298448"/>
            <a:ext cx="7863840" cy="658368"/>
          </a:xfrm>
          <a:prstGeom prst="rect">
            <a:avLst/>
          </a:prstGeom>
          <a:noFill/>
        </p:spPr>
        <p:txBody>
          <a:bodyPr wrap="square" anchor="t" lIns="36576" rIns="36576" tIns="36576" bIns="36576">
            <a:spAutoFit/>
          </a:bodyPr>
          <a:lstStyle/>
          <a:p>
            <a:pPr algn="l"/>
            <a:r>
              <a:rPr sz="3400" b="1" i="0">
                <a:solidFill>
                  <a:srgbClr val="FFFFFF"/>
                </a:solidFill>
                <a:latin typeface="Aptos"/>
              </a:rPr>
              <a:t>No estudies todo.</a:t>
            </a:r>
          </a:p>
        </p:txBody>
      </p:sp>
      <p:sp>
        <p:nvSpPr>
          <p:cNvPr id="6" name="TextBox 5"/>
          <p:cNvSpPr txBox="1"/>
          <p:nvPr/>
        </p:nvSpPr>
        <p:spPr>
          <a:xfrm>
            <a:off x="713232" y="2057400"/>
            <a:ext cx="9829800" cy="749808"/>
          </a:xfrm>
          <a:prstGeom prst="rect">
            <a:avLst/>
          </a:prstGeom>
          <a:noFill/>
        </p:spPr>
        <p:txBody>
          <a:bodyPr wrap="square" anchor="t" lIns="36576" rIns="36576" tIns="36576" bIns="36576">
            <a:spAutoFit/>
          </a:bodyPr>
          <a:lstStyle/>
          <a:p>
            <a:pPr algn="l"/>
            <a:r>
              <a:rPr sz="2900" b="1" i="0">
                <a:solidFill>
                  <a:srgbClr val="31CADB"/>
                </a:solidFill>
                <a:latin typeface="Aptos"/>
              </a:rPr>
              <a:t>Estudia lo que exige el trabajo que quieres hacer.</a:t>
            </a:r>
          </a:p>
        </p:txBody>
      </p:sp>
      <p:sp>
        <p:nvSpPr>
          <p:cNvPr id="7" name="TextBox 6"/>
          <p:cNvSpPr txBox="1"/>
          <p:nvPr/>
        </p:nvSpPr>
        <p:spPr>
          <a:xfrm>
            <a:off x="749808" y="3310128"/>
            <a:ext cx="9966960" cy="475488"/>
          </a:xfrm>
          <a:prstGeom prst="rect">
            <a:avLst/>
          </a:prstGeom>
          <a:noFill/>
        </p:spPr>
        <p:txBody>
          <a:bodyPr wrap="square" anchor="t" lIns="36576" rIns="36576" tIns="36576" bIns="36576">
            <a:spAutoFit/>
          </a:bodyPr>
          <a:lstStyle/>
          <a:p>
            <a:pPr algn="l"/>
            <a:r>
              <a:rPr sz="1800" b="1" i="0">
                <a:solidFill>
                  <a:srgbClr val="E0F5F9"/>
                </a:solidFill>
                <a:latin typeface="Aptos"/>
              </a:rPr>
              <a:t>Practica · demuestra · solicita feedback · aplica · actualiza tu ruta</a:t>
            </a:r>
          </a:p>
        </p:txBody>
      </p:sp>
      <p:sp>
        <p:nvSpPr>
          <p:cNvPr id="8" name="Rectangle 7"/>
          <p:cNvSpPr/>
          <p:nvPr/>
        </p:nvSpPr>
        <p:spPr>
          <a:xfrm>
            <a:off x="749808" y="4096512"/>
            <a:ext cx="9966960" cy="64008"/>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4663440"/>
            <a:ext cx="5623560" cy="411480"/>
          </a:xfrm>
          <a:prstGeom prst="rect">
            <a:avLst/>
          </a:prstGeom>
          <a:noFill/>
        </p:spPr>
        <p:txBody>
          <a:bodyPr wrap="square" anchor="t" lIns="36576" rIns="36576" tIns="36576" bIns="36576">
            <a:spAutoFit/>
          </a:bodyPr>
          <a:lstStyle/>
          <a:p>
            <a:pPr algn="l"/>
            <a:r>
              <a:rPr sz="2200" b="1" i="0">
                <a:solidFill>
                  <a:srgbClr val="FFFFFF"/>
                </a:solidFill>
                <a:latin typeface="Aptos"/>
              </a:rPr>
              <a:t>Preguntas y conversación</a:t>
            </a:r>
          </a:p>
        </p:txBody>
      </p:sp>
      <p:sp>
        <p:nvSpPr>
          <p:cNvPr id="10" name="TextBox 9"/>
          <p:cNvSpPr txBox="1"/>
          <p:nvPr/>
        </p:nvSpPr>
        <p:spPr>
          <a:xfrm>
            <a:off x="749808" y="5577840"/>
            <a:ext cx="6080760" cy="292608"/>
          </a:xfrm>
          <a:prstGeom prst="rect">
            <a:avLst/>
          </a:prstGeom>
          <a:noFill/>
        </p:spPr>
        <p:txBody>
          <a:bodyPr wrap="square" anchor="t" lIns="36576" rIns="36576" tIns="36576" bIns="36576">
            <a:spAutoFit/>
          </a:bodyPr>
          <a:lstStyle/>
          <a:p>
            <a:pPr algn="l"/>
            <a:r>
              <a:rPr sz="1200" b="0" i="0">
                <a:solidFill>
                  <a:srgbClr val="31CADB"/>
                </a:solidFill>
                <a:latin typeface="Aptos"/>
              </a:rPr>
              <a:t>linkedin.com/in/marlenis-judith-c-561117a3/</a:t>
            </a:r>
          </a:p>
        </p:txBody>
      </p:sp>
      <p:sp>
        <p:nvSpPr>
          <p:cNvPr id="11" name="TextBox 10"/>
          <p:cNvSpPr txBox="1"/>
          <p:nvPr/>
        </p:nvSpPr>
        <p:spPr>
          <a:xfrm>
            <a:off x="8549640" y="5074920"/>
            <a:ext cx="2331720" cy="566928"/>
          </a:xfrm>
          <a:prstGeom prst="rect">
            <a:avLst/>
          </a:prstGeom>
          <a:noFill/>
        </p:spPr>
        <p:txBody>
          <a:bodyPr wrap="square" anchor="t" lIns="36576" rIns="36576" tIns="36576" bIns="36576">
            <a:spAutoFit/>
          </a:bodyPr>
          <a:lstStyle/>
          <a:p>
            <a:pPr algn="ctr"/>
            <a:r>
              <a:rPr sz="2800" b="1" i="0">
                <a:solidFill>
                  <a:srgbClr val="FFFFFF"/>
                </a:solidFill>
                <a:latin typeface="Aptos"/>
              </a:rPr>
              <a:t>Gracias</a:t>
            </a:r>
          </a:p>
        </p:txBody>
      </p:sp>
      <p:sp>
        <p:nvSpPr>
          <p:cNvPr id="12" name="TextBox 11"/>
          <p:cNvSpPr txBox="1"/>
          <p:nvPr/>
        </p:nvSpPr>
        <p:spPr>
          <a:xfrm>
            <a:off x="749808" y="5870448"/>
            <a:ext cx="6537960" cy="219456"/>
          </a:xfrm>
          <a:prstGeom prst="rect">
            <a:avLst/>
          </a:prstGeom>
          <a:noFill/>
        </p:spPr>
        <p:txBody>
          <a:bodyPr wrap="square" anchor="t" lIns="36576" rIns="36576" tIns="36576" bIns="36576">
            <a:spAutoFit/>
          </a:bodyPr>
          <a:lstStyle/>
          <a:p>
            <a:pPr algn="l"/>
            <a:r>
              <a:rPr sz="1019" b="1" i="0">
                <a:solidFill>
                  <a:srgbClr val="FFFFFF"/>
                </a:solidFill>
                <a:latin typeface="Aptos"/>
              </a:rPr>
              <a:t>Mtra. Marlenis Judith Concepción Cuevas</a:t>
            </a:r>
          </a:p>
        </p:txBody>
      </p:sp>
      <p:sp>
        <p:nvSpPr>
          <p:cNvPr id="13" name="TextBox 12"/>
          <p:cNvSpPr txBox="1"/>
          <p:nvPr/>
        </p:nvSpPr>
        <p:spPr>
          <a:xfrm>
            <a:off x="749808" y="6108192"/>
            <a:ext cx="7406640" cy="182880"/>
          </a:xfrm>
          <a:prstGeom prst="rect">
            <a:avLst/>
          </a:prstGeom>
          <a:noFill/>
        </p:spPr>
        <p:txBody>
          <a:bodyPr wrap="square" anchor="t" lIns="36576" rIns="36576" tIns="36576" bIns="36576">
            <a:spAutoFit/>
          </a:bodyPr>
          <a:lstStyle/>
          <a:p>
            <a:pPr algn="l"/>
            <a:r>
              <a:rPr sz="840" b="1" i="0">
                <a:solidFill>
                  <a:srgbClr val="31CADB"/>
                </a:solidFill>
                <a:latin typeface="Aptos"/>
              </a:rPr>
              <a:t>Senior Software Development Engineer in Test (SDET) · Docente e investigadora</a:t>
            </a:r>
          </a:p>
        </p:txBody>
      </p:sp>
      <p:sp>
        <p:nvSpPr>
          <p:cNvPr id="14" name="TextBox 13"/>
          <p:cNvSpPr txBox="1"/>
          <p:nvPr/>
        </p:nvSpPr>
        <p:spPr>
          <a:xfrm>
            <a:off x="749808" y="6300216"/>
            <a:ext cx="6720840" cy="164592"/>
          </a:xfrm>
          <a:prstGeom prst="rect">
            <a:avLst/>
          </a:prstGeom>
          <a:noFill/>
        </p:spPr>
        <p:txBody>
          <a:bodyPr wrap="square" anchor="t" lIns="36576" rIns="36576" tIns="36576" bIns="36576">
            <a:spAutoFit/>
          </a:bodyPr>
          <a:lstStyle/>
          <a:p>
            <a:pPr algn="l"/>
            <a:r>
              <a:rPr sz="800" b="0" i="0">
                <a:solidFill>
                  <a:srgbClr val="E0F5F9"/>
                </a:solidFill>
                <a:latin typeface="Aptos"/>
              </a:rPr>
              <a:t>Escuela de Informática · Facultad de Ciencias · UASD</a:t>
            </a:r>
          </a:p>
        </p:txBody>
      </p:sp>
      <p:pic>
        <p:nvPicPr>
          <p:cNvPr id="15" name="Picture 14" descr="logo_uasd.png"/>
          <p:cNvPicPr>
            <a:picLocks noChangeAspect="1"/>
          </p:cNvPicPr>
          <p:nvPr/>
        </p:nvPicPr>
        <p:blipFill>
          <a:blip r:embed="rId2"/>
          <a:stretch>
            <a:fillRect/>
          </a:stretch>
        </p:blipFill>
        <p:spPr>
          <a:xfrm>
            <a:off x="10469880" y="420624"/>
            <a:ext cx="1051560" cy="1051560"/>
          </a:xfrm>
          <a:prstGeom prst="rect">
            <a:avLst/>
          </a:prstGeom>
        </p:spPr>
      </p:pic>
      <p:sp>
        <p:nvSpPr>
          <p:cNvPr id="16" name="TextBox 15"/>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La calidad se construye con criterio, evidencia y aprendizaje continuo</a:t>
            </a:r>
          </a:p>
        </p:txBody>
      </p:sp>
      <p:sp>
        <p:nvSpPr>
          <p:cNvPr id="17" name="TextBox 16"/>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40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19</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Tarea para casa: Automation Practice</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Convierte el repositorio en evidencia para tu portafolio; no te limites a copiar o ejecutar.</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Ejercicio sugerido; cada participante puede adaptarlo a su nivel.</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19</a:t>
            </a:r>
          </a:p>
        </p:txBody>
      </p:sp>
      <p:sp>
        <p:nvSpPr>
          <p:cNvPr id="10" name="Rounded Rectangle 9"/>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1. Preparar</a:t>
            </a:r>
          </a:p>
        </p:txBody>
      </p:sp>
      <p:sp>
        <p:nvSpPr>
          <p:cNvPr id="15" name="TextBox 14"/>
          <p:cNvSpPr txBox="1"/>
          <p:nvPr/>
        </p:nvSpPr>
        <p:spPr>
          <a:xfrm>
            <a:off x="1627632"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Lee el README completo, identifica requisitos y realiza fork o clonación del repositorio.</a:t>
            </a:r>
          </a:p>
        </p:txBody>
      </p:sp>
      <p:sp>
        <p:nvSpPr>
          <p:cNvPr id="16" name="Rounded Rectangle 15"/>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6207"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10527"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2. Comprender</a:t>
            </a:r>
          </a:p>
        </p:txBody>
      </p:sp>
      <p:sp>
        <p:nvSpPr>
          <p:cNvPr id="21" name="TextBox 20"/>
          <p:cNvSpPr txBox="1"/>
          <p:nvPr/>
        </p:nvSpPr>
        <p:spPr>
          <a:xfrm>
            <a:off x="7150607" y="2121408"/>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Instala lo indicado, ejecuta el proyecto y explica la estructura y las pruebas existentes.</a:t>
            </a:r>
          </a:p>
        </p:txBody>
      </p:sp>
      <p:sp>
        <p:nvSpPr>
          <p:cNvPr id="22" name="Rounded Rectangle 21"/>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3694175"/>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7552" y="3950207"/>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3. Ampliar</a:t>
            </a:r>
          </a:p>
        </p:txBody>
      </p:sp>
      <p:sp>
        <p:nvSpPr>
          <p:cNvPr id="27" name="TextBox 26"/>
          <p:cNvSpPr txBox="1"/>
          <p:nvPr/>
        </p:nvSpPr>
        <p:spPr>
          <a:xfrm>
            <a:off x="1627632"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Agrega o mejora un escenario de prueba y verifica resultados positivos y negativos.</a:t>
            </a:r>
          </a:p>
        </p:txBody>
      </p:sp>
      <p:sp>
        <p:nvSpPr>
          <p:cNvPr id="28" name="Rounded Rectangle 27"/>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36207"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10527"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4. Refactorizar</a:t>
            </a:r>
          </a:p>
        </p:txBody>
      </p:sp>
      <p:sp>
        <p:nvSpPr>
          <p:cNvPr id="33" name="TextBox 32"/>
          <p:cNvSpPr txBox="1"/>
          <p:nvPr/>
        </p:nvSpPr>
        <p:spPr>
          <a:xfrm>
            <a:off x="7150607" y="4462271"/>
            <a:ext cx="4041647" cy="1060703"/>
          </a:xfrm>
          <a:prstGeom prst="rect">
            <a:avLst/>
          </a:prstGeom>
          <a:noFill/>
        </p:spPr>
        <p:txBody>
          <a:bodyPr wrap="square" anchor="t" lIns="36576" rIns="36576" tIns="36576" bIns="36576">
            <a:spAutoFit/>
          </a:bodyPr>
          <a:lstStyle/>
          <a:p>
            <a:pPr algn="l"/>
            <a:r>
              <a:rPr sz="1280" b="0" i="0">
                <a:solidFill>
                  <a:srgbClr val="586A80"/>
                </a:solidFill>
                <a:latin typeface="Aptos"/>
              </a:rPr>
              <a:t>Aplica POO, DRY, KISS, SOLID o un patrón cuando aporte claridad y mantenimiento.</a:t>
            </a:r>
          </a:p>
        </p:txBody>
      </p:sp>
      <p:sp>
        <p:nvSpPr>
          <p:cNvPr id="34" name="Rounded Rectangle 33">
            <a:hlinkClick r:id="rId3"/>
          </p:cNvPr>
          <p:cNvSpPr/>
          <p:nvPr/>
        </p:nvSpPr>
        <p:spPr>
          <a:xfrm>
            <a:off x="960120" y="5833872"/>
            <a:ext cx="10259568" cy="457200"/>
          </a:xfrm>
          <a:prstGeom prst="roundRect">
            <a:avLst/>
          </a:prstGeom>
          <a:solidFill>
            <a:srgbClr val="07132A"/>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a:hlinkClick r:id="rId3"/>
          </p:cNvPr>
          <p:cNvSpPr txBox="1"/>
          <p:nvPr/>
        </p:nvSpPr>
        <p:spPr>
          <a:xfrm>
            <a:off x="1143000" y="5943600"/>
            <a:ext cx="9893808" cy="219456"/>
          </a:xfrm>
          <a:prstGeom prst="rect">
            <a:avLst/>
          </a:prstGeom>
          <a:noFill/>
        </p:spPr>
        <p:txBody>
          <a:bodyPr wrap="square" anchor="t" lIns="36576" rIns="36576" tIns="36576" bIns="36576">
            <a:spAutoFit/>
          </a:bodyPr>
          <a:lstStyle/>
          <a:p>
            <a:pPr algn="ctr"/>
            <a:r>
              <a:rPr sz="1150" b="1" i="0">
                <a:solidFill>
                  <a:srgbClr val="FFFFFF"/>
                </a:solidFill>
                <a:latin typeface="Aptos"/>
              </a:rPr>
              <a:t>ABRIR REPOSITORIO Y GUÍA DE PRÁCTICA EN GITHUB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29</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Las habilidades blandas convierten conocimiento en impacto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 capacidad técnica abre puertas; la manera de colaborar, decidir y responder sostiene la carrera.</a:t>
            </a:r>
          </a:p>
        </p:txBody>
      </p:sp>
      <p:sp>
        <p:nvSpPr>
          <p:cNvPr id="7" name="TextBox 6"/>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8" name="TextBox 7"/>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29</a:t>
            </a:r>
          </a:p>
        </p:txBody>
      </p:sp>
      <p:sp>
        <p:nvSpPr>
          <p:cNvPr id="9" name="Rounded Rectangle 8"/>
          <p:cNvSpPr/>
          <p:nvPr/>
        </p:nvSpPr>
        <p:spPr>
          <a:xfrm>
            <a:off x="713232"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1353312"/>
            <a:ext cx="100584" cy="2066543"/>
          </a:xfrm>
          <a:prstGeom prst="round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87552" y="1609344"/>
            <a:ext cx="502920" cy="502920"/>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3" name="TextBox 12"/>
          <p:cNvSpPr txBox="1"/>
          <p:nvPr/>
        </p:nvSpPr>
        <p:spPr>
          <a:xfrm>
            <a:off x="1627632"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Comunicación clara</a:t>
            </a:r>
          </a:p>
        </p:txBody>
      </p:sp>
      <p:sp>
        <p:nvSpPr>
          <p:cNvPr id="14" name="TextBox 13"/>
          <p:cNvSpPr txBox="1"/>
          <p:nvPr/>
        </p:nvSpPr>
        <p:spPr>
          <a:xfrm>
            <a:off x="1627632"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Explicar riesgos, decisiones, avances y bloqueos según la audiencia.</a:t>
            </a:r>
          </a:p>
        </p:txBody>
      </p:sp>
      <p:sp>
        <p:nvSpPr>
          <p:cNvPr id="15" name="Rounded Rectangle 14"/>
          <p:cNvSpPr/>
          <p:nvPr/>
        </p:nvSpPr>
        <p:spPr>
          <a:xfrm>
            <a:off x="4395216"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95216"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669536"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9536"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19" name="TextBox 18"/>
          <p:cNvSpPr txBox="1"/>
          <p:nvPr/>
        </p:nvSpPr>
        <p:spPr>
          <a:xfrm>
            <a:off x="5309616"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Escucha y preguntas</a:t>
            </a:r>
          </a:p>
        </p:txBody>
      </p:sp>
      <p:sp>
        <p:nvSpPr>
          <p:cNvPr id="20" name="TextBox 19"/>
          <p:cNvSpPr txBox="1"/>
          <p:nvPr/>
        </p:nvSpPr>
        <p:spPr>
          <a:xfrm>
            <a:off x="5309616"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Comprender el problema antes de defender una solución o ejecutar una tarea.</a:t>
            </a:r>
          </a:p>
        </p:txBody>
      </p:sp>
      <p:sp>
        <p:nvSpPr>
          <p:cNvPr id="21" name="Rounded Rectangle 20"/>
          <p:cNvSpPr/>
          <p:nvPr/>
        </p:nvSpPr>
        <p:spPr>
          <a:xfrm>
            <a:off x="8077199" y="1353312"/>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77199" y="1353312"/>
            <a:ext cx="100584" cy="2066543"/>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51520" y="1609344"/>
            <a:ext cx="502920" cy="502920"/>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51520"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5" name="TextBox 24"/>
          <p:cNvSpPr txBox="1"/>
          <p:nvPr/>
        </p:nvSpPr>
        <p:spPr>
          <a:xfrm>
            <a:off x="8991599" y="1572768"/>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Adaptabilidad</a:t>
            </a:r>
          </a:p>
        </p:txBody>
      </p:sp>
      <p:sp>
        <p:nvSpPr>
          <p:cNvPr id="26" name="TextBox 25"/>
          <p:cNvSpPr txBox="1"/>
          <p:nvPr/>
        </p:nvSpPr>
        <p:spPr>
          <a:xfrm>
            <a:off x="8991599" y="2121408"/>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Aprender, ajustar prioridades y responder al cambio sin trabajar desde el caos.</a:t>
            </a:r>
          </a:p>
        </p:txBody>
      </p:sp>
      <p:sp>
        <p:nvSpPr>
          <p:cNvPr id="27" name="Rounded Rectangle 26"/>
          <p:cNvSpPr/>
          <p:nvPr/>
        </p:nvSpPr>
        <p:spPr>
          <a:xfrm>
            <a:off x="713232"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13232" y="3694175"/>
            <a:ext cx="100584" cy="2066543"/>
          </a:xfrm>
          <a:prstGeom prst="roundRect">
            <a:avLst/>
          </a:prstGeom>
          <a:solidFill>
            <a:srgbClr val="F4A03A"/>
          </a:solidFill>
          <a:ln>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87552" y="3950207"/>
            <a:ext cx="502920" cy="502920"/>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1" name="TextBox 30"/>
          <p:cNvSpPr txBox="1"/>
          <p:nvPr/>
        </p:nvSpPr>
        <p:spPr>
          <a:xfrm>
            <a:off x="1627632"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Ownership</a:t>
            </a:r>
          </a:p>
        </p:txBody>
      </p:sp>
      <p:sp>
        <p:nvSpPr>
          <p:cNvPr id="32" name="TextBox 31"/>
          <p:cNvSpPr txBox="1"/>
          <p:nvPr/>
        </p:nvSpPr>
        <p:spPr>
          <a:xfrm>
            <a:off x="1627632"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Asumir compromisos, comunicar límites y responder por resultados sin buscar culpables.</a:t>
            </a:r>
          </a:p>
        </p:txBody>
      </p:sp>
      <p:sp>
        <p:nvSpPr>
          <p:cNvPr id="33" name="Rounded Rectangle 32"/>
          <p:cNvSpPr/>
          <p:nvPr/>
        </p:nvSpPr>
        <p:spPr>
          <a:xfrm>
            <a:off x="4395216"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395216" y="3694175"/>
            <a:ext cx="100584" cy="2066543"/>
          </a:xfrm>
          <a:prstGeom prst="roundRect">
            <a:avLst/>
          </a:prstGeom>
          <a:solidFill>
            <a:srgbClr val="33AD76"/>
          </a:solidFill>
          <a:ln>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69536" y="3950207"/>
            <a:ext cx="502920" cy="502920"/>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9536"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5</a:t>
            </a:r>
          </a:p>
        </p:txBody>
      </p:sp>
      <p:sp>
        <p:nvSpPr>
          <p:cNvPr id="37" name="TextBox 36"/>
          <p:cNvSpPr txBox="1"/>
          <p:nvPr/>
        </p:nvSpPr>
        <p:spPr>
          <a:xfrm>
            <a:off x="5309616"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Feedback y conflicto</a:t>
            </a:r>
          </a:p>
        </p:txBody>
      </p:sp>
      <p:sp>
        <p:nvSpPr>
          <p:cNvPr id="38" name="TextBox 37"/>
          <p:cNvSpPr txBox="1"/>
          <p:nvPr/>
        </p:nvSpPr>
        <p:spPr>
          <a:xfrm>
            <a:off x="5309616"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Dar y recibir observaciones sobre el trabajo con respeto, evidencia y apertura.</a:t>
            </a:r>
          </a:p>
        </p:txBody>
      </p:sp>
      <p:sp>
        <p:nvSpPr>
          <p:cNvPr id="39" name="Rounded Rectangle 38"/>
          <p:cNvSpPr/>
          <p:nvPr/>
        </p:nvSpPr>
        <p:spPr>
          <a:xfrm>
            <a:off x="8077199" y="3694175"/>
            <a:ext cx="3407664"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77199" y="3694175"/>
            <a:ext cx="100584" cy="2066543"/>
          </a:xfrm>
          <a:prstGeom prst="roundRect">
            <a:avLst/>
          </a:prstGeom>
          <a:solidFill>
            <a:srgbClr val="1BA39C"/>
          </a:solidFill>
          <a:ln>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351520" y="3950207"/>
            <a:ext cx="502920" cy="502920"/>
          </a:xfrm>
          <a:prstGeom prst="ellipse">
            <a:avLst/>
          </a:prstGeom>
          <a:solidFill>
            <a:srgbClr val="1BA39C"/>
          </a:solidFill>
          <a:ln w="15240">
            <a:solidFill>
              <a:srgbClr val="1BA3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51520"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6</a:t>
            </a:r>
          </a:p>
        </p:txBody>
      </p:sp>
      <p:sp>
        <p:nvSpPr>
          <p:cNvPr id="43" name="TextBox 42"/>
          <p:cNvSpPr txBox="1"/>
          <p:nvPr/>
        </p:nvSpPr>
        <p:spPr>
          <a:xfrm>
            <a:off x="8991599" y="3913631"/>
            <a:ext cx="2218944" cy="493776"/>
          </a:xfrm>
          <a:prstGeom prst="rect">
            <a:avLst/>
          </a:prstGeom>
          <a:noFill/>
        </p:spPr>
        <p:txBody>
          <a:bodyPr wrap="square" anchor="t" lIns="36576" rIns="36576" tIns="36576" bIns="36576">
            <a:spAutoFit/>
          </a:bodyPr>
          <a:lstStyle/>
          <a:p>
            <a:pPr algn="l"/>
            <a:r>
              <a:rPr sz="1550" b="1" i="0">
                <a:solidFill>
                  <a:srgbClr val="16263C"/>
                </a:solidFill>
                <a:latin typeface="Aptos"/>
              </a:rPr>
              <a:t>Negociación e influencia</a:t>
            </a:r>
          </a:p>
        </p:txBody>
      </p:sp>
      <p:sp>
        <p:nvSpPr>
          <p:cNvPr id="44" name="TextBox 43"/>
          <p:cNvSpPr txBox="1"/>
          <p:nvPr/>
        </p:nvSpPr>
        <p:spPr>
          <a:xfrm>
            <a:off x="8991599" y="4462271"/>
            <a:ext cx="2200655" cy="1060703"/>
          </a:xfrm>
          <a:prstGeom prst="rect">
            <a:avLst/>
          </a:prstGeom>
          <a:noFill/>
        </p:spPr>
        <p:txBody>
          <a:bodyPr wrap="square" anchor="t" lIns="36576" rIns="36576" tIns="36576" bIns="36576">
            <a:spAutoFit/>
          </a:bodyPr>
          <a:lstStyle/>
          <a:p>
            <a:pPr algn="l"/>
            <a:r>
              <a:rPr sz="1280" b="0" i="0">
                <a:solidFill>
                  <a:srgbClr val="586A80"/>
                </a:solidFill>
                <a:latin typeface="Aptos"/>
              </a:rPr>
              <a:t>Acordar alcance, tiempo, calidad y expectativas sin imponer ni ceder a ciegas.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30</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Comentarios positivos y matizados en Glassdoor</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Fragmentos breves de reseñas anónimas; las empresas se omiten y cada experiencia requiere contexto.</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Glassdoor: P1, 4 jun. 2026 (5/5); P2, 18 mar. 2026 (5/5); P3, 11 nov. 2021 (5/5); P4, 24 feb. 2023 (5/5).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30</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COMENTARIOS PUBLICADOS</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“People genuinely care — about the product, about the customer, and about each other.” (P1)</a:t>
            </a:r>
          </a:p>
          <a:p>
            <a:pPr>
              <a:lnSpc>
                <a:spcPct val="105000"/>
              </a:lnSpc>
              <a:spcAft>
                <a:spcPts val="900"/>
              </a:spcAft>
              <a:defRPr sz="1600">
                <a:solidFill>
                  <a:srgbClr val="16263C"/>
                </a:solidFill>
                <a:latin typeface="Aptos"/>
              </a:defRPr>
            </a:pPr>
            <a:r>
              <a:t>•  “Urgent requests happen often.” (P2)</a:t>
            </a:r>
          </a:p>
          <a:p>
            <a:pPr>
              <a:lnSpc>
                <a:spcPct val="105000"/>
              </a:lnSpc>
              <a:spcAft>
                <a:spcPts val="900"/>
              </a:spcAft>
              <a:defRPr sz="1600">
                <a:solidFill>
                  <a:srgbClr val="16263C"/>
                </a:solidFill>
                <a:latin typeface="Aptos"/>
              </a:defRPr>
            </a:pPr>
            <a:r>
              <a:t>•  “There is more to learn around every corner.” (P3)</a:t>
            </a:r>
          </a:p>
          <a:p>
            <a:pPr>
              <a:lnSpc>
                <a:spcPct val="105000"/>
              </a:lnSpc>
              <a:spcAft>
                <a:spcPts val="900"/>
              </a:spcAft>
              <a:defRPr sz="1600">
                <a:solidFill>
                  <a:srgbClr val="16263C"/>
                </a:solidFill>
                <a:latin typeface="Aptos"/>
              </a:defRPr>
            </a:pPr>
            <a:r>
              <a:t>•  “Team-first.” (P4)</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LECTURA PROFESIONAL</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P1: compromiso con producto, clientes y compañeros</a:t>
            </a:r>
          </a:p>
          <a:p>
            <a:pPr>
              <a:lnSpc>
                <a:spcPct val="105000"/>
              </a:lnSpc>
              <a:spcAft>
                <a:spcPts val="900"/>
              </a:spcAft>
              <a:defRPr sz="1600">
                <a:solidFill>
                  <a:srgbClr val="FFFFFF"/>
                </a:solidFill>
                <a:latin typeface="Aptos"/>
              </a:defRPr>
            </a:pPr>
            <a:r>
              <a:t>•  P2: incluso una reseña positiva puede revelar urgencias y silos</a:t>
            </a:r>
          </a:p>
          <a:p>
            <a:pPr>
              <a:lnSpc>
                <a:spcPct val="105000"/>
              </a:lnSpc>
              <a:spcAft>
                <a:spcPts val="900"/>
              </a:spcAft>
              <a:defRPr sz="1600">
                <a:solidFill>
                  <a:srgbClr val="FFFFFF"/>
                </a:solidFill>
                <a:latin typeface="Aptos"/>
              </a:defRPr>
            </a:pPr>
            <a:r>
              <a:t>•  P3: aprendizaje continuo y posibilidad de crecimiento</a:t>
            </a:r>
          </a:p>
          <a:p>
            <a:pPr>
              <a:lnSpc>
                <a:spcPct val="105000"/>
              </a:lnSpc>
              <a:spcAft>
                <a:spcPts val="900"/>
              </a:spcAft>
              <a:defRPr sz="1600">
                <a:solidFill>
                  <a:srgbClr val="FFFFFF"/>
                </a:solidFill>
                <a:latin typeface="Aptos"/>
              </a:defRPr>
            </a:pPr>
            <a:r>
              <a:t>•  P4: colaboración y disposición para ayudar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31</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Comentarios críticos: cuando el problema no es técnico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Los comentarios describen percepciones individuales; los patrones repetidos ayudan a formular mejores preguntas.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Glassdoor: N1, 25 jun. 2026 (1/5); N2, 23 ene. 2026 (2/5); N3, 8 ago. 2025 (1/5); N4, 2 feb. 2023 (2/5).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31</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COMENTARIOS PUBLICADOS</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900"/>
              </a:spcAft>
              <a:defRPr sz="1600">
                <a:solidFill>
                  <a:srgbClr val="16263C"/>
                </a:solidFill>
                <a:latin typeface="Aptos"/>
              </a:defRPr>
            </a:pPr>
            <a:r>
              <a:t>•  “Leadership frequently changes direction.” (N1)</a:t>
            </a:r>
          </a:p>
          <a:p>
            <a:pPr>
              <a:lnSpc>
                <a:spcPct val="105000"/>
              </a:lnSpc>
              <a:spcAft>
                <a:spcPts val="900"/>
              </a:spcAft>
              <a:defRPr sz="1600">
                <a:solidFill>
                  <a:srgbClr val="16263C"/>
                </a:solidFill>
                <a:latin typeface="Aptos"/>
              </a:defRPr>
            </a:pPr>
            <a:r>
              <a:t>•  “Important conversations are often moved to private DMs.” (N2)</a:t>
            </a:r>
          </a:p>
          <a:p>
            <a:pPr>
              <a:lnSpc>
                <a:spcPct val="105000"/>
              </a:lnSpc>
              <a:spcAft>
                <a:spcPts val="900"/>
              </a:spcAft>
              <a:defRPr sz="1600">
                <a:solidFill>
                  <a:srgbClr val="16263C"/>
                </a:solidFill>
                <a:latin typeface="Aptos"/>
              </a:defRPr>
            </a:pPr>
            <a:r>
              <a:t>•  “Projects often lacked clear direction.” (N3)</a:t>
            </a:r>
          </a:p>
          <a:p>
            <a:pPr>
              <a:lnSpc>
                <a:spcPct val="105000"/>
              </a:lnSpc>
              <a:spcAft>
                <a:spcPts val="900"/>
              </a:spcAft>
              <a:defRPr sz="1600">
                <a:solidFill>
                  <a:srgbClr val="16263C"/>
                </a:solidFill>
                <a:latin typeface="Aptos"/>
              </a:defRPr>
            </a:pPr>
            <a:r>
              <a:t>•  “You have to wear ‘many hats’ working here.” (N4)</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LECTURA PROFESIONAL</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900"/>
              </a:spcAft>
              <a:defRPr sz="1600">
                <a:solidFill>
                  <a:srgbClr val="FFFFFF"/>
                </a:solidFill>
                <a:latin typeface="Aptos"/>
              </a:defRPr>
            </a:pPr>
            <a:r>
              <a:t>•  N1: inestabilidad, retrabajo y dificultad para planificar</a:t>
            </a:r>
          </a:p>
          <a:p>
            <a:pPr>
              <a:lnSpc>
                <a:spcPct val="105000"/>
              </a:lnSpc>
              <a:spcAft>
                <a:spcPts val="900"/>
              </a:spcAft>
              <a:defRPr sz="1600">
                <a:solidFill>
                  <a:srgbClr val="FFFFFF"/>
                </a:solidFill>
                <a:latin typeface="Aptos"/>
              </a:defRPr>
            </a:pPr>
            <a:r>
              <a:t>•  N2: menor transparencia y riesgo de narrativas selectivas</a:t>
            </a:r>
          </a:p>
          <a:p>
            <a:pPr>
              <a:lnSpc>
                <a:spcPct val="105000"/>
              </a:lnSpc>
              <a:spcAft>
                <a:spcPts val="900"/>
              </a:spcAft>
              <a:defRPr sz="1600">
                <a:solidFill>
                  <a:srgbClr val="FFFFFF"/>
                </a:solidFill>
                <a:latin typeface="Aptos"/>
              </a:defRPr>
            </a:pPr>
            <a:r>
              <a:t>•  N3: ambigüedad, promesas incumplidas y crecimiento limitado</a:t>
            </a:r>
          </a:p>
          <a:p>
            <a:pPr>
              <a:lnSpc>
                <a:spcPct val="105000"/>
              </a:lnSpc>
              <a:spcAft>
                <a:spcPts val="900"/>
              </a:spcAft>
              <a:defRPr sz="1600">
                <a:solidFill>
                  <a:srgbClr val="FFFFFF"/>
                </a:solidFill>
                <a:latin typeface="Aptos"/>
              </a:defRPr>
            </a:pPr>
            <a:r>
              <a:t>•  N4: sobrecarga, reuniones y responsabilidades poco definidas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34</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Cómo responder profesionalmente en un entorno difícil</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No controlas todas las decisiones; sí puedes aportar claridad, proteger evidencia y elegir tus límites.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Aplicación práctica derivada de los patrones de las reseñas de Glassdoor citadas; documentar hechos, no rumores.</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34</a:t>
            </a:r>
          </a:p>
        </p:txBody>
      </p:sp>
      <p:sp>
        <p:nvSpPr>
          <p:cNvPr id="10" name="Oval 9"/>
          <p:cNvSpPr/>
          <p:nvPr/>
        </p:nvSpPr>
        <p:spPr>
          <a:xfrm>
            <a:off x="1292961" y="1325880"/>
            <a:ext cx="585216" cy="585216"/>
          </a:xfrm>
          <a:prstGeom prst="ellipse">
            <a:avLst/>
          </a:prstGeom>
          <a:solidFill>
            <a:srgbClr val="31CADB"/>
          </a:solidFill>
          <a:ln w="15240">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92961"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1</a:t>
            </a:r>
          </a:p>
        </p:txBody>
      </p:sp>
      <p:sp>
        <p:nvSpPr>
          <p:cNvPr id="12" name="Rounded Rectangle 11"/>
          <p:cNvSpPr/>
          <p:nvPr/>
        </p:nvSpPr>
        <p:spPr>
          <a:xfrm>
            <a:off x="530352"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1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Aclarar</a:t>
            </a:r>
          </a:p>
        </p:txBody>
      </p:sp>
      <p:sp>
        <p:nvSpPr>
          <p:cNvPr id="14" name="TextBox 13"/>
          <p:cNvSpPr txBox="1"/>
          <p:nvPr/>
        </p:nvSpPr>
        <p:spPr>
          <a:xfrm>
            <a:off x="758952"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Pregunta por resultado, prioridad, responsable, fecha y criterio de terminado.</a:t>
            </a:r>
          </a:p>
        </p:txBody>
      </p:sp>
      <p:sp>
        <p:nvSpPr>
          <p:cNvPr id="15" name="TextBox 14"/>
          <p:cNvSpPr txBox="1"/>
          <p:nvPr/>
        </p:nvSpPr>
        <p:spPr>
          <a:xfrm>
            <a:off x="2604211"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16" name="Oval 15"/>
          <p:cNvSpPr/>
          <p:nvPr/>
        </p:nvSpPr>
        <p:spPr>
          <a:xfrm>
            <a:off x="3549700" y="1325880"/>
            <a:ext cx="585216" cy="585216"/>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4970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2</a:t>
            </a:r>
          </a:p>
        </p:txBody>
      </p:sp>
      <p:sp>
        <p:nvSpPr>
          <p:cNvPr id="18" name="Rounded Rectangle 17"/>
          <p:cNvSpPr/>
          <p:nvPr/>
        </p:nvSpPr>
        <p:spPr>
          <a:xfrm>
            <a:off x="2787091"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8259"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Documentar</a:t>
            </a:r>
          </a:p>
        </p:txBody>
      </p:sp>
      <p:sp>
        <p:nvSpPr>
          <p:cNvPr id="20" name="TextBox 19"/>
          <p:cNvSpPr txBox="1"/>
          <p:nvPr/>
        </p:nvSpPr>
        <p:spPr>
          <a:xfrm>
            <a:off x="3015691"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Resume acuerdos y cambios en canales compartidos, sin acusaciones.</a:t>
            </a:r>
          </a:p>
        </p:txBody>
      </p:sp>
      <p:sp>
        <p:nvSpPr>
          <p:cNvPr id="21" name="TextBox 20"/>
          <p:cNvSpPr txBox="1"/>
          <p:nvPr/>
        </p:nvSpPr>
        <p:spPr>
          <a:xfrm>
            <a:off x="4860950"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2" name="Oval 21"/>
          <p:cNvSpPr/>
          <p:nvPr/>
        </p:nvSpPr>
        <p:spPr>
          <a:xfrm>
            <a:off x="5806440" y="1325880"/>
            <a:ext cx="585216" cy="585216"/>
          </a:xfrm>
          <a:prstGeom prst="ellipse">
            <a:avLst/>
          </a:prstGeom>
          <a:solidFill>
            <a:srgbClr val="7C5CBC"/>
          </a:solidFill>
          <a:ln w="15240">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3</a:t>
            </a:r>
          </a:p>
        </p:txBody>
      </p:sp>
      <p:sp>
        <p:nvSpPr>
          <p:cNvPr id="24" name="Rounded Rectangle 23"/>
          <p:cNvSpPr/>
          <p:nvPr/>
        </p:nvSpPr>
        <p:spPr>
          <a:xfrm>
            <a:off x="5043830"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44998"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Negociar</a:t>
            </a:r>
          </a:p>
        </p:txBody>
      </p:sp>
      <p:sp>
        <p:nvSpPr>
          <p:cNvPr id="26" name="TextBox 25"/>
          <p:cNvSpPr txBox="1"/>
          <p:nvPr/>
        </p:nvSpPr>
        <p:spPr>
          <a:xfrm>
            <a:off x="5272430"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Si entra una urgencia, pregunta qué alcance, fecha o tarea debe moverse.</a:t>
            </a:r>
          </a:p>
        </p:txBody>
      </p:sp>
      <p:sp>
        <p:nvSpPr>
          <p:cNvPr id="27" name="TextBox 26"/>
          <p:cNvSpPr txBox="1"/>
          <p:nvPr/>
        </p:nvSpPr>
        <p:spPr>
          <a:xfrm>
            <a:off x="7117689"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28" name="Oval 27"/>
          <p:cNvSpPr/>
          <p:nvPr/>
        </p:nvSpPr>
        <p:spPr>
          <a:xfrm>
            <a:off x="8063179" y="1325880"/>
            <a:ext cx="585216" cy="585216"/>
          </a:xfrm>
          <a:prstGeom prst="ellipse">
            <a:avLst/>
          </a:prstGeom>
          <a:solidFill>
            <a:srgbClr val="F4A03A"/>
          </a:solidFill>
          <a:ln w="15240">
            <a:solidFill>
              <a:srgbClr val="F4A0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63179"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4</a:t>
            </a:r>
          </a:p>
        </p:txBody>
      </p:sp>
      <p:sp>
        <p:nvSpPr>
          <p:cNvPr id="30" name="Rounded Rectangle 29"/>
          <p:cNvSpPr/>
          <p:nvPr/>
        </p:nvSpPr>
        <p:spPr>
          <a:xfrm>
            <a:off x="7300569"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01737"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Reducir riesgo</a:t>
            </a:r>
          </a:p>
        </p:txBody>
      </p:sp>
      <p:sp>
        <p:nvSpPr>
          <p:cNvPr id="32" name="TextBox 31"/>
          <p:cNvSpPr txBox="1"/>
          <p:nvPr/>
        </p:nvSpPr>
        <p:spPr>
          <a:xfrm>
            <a:off x="7529169"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Comparte conocimiento, automatiza, prueba, registra decisiones y evita héroes.</a:t>
            </a:r>
          </a:p>
        </p:txBody>
      </p:sp>
      <p:sp>
        <p:nvSpPr>
          <p:cNvPr id="33" name="TextBox 32"/>
          <p:cNvSpPr txBox="1"/>
          <p:nvPr/>
        </p:nvSpPr>
        <p:spPr>
          <a:xfrm>
            <a:off x="9374428" y="3017520"/>
            <a:ext cx="237744" cy="320040"/>
          </a:xfrm>
          <a:prstGeom prst="rect">
            <a:avLst/>
          </a:prstGeom>
          <a:noFill/>
        </p:spPr>
        <p:txBody>
          <a:bodyPr wrap="square" anchor="t" lIns="36576" rIns="36576" tIns="36576" bIns="36576">
            <a:spAutoFit/>
          </a:bodyPr>
          <a:lstStyle/>
          <a:p>
            <a:pPr algn="ctr"/>
            <a:r>
              <a:rPr sz="1700" b="1" i="0">
                <a:solidFill>
                  <a:srgbClr val="195CAA"/>
                </a:solidFill>
                <a:latin typeface="Aptos"/>
              </a:rPr>
              <a:t>→</a:t>
            </a:r>
          </a:p>
        </p:txBody>
      </p:sp>
      <p:sp>
        <p:nvSpPr>
          <p:cNvPr id="34" name="Oval 33"/>
          <p:cNvSpPr/>
          <p:nvPr/>
        </p:nvSpPr>
        <p:spPr>
          <a:xfrm>
            <a:off x="10319918" y="1325880"/>
            <a:ext cx="585216" cy="585216"/>
          </a:xfrm>
          <a:prstGeom prst="ellipse">
            <a:avLst/>
          </a:prstGeom>
          <a:solidFill>
            <a:srgbClr val="33AD76"/>
          </a:solidFill>
          <a:ln w="15240">
            <a:solidFill>
              <a:srgbClr val="33AD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9918" y="1426464"/>
            <a:ext cx="585216" cy="274320"/>
          </a:xfrm>
          <a:prstGeom prst="rect">
            <a:avLst/>
          </a:prstGeom>
          <a:noFill/>
        </p:spPr>
        <p:txBody>
          <a:bodyPr wrap="square" anchor="t" lIns="36576" rIns="36576" tIns="36576" bIns="36576">
            <a:spAutoFit/>
          </a:bodyPr>
          <a:lstStyle/>
          <a:p>
            <a:pPr algn="ctr"/>
            <a:r>
              <a:rPr sz="1300" b="1" i="0">
                <a:solidFill>
                  <a:srgbClr val="FFFFFF"/>
                </a:solidFill>
                <a:latin typeface="Aptos"/>
              </a:rPr>
              <a:t>5</a:t>
            </a:r>
          </a:p>
        </p:txBody>
      </p:sp>
      <p:sp>
        <p:nvSpPr>
          <p:cNvPr id="36" name="Rounded Rectangle 35"/>
          <p:cNvSpPr/>
          <p:nvPr/>
        </p:nvSpPr>
        <p:spPr>
          <a:xfrm>
            <a:off x="9557308" y="1874519"/>
            <a:ext cx="2110435" cy="3090672"/>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58476" y="2194560"/>
            <a:ext cx="1708099" cy="438912"/>
          </a:xfrm>
          <a:prstGeom prst="rect">
            <a:avLst/>
          </a:prstGeom>
          <a:noFill/>
        </p:spPr>
        <p:txBody>
          <a:bodyPr wrap="square" anchor="t" lIns="36576" rIns="36576" tIns="36576" bIns="36576">
            <a:spAutoFit/>
          </a:bodyPr>
          <a:lstStyle/>
          <a:p>
            <a:pPr algn="ctr"/>
            <a:r>
              <a:rPr sz="1550" b="1" i="0">
                <a:solidFill>
                  <a:srgbClr val="16263C"/>
                </a:solidFill>
                <a:latin typeface="Aptos"/>
              </a:rPr>
              <a:t>Escalar o salir</a:t>
            </a:r>
          </a:p>
        </p:txBody>
      </p:sp>
      <p:sp>
        <p:nvSpPr>
          <p:cNvPr id="38" name="TextBox 37"/>
          <p:cNvSpPr txBox="1"/>
          <p:nvPr/>
        </p:nvSpPr>
        <p:spPr>
          <a:xfrm>
            <a:off x="9785908" y="2807208"/>
            <a:ext cx="1653235" cy="1627632"/>
          </a:xfrm>
          <a:prstGeom prst="rect">
            <a:avLst/>
          </a:prstGeom>
          <a:noFill/>
        </p:spPr>
        <p:txBody>
          <a:bodyPr wrap="square" anchor="t" lIns="36576" rIns="36576" tIns="36576" bIns="36576">
            <a:spAutoFit/>
          </a:bodyPr>
          <a:lstStyle/>
          <a:p>
            <a:pPr algn="ctr"/>
            <a:r>
              <a:rPr sz="1180" b="0" i="0">
                <a:solidFill>
                  <a:srgbClr val="586A80"/>
                </a:solidFill>
                <a:latin typeface="Aptos"/>
              </a:rPr>
              <a:t>Presenta hechos, impacto y opciones; define límites y conserva un plan alternativo.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32</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Posts de Glassdoor utilizados como casos de reflexión</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Las empresas se omiten deliberadamente; se conservan fecha, puntuación, perfil y patrón analizado.</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 posts de Glassdoor suministrados por la expositora; síntesis y anonimización para fines educativos.</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32</a:t>
            </a:r>
          </a:p>
        </p:txBody>
      </p:sp>
      <p:sp>
        <p:nvSpPr>
          <p:cNvPr id="10" name="Rectangle 9"/>
          <p:cNvSpPr/>
          <p:nvPr/>
        </p:nvSpPr>
        <p:spPr>
          <a:xfrm>
            <a:off x="548640" y="1353312"/>
            <a:ext cx="658368" cy="530352"/>
          </a:xfrm>
          <a:prstGeom prst="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490472"/>
            <a:ext cx="475488" cy="228600"/>
          </a:xfrm>
          <a:prstGeom prst="rect">
            <a:avLst/>
          </a:prstGeom>
          <a:noFill/>
        </p:spPr>
        <p:txBody>
          <a:bodyPr wrap="square" anchor="t" lIns="36576" rIns="36576" tIns="36576" bIns="36576">
            <a:spAutoFit/>
          </a:bodyPr>
          <a:lstStyle/>
          <a:p>
            <a:pPr algn="ctr"/>
            <a:r>
              <a:rPr sz="1150" b="1" i="0">
                <a:solidFill>
                  <a:srgbClr val="FFFFFF"/>
                </a:solidFill>
                <a:latin typeface="Aptos"/>
              </a:rPr>
              <a:t>Caso</a:t>
            </a:r>
          </a:p>
        </p:txBody>
      </p:sp>
      <p:sp>
        <p:nvSpPr>
          <p:cNvPr id="12" name="Rectangle 11"/>
          <p:cNvSpPr/>
          <p:nvPr/>
        </p:nvSpPr>
        <p:spPr>
          <a:xfrm>
            <a:off x="1207007" y="1353312"/>
            <a:ext cx="1938528"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98448" y="1490472"/>
            <a:ext cx="1755648" cy="228600"/>
          </a:xfrm>
          <a:prstGeom prst="rect">
            <a:avLst/>
          </a:prstGeom>
          <a:noFill/>
        </p:spPr>
        <p:txBody>
          <a:bodyPr wrap="square" anchor="t" lIns="36576" rIns="36576" tIns="36576" bIns="36576">
            <a:spAutoFit/>
          </a:bodyPr>
          <a:lstStyle/>
          <a:p>
            <a:pPr algn="ctr"/>
            <a:r>
              <a:rPr sz="1150" b="1" i="0">
                <a:solidFill>
                  <a:srgbClr val="FFFFFF"/>
                </a:solidFill>
                <a:latin typeface="Aptos"/>
              </a:rPr>
              <a:t>Fecha y puntuación</a:t>
            </a:r>
          </a:p>
        </p:txBody>
      </p:sp>
      <p:sp>
        <p:nvSpPr>
          <p:cNvPr id="14" name="Rectangle 13"/>
          <p:cNvSpPr/>
          <p:nvPr/>
        </p:nvSpPr>
        <p:spPr>
          <a:xfrm>
            <a:off x="3145536" y="1353312"/>
            <a:ext cx="2578608"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6976" y="1490472"/>
            <a:ext cx="2395727" cy="228600"/>
          </a:xfrm>
          <a:prstGeom prst="rect">
            <a:avLst/>
          </a:prstGeom>
          <a:noFill/>
        </p:spPr>
        <p:txBody>
          <a:bodyPr wrap="square" anchor="t" lIns="36576" rIns="36576" tIns="36576" bIns="36576">
            <a:spAutoFit/>
          </a:bodyPr>
          <a:lstStyle/>
          <a:p>
            <a:pPr algn="ctr"/>
            <a:r>
              <a:rPr sz="1150" b="1" i="0">
                <a:solidFill>
                  <a:srgbClr val="FFFFFF"/>
                </a:solidFill>
                <a:latin typeface="Aptos"/>
              </a:rPr>
              <a:t>Perfil publicado</a:t>
            </a:r>
          </a:p>
        </p:txBody>
      </p:sp>
      <p:sp>
        <p:nvSpPr>
          <p:cNvPr id="16" name="Rectangle 15"/>
          <p:cNvSpPr/>
          <p:nvPr/>
        </p:nvSpPr>
        <p:spPr>
          <a:xfrm>
            <a:off x="5724144" y="1353312"/>
            <a:ext cx="5907024" cy="530352"/>
          </a:xfrm>
          <a:prstGeom prst="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5583" y="1490472"/>
            <a:ext cx="5724144" cy="228600"/>
          </a:xfrm>
          <a:prstGeom prst="rect">
            <a:avLst/>
          </a:prstGeom>
          <a:noFill/>
        </p:spPr>
        <p:txBody>
          <a:bodyPr wrap="square" anchor="t" lIns="36576" rIns="36576" tIns="36576" bIns="36576">
            <a:spAutoFit/>
          </a:bodyPr>
          <a:lstStyle/>
          <a:p>
            <a:pPr algn="ctr"/>
            <a:r>
              <a:rPr sz="1150" b="1" i="0">
                <a:solidFill>
                  <a:srgbClr val="FFFFFF"/>
                </a:solidFill>
                <a:latin typeface="Aptos"/>
              </a:rPr>
              <a:t>Patrón utilizado en el taller</a:t>
            </a:r>
          </a:p>
        </p:txBody>
      </p:sp>
      <p:sp>
        <p:nvSpPr>
          <p:cNvPr id="18" name="Rectangle 17"/>
          <p:cNvSpPr/>
          <p:nvPr/>
        </p:nvSpPr>
        <p:spPr>
          <a:xfrm>
            <a:off x="548640" y="1883664"/>
            <a:ext cx="65836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1975104"/>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P1</a:t>
            </a:r>
          </a:p>
        </p:txBody>
      </p:sp>
      <p:sp>
        <p:nvSpPr>
          <p:cNvPr id="20" name="Rectangle 19"/>
          <p:cNvSpPr/>
          <p:nvPr/>
        </p:nvSpPr>
        <p:spPr>
          <a:xfrm>
            <a:off x="1207007" y="1883664"/>
            <a:ext cx="193852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8448" y="1975104"/>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4 jun. 2026 · 5/5</a:t>
            </a:r>
          </a:p>
        </p:txBody>
      </p:sp>
      <p:sp>
        <p:nvSpPr>
          <p:cNvPr id="22" name="Rectangle 21"/>
          <p:cNvSpPr/>
          <p:nvPr/>
        </p:nvSpPr>
        <p:spPr>
          <a:xfrm>
            <a:off x="3145536" y="1883664"/>
            <a:ext cx="25786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6976" y="1975104"/>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Empleado actual · &lt;1 año</a:t>
            </a:r>
          </a:p>
        </p:txBody>
      </p:sp>
      <p:sp>
        <p:nvSpPr>
          <p:cNvPr id="24" name="Rectangle 23"/>
          <p:cNvSpPr/>
          <p:nvPr/>
        </p:nvSpPr>
        <p:spPr>
          <a:xfrm>
            <a:off x="5724144" y="1883664"/>
            <a:ext cx="5907024"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15583" y="1975104"/>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Ownership, apoyo, feedback y contratación intencional</a:t>
            </a:r>
          </a:p>
        </p:txBody>
      </p:sp>
      <p:sp>
        <p:nvSpPr>
          <p:cNvPr id="26" name="Rectangle 25"/>
          <p:cNvSpPr/>
          <p:nvPr/>
        </p:nvSpPr>
        <p:spPr>
          <a:xfrm>
            <a:off x="548640" y="2400300"/>
            <a:ext cx="65836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2491740"/>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P2</a:t>
            </a:r>
          </a:p>
        </p:txBody>
      </p:sp>
      <p:sp>
        <p:nvSpPr>
          <p:cNvPr id="28" name="Rectangle 27"/>
          <p:cNvSpPr/>
          <p:nvPr/>
        </p:nvSpPr>
        <p:spPr>
          <a:xfrm>
            <a:off x="1207007" y="2400300"/>
            <a:ext cx="193852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98448" y="2491740"/>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18 mar. 2026 · 5/5</a:t>
            </a:r>
          </a:p>
        </p:txBody>
      </p:sp>
      <p:sp>
        <p:nvSpPr>
          <p:cNvPr id="30" name="Rectangle 29"/>
          <p:cNvSpPr/>
          <p:nvPr/>
        </p:nvSpPr>
        <p:spPr>
          <a:xfrm>
            <a:off x="3145536" y="2400300"/>
            <a:ext cx="25786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6976" y="2491740"/>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Empleado actual · &gt;1 año</a:t>
            </a:r>
          </a:p>
        </p:txBody>
      </p:sp>
      <p:sp>
        <p:nvSpPr>
          <p:cNvPr id="32" name="Rectangle 31"/>
          <p:cNvSpPr/>
          <p:nvPr/>
        </p:nvSpPr>
        <p:spPr>
          <a:xfrm>
            <a:off x="5724144" y="2400300"/>
            <a:ext cx="5907024"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15583" y="2491740"/>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Mejor ritmo operativo; urgencias y conocimiento aislado</a:t>
            </a:r>
          </a:p>
        </p:txBody>
      </p:sp>
      <p:sp>
        <p:nvSpPr>
          <p:cNvPr id="34" name="Rectangle 33"/>
          <p:cNvSpPr/>
          <p:nvPr/>
        </p:nvSpPr>
        <p:spPr>
          <a:xfrm>
            <a:off x="548640" y="2916936"/>
            <a:ext cx="65836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 y="3008376"/>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P3</a:t>
            </a:r>
          </a:p>
        </p:txBody>
      </p:sp>
      <p:sp>
        <p:nvSpPr>
          <p:cNvPr id="36" name="Rectangle 35"/>
          <p:cNvSpPr/>
          <p:nvPr/>
        </p:nvSpPr>
        <p:spPr>
          <a:xfrm>
            <a:off x="1207007" y="2916936"/>
            <a:ext cx="193852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98448" y="3008376"/>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11 nov. 2021 · 5/5</a:t>
            </a:r>
          </a:p>
        </p:txBody>
      </p:sp>
      <p:sp>
        <p:nvSpPr>
          <p:cNvPr id="38" name="Rectangle 37"/>
          <p:cNvSpPr/>
          <p:nvPr/>
        </p:nvSpPr>
        <p:spPr>
          <a:xfrm>
            <a:off x="3145536" y="2916936"/>
            <a:ext cx="25786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6976" y="3008376"/>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Lead QA Engineer · actual</a:t>
            </a:r>
          </a:p>
        </p:txBody>
      </p:sp>
      <p:sp>
        <p:nvSpPr>
          <p:cNvPr id="40" name="Rectangle 39"/>
          <p:cNvSpPr/>
          <p:nvPr/>
        </p:nvSpPr>
        <p:spPr>
          <a:xfrm>
            <a:off x="5724144" y="2916936"/>
            <a:ext cx="5907024"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15583" y="3008376"/>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Aprendizaje continuo y oportunidades para crear una trayectoria</a:t>
            </a:r>
          </a:p>
        </p:txBody>
      </p:sp>
      <p:sp>
        <p:nvSpPr>
          <p:cNvPr id="42" name="Rectangle 41"/>
          <p:cNvSpPr/>
          <p:nvPr/>
        </p:nvSpPr>
        <p:spPr>
          <a:xfrm>
            <a:off x="548640" y="3433572"/>
            <a:ext cx="65836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3525012"/>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P4</a:t>
            </a:r>
          </a:p>
        </p:txBody>
      </p:sp>
      <p:sp>
        <p:nvSpPr>
          <p:cNvPr id="44" name="Rectangle 43"/>
          <p:cNvSpPr/>
          <p:nvPr/>
        </p:nvSpPr>
        <p:spPr>
          <a:xfrm>
            <a:off x="1207007" y="3433572"/>
            <a:ext cx="193852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98448" y="3525012"/>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24 feb. 2023 · 5/5</a:t>
            </a:r>
          </a:p>
        </p:txBody>
      </p:sp>
      <p:sp>
        <p:nvSpPr>
          <p:cNvPr id="46" name="Rectangle 45"/>
          <p:cNvSpPr/>
          <p:nvPr/>
        </p:nvSpPr>
        <p:spPr>
          <a:xfrm>
            <a:off x="3145536" y="3433572"/>
            <a:ext cx="25786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6976" y="3525012"/>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Revenue Operations · actual</a:t>
            </a:r>
          </a:p>
        </p:txBody>
      </p:sp>
      <p:sp>
        <p:nvSpPr>
          <p:cNvPr id="48" name="Rectangle 47"/>
          <p:cNvSpPr/>
          <p:nvPr/>
        </p:nvSpPr>
        <p:spPr>
          <a:xfrm>
            <a:off x="5724144" y="3433572"/>
            <a:ext cx="5907024"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15583" y="3525012"/>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Cultura amable, ayuda entre compañeros y enfoque de equipo</a:t>
            </a:r>
          </a:p>
        </p:txBody>
      </p:sp>
      <p:sp>
        <p:nvSpPr>
          <p:cNvPr id="50" name="Rectangle 49"/>
          <p:cNvSpPr/>
          <p:nvPr/>
        </p:nvSpPr>
        <p:spPr>
          <a:xfrm>
            <a:off x="548640" y="3950208"/>
            <a:ext cx="65836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0080" y="4041648"/>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N1</a:t>
            </a:r>
          </a:p>
        </p:txBody>
      </p:sp>
      <p:sp>
        <p:nvSpPr>
          <p:cNvPr id="52" name="Rectangle 51"/>
          <p:cNvSpPr/>
          <p:nvPr/>
        </p:nvSpPr>
        <p:spPr>
          <a:xfrm>
            <a:off x="1207007" y="3950208"/>
            <a:ext cx="193852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98448" y="4041648"/>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25 jun. 2026 · 1/5</a:t>
            </a:r>
          </a:p>
        </p:txBody>
      </p:sp>
      <p:sp>
        <p:nvSpPr>
          <p:cNvPr id="54" name="Rectangle 53"/>
          <p:cNvSpPr/>
          <p:nvPr/>
        </p:nvSpPr>
        <p:spPr>
          <a:xfrm>
            <a:off x="3145536" y="3950208"/>
            <a:ext cx="25786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6976" y="4041648"/>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Software Engineer · actual</a:t>
            </a:r>
          </a:p>
        </p:txBody>
      </p:sp>
      <p:sp>
        <p:nvSpPr>
          <p:cNvPr id="56" name="Rectangle 55"/>
          <p:cNvSpPr/>
          <p:nvPr/>
        </p:nvSpPr>
        <p:spPr>
          <a:xfrm>
            <a:off x="5724144" y="3950208"/>
            <a:ext cx="5907024"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15583" y="4041648"/>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Dirección reactiva, poco crecimiento y silos técnicos</a:t>
            </a:r>
          </a:p>
        </p:txBody>
      </p:sp>
      <p:sp>
        <p:nvSpPr>
          <p:cNvPr id="58" name="Rectangle 57"/>
          <p:cNvSpPr/>
          <p:nvPr/>
        </p:nvSpPr>
        <p:spPr>
          <a:xfrm>
            <a:off x="548640" y="4466844"/>
            <a:ext cx="65836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0080" y="4558283"/>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N2</a:t>
            </a:r>
          </a:p>
        </p:txBody>
      </p:sp>
      <p:sp>
        <p:nvSpPr>
          <p:cNvPr id="60" name="Rectangle 59"/>
          <p:cNvSpPr/>
          <p:nvPr/>
        </p:nvSpPr>
        <p:spPr>
          <a:xfrm>
            <a:off x="1207007" y="4466844"/>
            <a:ext cx="193852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298448" y="4558283"/>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23 ene. 2026 · 2/5</a:t>
            </a:r>
          </a:p>
        </p:txBody>
      </p:sp>
      <p:sp>
        <p:nvSpPr>
          <p:cNvPr id="62" name="Rectangle 61"/>
          <p:cNvSpPr/>
          <p:nvPr/>
        </p:nvSpPr>
        <p:spPr>
          <a:xfrm>
            <a:off x="3145536" y="4466844"/>
            <a:ext cx="25786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6976" y="4558283"/>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Senior Software Engineer · actual</a:t>
            </a:r>
          </a:p>
        </p:txBody>
      </p:sp>
      <p:sp>
        <p:nvSpPr>
          <p:cNvPr id="64" name="Rectangle 63"/>
          <p:cNvSpPr/>
          <p:nvPr/>
        </p:nvSpPr>
        <p:spPr>
          <a:xfrm>
            <a:off x="5724144" y="4466844"/>
            <a:ext cx="5907024"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15583" y="4558283"/>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Favoritismo, crédito desigual y comunicación poco transparente</a:t>
            </a:r>
          </a:p>
        </p:txBody>
      </p:sp>
      <p:sp>
        <p:nvSpPr>
          <p:cNvPr id="66" name="Rectangle 65"/>
          <p:cNvSpPr/>
          <p:nvPr/>
        </p:nvSpPr>
        <p:spPr>
          <a:xfrm>
            <a:off x="548640" y="4983479"/>
            <a:ext cx="65836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5074919"/>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N3</a:t>
            </a:r>
          </a:p>
        </p:txBody>
      </p:sp>
      <p:sp>
        <p:nvSpPr>
          <p:cNvPr id="68" name="Rectangle 67"/>
          <p:cNvSpPr/>
          <p:nvPr/>
        </p:nvSpPr>
        <p:spPr>
          <a:xfrm>
            <a:off x="1207007" y="4983479"/>
            <a:ext cx="193852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98448" y="5074919"/>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8 ago. 2025 · 1/5</a:t>
            </a:r>
          </a:p>
        </p:txBody>
      </p:sp>
      <p:sp>
        <p:nvSpPr>
          <p:cNvPr id="70" name="Rectangle 69"/>
          <p:cNvSpPr/>
          <p:nvPr/>
        </p:nvSpPr>
        <p:spPr>
          <a:xfrm>
            <a:off x="3145536" y="4983479"/>
            <a:ext cx="2578608"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6976" y="5074919"/>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Exempleado anónimo</a:t>
            </a:r>
          </a:p>
        </p:txBody>
      </p:sp>
      <p:sp>
        <p:nvSpPr>
          <p:cNvPr id="72" name="Rectangle 71"/>
          <p:cNvSpPr/>
          <p:nvPr/>
        </p:nvSpPr>
        <p:spPr>
          <a:xfrm>
            <a:off x="5724144" y="4983479"/>
            <a:ext cx="5907024" cy="516635"/>
          </a:xfrm>
          <a:prstGeom prst="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815583" y="5074919"/>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Reorganizaciones, rotación y progresión profesional limitada</a:t>
            </a:r>
          </a:p>
        </p:txBody>
      </p:sp>
      <p:sp>
        <p:nvSpPr>
          <p:cNvPr id="74" name="Rectangle 73"/>
          <p:cNvSpPr/>
          <p:nvPr/>
        </p:nvSpPr>
        <p:spPr>
          <a:xfrm>
            <a:off x="548640" y="5500116"/>
            <a:ext cx="65836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40080" y="5591555"/>
            <a:ext cx="475488" cy="370331"/>
          </a:xfrm>
          <a:prstGeom prst="rect">
            <a:avLst/>
          </a:prstGeom>
          <a:noFill/>
        </p:spPr>
        <p:txBody>
          <a:bodyPr wrap="square" anchor="ctr" lIns="36576" rIns="36576" tIns="36576" bIns="36576">
            <a:spAutoFit/>
          </a:bodyPr>
          <a:lstStyle/>
          <a:p>
            <a:pPr algn="l"/>
            <a:r>
              <a:rPr sz="1050" b="1" i="0">
                <a:solidFill>
                  <a:srgbClr val="16263C"/>
                </a:solidFill>
                <a:latin typeface="Aptos"/>
              </a:rPr>
              <a:t>N4</a:t>
            </a:r>
          </a:p>
        </p:txBody>
      </p:sp>
      <p:sp>
        <p:nvSpPr>
          <p:cNvPr id="76" name="Rectangle 75"/>
          <p:cNvSpPr/>
          <p:nvPr/>
        </p:nvSpPr>
        <p:spPr>
          <a:xfrm>
            <a:off x="1207007" y="5500116"/>
            <a:ext cx="193852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298448" y="5591555"/>
            <a:ext cx="1755648" cy="370331"/>
          </a:xfrm>
          <a:prstGeom prst="rect">
            <a:avLst/>
          </a:prstGeom>
          <a:noFill/>
        </p:spPr>
        <p:txBody>
          <a:bodyPr wrap="square" anchor="ctr" lIns="36576" rIns="36576" tIns="36576" bIns="36576">
            <a:spAutoFit/>
          </a:bodyPr>
          <a:lstStyle/>
          <a:p>
            <a:pPr algn="l"/>
            <a:r>
              <a:rPr sz="1050" b="0" i="0">
                <a:solidFill>
                  <a:srgbClr val="16263C"/>
                </a:solidFill>
                <a:latin typeface="Aptos"/>
              </a:rPr>
              <a:t>2 feb. 2023 · 2/5</a:t>
            </a:r>
          </a:p>
        </p:txBody>
      </p:sp>
      <p:sp>
        <p:nvSpPr>
          <p:cNvPr id="78" name="Rectangle 77"/>
          <p:cNvSpPr/>
          <p:nvPr/>
        </p:nvSpPr>
        <p:spPr>
          <a:xfrm>
            <a:off x="3145536" y="5500116"/>
            <a:ext cx="2578608"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236976" y="5591555"/>
            <a:ext cx="2395727" cy="370331"/>
          </a:xfrm>
          <a:prstGeom prst="rect">
            <a:avLst/>
          </a:prstGeom>
          <a:noFill/>
        </p:spPr>
        <p:txBody>
          <a:bodyPr wrap="square" anchor="ctr" lIns="36576" rIns="36576" tIns="36576" bIns="36576">
            <a:spAutoFit/>
          </a:bodyPr>
          <a:lstStyle/>
          <a:p>
            <a:pPr algn="l"/>
            <a:r>
              <a:rPr sz="1050" b="0" i="0">
                <a:solidFill>
                  <a:srgbClr val="16263C"/>
                </a:solidFill>
                <a:latin typeface="Aptos"/>
              </a:rPr>
              <a:t>Exempleado anónimo</a:t>
            </a:r>
          </a:p>
        </p:txBody>
      </p:sp>
      <p:sp>
        <p:nvSpPr>
          <p:cNvPr id="80" name="Rectangle 79"/>
          <p:cNvSpPr/>
          <p:nvPr/>
        </p:nvSpPr>
        <p:spPr>
          <a:xfrm>
            <a:off x="5724144" y="5500116"/>
            <a:ext cx="5907024" cy="516635"/>
          </a:xfrm>
          <a:prstGeom prst="rect">
            <a:avLst/>
          </a:prstGeom>
          <a:solidFill>
            <a:srgbClr val="EBF2F8"/>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815583" y="5591555"/>
            <a:ext cx="5724144" cy="370331"/>
          </a:xfrm>
          <a:prstGeom prst="rect">
            <a:avLst/>
          </a:prstGeom>
          <a:noFill/>
        </p:spPr>
        <p:txBody>
          <a:bodyPr wrap="square" anchor="ctr" lIns="36576" rIns="36576" tIns="36576" bIns="36576">
            <a:spAutoFit/>
          </a:bodyPr>
          <a:lstStyle/>
          <a:p>
            <a:pPr algn="l"/>
            <a:r>
              <a:rPr sz="1050" b="0" i="0">
                <a:solidFill>
                  <a:srgbClr val="16263C"/>
                </a:solidFill>
                <a:latin typeface="Aptos"/>
              </a:rPr>
              <a:t>Exceso de reuniones, múltiples roles y dificultad para aprender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26</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Frases · tradición liberal y orientada al mercado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Agrupación orientativa solicitada en rojo: incentivos, precios, beneficios y costos de coordinación.</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Fuentes: Smith, The Wealth of Nations, I.II (1776); Friedman, Capitalism and Freedom, p. 133 (1962/2002); Hayek, AER, VI (1945); Coase, Economica, pp. 388–392 (1937).</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26</a:t>
            </a:r>
          </a:p>
        </p:txBody>
      </p:sp>
      <p:sp>
        <p:nvSpPr>
          <p:cNvPr id="10" name="Rounded Rectangle 9"/>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E1525C"/>
          </a:solidFill>
          <a:ln>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Adam Smith · 1776</a:t>
            </a:r>
          </a:p>
        </p:txBody>
      </p:sp>
      <p:sp>
        <p:nvSpPr>
          <p:cNvPr id="15" name="TextBox 14"/>
          <p:cNvSpPr txBox="1"/>
          <p:nvPr/>
        </p:nvSpPr>
        <p:spPr>
          <a:xfrm>
            <a:off x="1627632" y="2121408"/>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«No es por la benevolencia del carnicero, el cervecero o el panadero que esperamos nuestra cena». El intercambio surge cuando cada parte ofrece algo que la otra valora. Fuente: La riqueza de las naciones, I.II.</a:t>
            </a:r>
          </a:p>
        </p:txBody>
      </p:sp>
      <p:sp>
        <p:nvSpPr>
          <p:cNvPr id="16" name="Rounded Rectangle 15"/>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6207" y="1353312"/>
            <a:ext cx="100584" cy="2066543"/>
          </a:xfrm>
          <a:prstGeom prst="roundRect">
            <a:avLst/>
          </a:prstGeom>
          <a:solidFill>
            <a:srgbClr val="E1525C"/>
          </a:solidFill>
          <a:ln>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10527" y="1609344"/>
            <a:ext cx="502920" cy="502920"/>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Milton Friedman · 1962</a:t>
            </a:r>
          </a:p>
        </p:txBody>
      </p:sp>
      <p:sp>
        <p:nvSpPr>
          <p:cNvPr id="21" name="TextBox 20"/>
          <p:cNvSpPr txBox="1"/>
          <p:nvPr/>
        </p:nvSpPr>
        <p:spPr>
          <a:xfrm>
            <a:off x="7150607" y="2121408"/>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«Usar sus recursos [...] para aumentar sus beneficios, mientras permanezca dentro de las reglas del juego». La búsqueda de rentabilidad está limitada por ley, contratos y competencia sin fraude. Fuente: Capitalism and Freedom, p. 133.</a:t>
            </a:r>
          </a:p>
        </p:txBody>
      </p:sp>
      <p:sp>
        <p:nvSpPr>
          <p:cNvPr id="22" name="Rounded Rectangle 21"/>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3694175"/>
            <a:ext cx="100584" cy="2066543"/>
          </a:xfrm>
          <a:prstGeom prst="roundRect">
            <a:avLst/>
          </a:prstGeom>
          <a:solidFill>
            <a:srgbClr val="E1525C"/>
          </a:solidFill>
          <a:ln>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7552" y="3950207"/>
            <a:ext cx="502920" cy="502920"/>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F. A. Hayek · 1945</a:t>
            </a:r>
          </a:p>
        </p:txBody>
      </p:sp>
      <p:sp>
        <p:nvSpPr>
          <p:cNvPr id="27" name="TextBox 26"/>
          <p:cNvSpPr txBox="1"/>
          <p:nvPr/>
        </p:nvSpPr>
        <p:spPr>
          <a:xfrm>
            <a:off x="1627632" y="4462271"/>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«Lo más significativo de este sistema es la economía de conocimiento con la que opera». Los precios transmiten señales sobre escasez y cambios que ninguna persona conoce por completo. Fuente: AER, sección VI.</a:t>
            </a:r>
          </a:p>
        </p:txBody>
      </p:sp>
      <p:sp>
        <p:nvSpPr>
          <p:cNvPr id="28" name="Rounded Rectangle 27"/>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36207" y="3694175"/>
            <a:ext cx="100584" cy="2066543"/>
          </a:xfrm>
          <a:prstGeom prst="roundRect">
            <a:avLst/>
          </a:prstGeom>
          <a:solidFill>
            <a:srgbClr val="E1525C"/>
          </a:solidFill>
          <a:ln>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10527" y="3950207"/>
            <a:ext cx="502920" cy="502920"/>
          </a:xfrm>
          <a:prstGeom prst="ellipse">
            <a:avLst/>
          </a:prstGeom>
          <a:solidFill>
            <a:srgbClr val="E1525C"/>
          </a:solidFill>
          <a:ln w="15240">
            <a:solidFill>
              <a:srgbClr val="E152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Ronald Coase · 1937</a:t>
            </a:r>
          </a:p>
        </p:txBody>
      </p:sp>
      <p:sp>
        <p:nvSpPr>
          <p:cNvPr id="33" name="TextBox 32"/>
          <p:cNvSpPr txBox="1"/>
          <p:nvPr/>
        </p:nvSpPr>
        <p:spPr>
          <a:xfrm>
            <a:off x="7150607" y="4462271"/>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«La principal razón para establecer una empresa [...] es que usar el mecanismo de precios tiene un costo». Buscar, negociar, contratar y supervisar también consumen recursos. Fuente: Economica, pp. 388–392.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27</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Frases · perspectivas socialistas y de centroizquierda</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Agrupación orientativa solicitada en azul: trabajo, empleo, desigualdad, dignidad y libertad real.</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Fuentes: Marx, Manuscritos de 1844; Keynes, Teoría general, cap. 24 (1936); Sen, Development as Freedom, p. 3 (1999); Stiglitz, “Inequality Is a Choice” (2013).</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27</a:t>
            </a:r>
          </a:p>
        </p:txBody>
      </p:sp>
      <p:sp>
        <p:nvSpPr>
          <p:cNvPr id="10" name="Rounded Rectangle 9"/>
          <p:cNvSpPr/>
          <p:nvPr/>
        </p:nvSpPr>
        <p:spPr>
          <a:xfrm>
            <a:off x="713232"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13232"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7552"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1</a:t>
            </a:r>
          </a:p>
        </p:txBody>
      </p:sp>
      <p:sp>
        <p:nvSpPr>
          <p:cNvPr id="14" name="TextBox 13"/>
          <p:cNvSpPr txBox="1"/>
          <p:nvPr/>
        </p:nvSpPr>
        <p:spPr>
          <a:xfrm>
            <a:off x="1627632"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Karl Marx · 1844</a:t>
            </a:r>
          </a:p>
        </p:txBody>
      </p:sp>
      <p:sp>
        <p:nvSpPr>
          <p:cNvPr id="15" name="TextBox 14"/>
          <p:cNvSpPr txBox="1"/>
          <p:nvPr/>
        </p:nvSpPr>
        <p:spPr>
          <a:xfrm>
            <a:off x="1627632" y="2121408"/>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«El trabajador solo se siente fuera de sí en su trabajo, y consigo mismo fuera del trabajo». Marx critica la alienación cuando la actividad laboral pierde autonomía y sentido. Fuente: Manuscritos económico-filosóficos, “Trabajo enajenado”.</a:t>
            </a:r>
          </a:p>
        </p:txBody>
      </p:sp>
      <p:sp>
        <p:nvSpPr>
          <p:cNvPr id="16" name="Rounded Rectangle 15"/>
          <p:cNvSpPr/>
          <p:nvPr/>
        </p:nvSpPr>
        <p:spPr>
          <a:xfrm>
            <a:off x="6236207" y="1353312"/>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6207" y="1353312"/>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10527" y="1609344"/>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10527" y="1664208"/>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2</a:t>
            </a:r>
          </a:p>
        </p:txBody>
      </p:sp>
      <p:sp>
        <p:nvSpPr>
          <p:cNvPr id="20" name="TextBox 19"/>
          <p:cNvSpPr txBox="1"/>
          <p:nvPr/>
        </p:nvSpPr>
        <p:spPr>
          <a:xfrm>
            <a:off x="7150607" y="1572768"/>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J. M. Keynes · 1936</a:t>
            </a:r>
          </a:p>
        </p:txBody>
      </p:sp>
      <p:sp>
        <p:nvSpPr>
          <p:cNvPr id="21" name="TextBox 20"/>
          <p:cNvSpPr txBox="1"/>
          <p:nvPr/>
        </p:nvSpPr>
        <p:spPr>
          <a:xfrm>
            <a:off x="7150607" y="2121408"/>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«Las fallas sobresalientes [...] son no proporcionar pleno empleo y distribuir arbitraria y desigualmente la riqueza y los ingresos». Keynes propone corregir fallas del capitalismo sin abolirlo. Fuente: Teoría general, cap. 24.</a:t>
            </a:r>
          </a:p>
        </p:txBody>
      </p:sp>
      <p:sp>
        <p:nvSpPr>
          <p:cNvPr id="22" name="Rounded Rectangle 21"/>
          <p:cNvSpPr/>
          <p:nvPr/>
        </p:nvSpPr>
        <p:spPr>
          <a:xfrm>
            <a:off x="713232"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13232" y="3694175"/>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7552" y="3950207"/>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3</a:t>
            </a:r>
          </a:p>
        </p:txBody>
      </p:sp>
      <p:sp>
        <p:nvSpPr>
          <p:cNvPr id="26" name="TextBox 25"/>
          <p:cNvSpPr txBox="1"/>
          <p:nvPr/>
        </p:nvSpPr>
        <p:spPr>
          <a:xfrm>
            <a:off x="1627632"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Amartya Sen · 1999</a:t>
            </a:r>
          </a:p>
        </p:txBody>
      </p:sp>
      <p:sp>
        <p:nvSpPr>
          <p:cNvPr id="27" name="TextBox 26"/>
          <p:cNvSpPr txBox="1"/>
          <p:nvPr/>
        </p:nvSpPr>
        <p:spPr>
          <a:xfrm>
            <a:off x="1627632" y="4462271"/>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«El desarrollo puede verse [...] como un proceso de expansión de las libertades reales que disfrutan las personas». El ingreso importa, pero también la capacidad efectiva para elegir y vivir dignamente. Fuente: Development as Freedom, p. 3.</a:t>
            </a:r>
          </a:p>
        </p:txBody>
      </p:sp>
      <p:sp>
        <p:nvSpPr>
          <p:cNvPr id="28" name="Rounded Rectangle 27"/>
          <p:cNvSpPr/>
          <p:nvPr/>
        </p:nvSpPr>
        <p:spPr>
          <a:xfrm>
            <a:off x="6236207" y="3694175"/>
            <a:ext cx="5248655" cy="2066543"/>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36207" y="3694175"/>
            <a:ext cx="100584" cy="2066543"/>
          </a:xfrm>
          <a:prstGeom prst="roundRect">
            <a:avLst/>
          </a:prstGeom>
          <a:solidFill>
            <a:srgbClr val="195CAA"/>
          </a:solidFill>
          <a:ln>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10527" y="3950207"/>
            <a:ext cx="502920" cy="502920"/>
          </a:xfrm>
          <a:prstGeom prst="ellipse">
            <a:avLst/>
          </a:prstGeom>
          <a:solidFill>
            <a:srgbClr val="195CAA"/>
          </a:solidFill>
          <a:ln w="15240">
            <a:solidFill>
              <a:srgbClr val="195C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10527" y="4005071"/>
            <a:ext cx="502920" cy="274320"/>
          </a:xfrm>
          <a:prstGeom prst="rect">
            <a:avLst/>
          </a:prstGeom>
          <a:noFill/>
        </p:spPr>
        <p:txBody>
          <a:bodyPr wrap="square" anchor="t" lIns="36576" rIns="36576" tIns="36576" bIns="36576">
            <a:spAutoFit/>
          </a:bodyPr>
          <a:lstStyle/>
          <a:p>
            <a:pPr algn="ctr"/>
            <a:r>
              <a:rPr sz="1200" b="1" i="0">
                <a:solidFill>
                  <a:srgbClr val="FFFFFF"/>
                </a:solidFill>
                <a:latin typeface="Aptos"/>
              </a:rPr>
              <a:t>4</a:t>
            </a:r>
          </a:p>
        </p:txBody>
      </p:sp>
      <p:sp>
        <p:nvSpPr>
          <p:cNvPr id="32" name="TextBox 31"/>
          <p:cNvSpPr txBox="1"/>
          <p:nvPr/>
        </p:nvSpPr>
        <p:spPr>
          <a:xfrm>
            <a:off x="7150607" y="3913631"/>
            <a:ext cx="4059935" cy="493776"/>
          </a:xfrm>
          <a:prstGeom prst="rect">
            <a:avLst/>
          </a:prstGeom>
          <a:noFill/>
        </p:spPr>
        <p:txBody>
          <a:bodyPr wrap="square" anchor="t" lIns="36576" rIns="36576" tIns="36576" bIns="36576">
            <a:spAutoFit/>
          </a:bodyPr>
          <a:lstStyle/>
          <a:p>
            <a:pPr algn="l"/>
            <a:r>
              <a:rPr sz="1550" b="1" i="0">
                <a:solidFill>
                  <a:srgbClr val="16263C"/>
                </a:solidFill>
                <a:latin typeface="Aptos"/>
              </a:rPr>
              <a:t>Joseph Stiglitz · 2013</a:t>
            </a:r>
          </a:p>
        </p:txBody>
      </p:sp>
      <p:sp>
        <p:nvSpPr>
          <p:cNvPr id="33" name="TextBox 32"/>
          <p:cNvSpPr txBox="1"/>
          <p:nvPr/>
        </p:nvSpPr>
        <p:spPr>
          <a:xfrm>
            <a:off x="7150607" y="4462271"/>
            <a:ext cx="4041647" cy="1060703"/>
          </a:xfrm>
          <a:prstGeom prst="rect">
            <a:avLst/>
          </a:prstGeom>
          <a:noFill/>
        </p:spPr>
        <p:txBody>
          <a:bodyPr wrap="square" anchor="t" lIns="36576" rIns="36576" tIns="36576" bIns="36576">
            <a:spAutoFit/>
          </a:bodyPr>
          <a:lstStyle/>
          <a:p>
            <a:pPr algn="l">
              <a:defRPr sz="1050"/>
            </a:pPr>
            <a:r>
              <a:rPr sz="1050" b="0" i="0">
                <a:solidFill>
                  <a:srgbClr val="586A80"/>
                </a:solidFill>
                <a:latin typeface="Aptos"/>
              </a:rPr>
              <a:t>«La desigualdad es una elección». Las reglas, instituciones y políticas influyen en cómo se distribuyen oportunidades, riesgos y resultados; no todo es consecuencia inevitable del mercado. Fuente: “Inequality Is a Choice”.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28</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El título prepara, pero no garantiza un empleo</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Graduarse es un logro y una base; convertirlo en carrera exige adaptación, evidencia y lectura del entorno.</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La educación formal aporta fundamentos; la empleabilidad requiere actualización y acción continuas.</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28</a:t>
            </a:r>
          </a:p>
        </p:txBody>
      </p:sp>
      <p:sp>
        <p:nvSpPr>
          <p:cNvPr id="10" name="Rounded Rectangle 9"/>
          <p:cNvSpPr/>
          <p:nvPr/>
        </p:nvSpPr>
        <p:spPr>
          <a:xfrm>
            <a:off x="713232" y="1371600"/>
            <a:ext cx="109728" cy="4224528"/>
          </a:xfrm>
          <a:prstGeom prst="roundRect">
            <a:avLst/>
          </a:prstGeom>
          <a:solidFill>
            <a:srgbClr val="7C5CBC"/>
          </a:solidFill>
          <a:ln>
            <a:solidFill>
              <a:srgbClr val="7C5CB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1389888"/>
            <a:ext cx="6583680" cy="4370832"/>
          </a:xfrm>
          <a:prstGeom prst="rect">
            <a:avLst/>
          </a:prstGeom>
          <a:noFill/>
        </p:spPr>
        <p:txBody>
          <a:bodyPr wrap="square" lIns="36576" rIns="36576">
            <a:spAutoFit/>
          </a:bodyPr>
          <a:lstStyle/>
          <a:p>
            <a:pPr>
              <a:lnSpc>
                <a:spcPct val="105000"/>
              </a:lnSpc>
              <a:spcAft>
                <a:spcPts val="1000"/>
              </a:spcAft>
              <a:defRPr sz="1720">
                <a:solidFill>
                  <a:srgbClr val="16263C"/>
                </a:solidFill>
                <a:latin typeface="Aptos"/>
              </a:defRPr>
            </a:pPr>
            <a:r>
              <a:t>•  Aprendimos que completar la ingeniería o carrera técnica conduciría a un trabajo seguro.</a:t>
            </a:r>
          </a:p>
          <a:p>
            <a:pPr>
              <a:lnSpc>
                <a:spcPct val="105000"/>
              </a:lnSpc>
              <a:spcAft>
                <a:spcPts val="1000"/>
              </a:spcAft>
              <a:defRPr sz="1720">
                <a:solidFill>
                  <a:srgbClr val="16263C"/>
                </a:solidFill>
                <a:latin typeface="Aptos"/>
              </a:defRPr>
            </a:pPr>
            <a:r>
              <a:t>•  El mercado crea vacantes cuando las organizaciones tienen una necesidad, no cuando terminamos de estudiar.</a:t>
            </a:r>
          </a:p>
          <a:p>
            <a:pPr>
              <a:lnSpc>
                <a:spcPct val="105000"/>
              </a:lnSpc>
              <a:spcAft>
                <a:spcPts val="1000"/>
              </a:spcAft>
              <a:defRPr sz="1720">
                <a:solidFill>
                  <a:srgbClr val="16263C"/>
                </a:solidFill>
                <a:latin typeface="Aptos"/>
              </a:defRPr>
            </a:pPr>
            <a:r>
              <a:t>•  El trabajo incluye culturas distintas, políticas internas, egos, negociación y conflictos.</a:t>
            </a:r>
          </a:p>
          <a:p>
            <a:pPr>
              <a:lnSpc>
                <a:spcPct val="105000"/>
              </a:lnSpc>
              <a:spcAft>
                <a:spcPts val="1000"/>
              </a:spcAft>
              <a:defRPr sz="1720">
                <a:solidFill>
                  <a:srgbClr val="16263C"/>
                </a:solidFill>
                <a:latin typeface="Aptos"/>
              </a:defRPr>
            </a:pPr>
            <a:r>
              <a:t>•  Siempre existirán brechas técnicas porque las herramientas y las funciones continúan cambiando.</a:t>
            </a:r>
          </a:p>
          <a:p>
            <a:pPr>
              <a:lnSpc>
                <a:spcPct val="105000"/>
              </a:lnSpc>
              <a:spcAft>
                <a:spcPts val="1000"/>
              </a:spcAft>
              <a:defRPr sz="1720">
                <a:solidFill>
                  <a:srgbClr val="16263C"/>
                </a:solidFill>
                <a:latin typeface="Aptos"/>
              </a:defRPr>
            </a:pPr>
            <a:r>
              <a:t>•  El idioma puede limitar documentación, entrevistas, colaboración internacional y oportunidades remotas.</a:t>
            </a:r>
          </a:p>
          <a:p>
            <a:pPr>
              <a:lnSpc>
                <a:spcPct val="105000"/>
              </a:lnSpc>
              <a:spcAft>
                <a:spcPts val="1000"/>
              </a:spcAft>
              <a:defRPr sz="1720">
                <a:solidFill>
                  <a:srgbClr val="16263C"/>
                </a:solidFill>
                <a:latin typeface="Aptos"/>
              </a:defRPr>
            </a:pPr>
            <a:r>
              <a:t>•  La respuesta es gestionar la carrera: aprender, demostrar, comunicar, relacionarse y conservar alternativas.</a:t>
            </a:r>
          </a:p>
        </p:txBody>
      </p:sp>
      <p:sp>
        <p:nvSpPr>
          <p:cNvPr id="12" name="Rounded Rectangle 11"/>
          <p:cNvSpPr/>
          <p:nvPr/>
        </p:nvSpPr>
        <p:spPr>
          <a:xfrm>
            <a:off x="8028431" y="1444752"/>
            <a:ext cx="3401568" cy="3986784"/>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75904" y="1801368"/>
            <a:ext cx="2697480" cy="292608"/>
          </a:xfrm>
          <a:prstGeom prst="rect">
            <a:avLst/>
          </a:prstGeom>
          <a:noFill/>
        </p:spPr>
        <p:txBody>
          <a:bodyPr wrap="square" anchor="t" lIns="36576" rIns="36576" tIns="36576" bIns="36576">
            <a:spAutoFit/>
          </a:bodyPr>
          <a:lstStyle/>
          <a:p>
            <a:pPr algn="l"/>
            <a:r>
              <a:rPr sz="1200" b="1" i="0">
                <a:solidFill>
                  <a:srgbClr val="31CADB"/>
                </a:solidFill>
                <a:latin typeface="Aptos"/>
              </a:rPr>
              <a:t>NUEVA ECUACIÓN</a:t>
            </a:r>
          </a:p>
        </p:txBody>
      </p:sp>
      <p:sp>
        <p:nvSpPr>
          <p:cNvPr id="14" name="TextBox 13"/>
          <p:cNvSpPr txBox="1"/>
          <p:nvPr/>
        </p:nvSpPr>
        <p:spPr>
          <a:xfrm>
            <a:off x="8375904" y="2359152"/>
            <a:ext cx="2670048" cy="2468880"/>
          </a:xfrm>
          <a:prstGeom prst="rect">
            <a:avLst/>
          </a:prstGeom>
          <a:noFill/>
        </p:spPr>
        <p:txBody>
          <a:bodyPr wrap="square" anchor="t" lIns="36576" rIns="36576" tIns="36576" bIns="36576">
            <a:spAutoFit/>
          </a:bodyPr>
          <a:lstStyle/>
          <a:p>
            <a:pPr algn="l"/>
            <a:r>
              <a:rPr sz="2000" b="1" i="0">
                <a:solidFill>
                  <a:srgbClr val="FFFFFF"/>
                </a:solidFill>
                <a:latin typeface="Aptos"/>
              </a:rPr>
              <a:t>Título + evidencia + habilidades blandas + idioma + adaptación</a:t>
            </a:r>
          </a:p>
        </p:txBody>
      </p:sp>
      <p:sp>
        <p:nvSpPr>
          <p:cNvPr id="15" name="TextBox 14"/>
          <p:cNvSpPr txBox="1"/>
          <p:nvPr/>
        </p:nvSpPr>
        <p:spPr>
          <a:xfrm>
            <a:off x="8375904" y="4791456"/>
            <a:ext cx="2670048" cy="384048"/>
          </a:xfrm>
          <a:prstGeom prst="rect">
            <a:avLst/>
          </a:prstGeom>
          <a:noFill/>
        </p:spPr>
        <p:txBody>
          <a:bodyPr wrap="square" anchor="t" lIns="36576" rIns="36576" tIns="36576" bIns="36576">
            <a:spAutoFit/>
          </a:bodyPr>
          <a:lstStyle/>
          <a:p>
            <a:pPr algn="l"/>
            <a:r>
              <a:rPr sz="1100" b="0" i="0">
                <a:solidFill>
                  <a:srgbClr val="E0F5F9"/>
                </a:solidFill>
                <a:latin typeface="Aptos"/>
              </a:rPr>
              <a:t>La carrera se construye después de graduarse.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31CADB"/>
          </a:solidFill>
          <a:ln>
            <a:solidFill>
              <a:srgbClr val="31CA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566928" cy="347472"/>
          </a:xfrm>
          <a:prstGeom prst="rect">
            <a:avLst/>
          </a:prstGeom>
          <a:noFill/>
        </p:spPr>
        <p:txBody>
          <a:bodyPr wrap="square" anchor="t" lIns="36576" rIns="36576" tIns="36576" bIns="36576">
            <a:spAutoFit/>
          </a:bodyPr>
          <a:lstStyle/>
          <a:p>
            <a:pPr algn="l"/>
            <a:r>
              <a:rPr sz="1200" b="1" i="0">
                <a:solidFill>
                  <a:srgbClr val="195CAA"/>
                </a:solidFill>
                <a:latin typeface="Aptos"/>
              </a:rPr>
              <a:t>33</a:t>
            </a:r>
          </a:p>
        </p:txBody>
      </p:sp>
      <p:sp>
        <p:nvSpPr>
          <p:cNvPr id="5" name="TextBox 4"/>
          <p:cNvSpPr txBox="1"/>
          <p:nvPr/>
        </p:nvSpPr>
        <p:spPr>
          <a:xfrm>
            <a:off x="1097280" y="219456"/>
            <a:ext cx="10378440" cy="512064"/>
          </a:xfrm>
          <a:prstGeom prst="rect">
            <a:avLst/>
          </a:prstGeom>
          <a:noFill/>
        </p:spPr>
        <p:txBody>
          <a:bodyPr wrap="square" anchor="t" lIns="36576" rIns="36576" tIns="36576" bIns="36576">
            <a:spAutoFit/>
          </a:bodyPr>
          <a:lstStyle/>
          <a:p>
            <a:pPr algn="l"/>
            <a:r>
              <a:rPr sz="2600" b="1" i="0">
                <a:solidFill>
                  <a:srgbClr val="16263C"/>
                </a:solidFill>
                <a:latin typeface="Aptos"/>
              </a:rPr>
              <a:t>Empresas de etapa: aprender, aportar y cerrar ciclos</a:t>
            </a:r>
          </a:p>
        </p:txBody>
      </p:sp>
      <p:sp>
        <p:nvSpPr>
          <p:cNvPr id="6" name="TextBox 5"/>
          <p:cNvSpPr txBox="1"/>
          <p:nvPr/>
        </p:nvSpPr>
        <p:spPr>
          <a:xfrm>
            <a:off x="1097280" y="758952"/>
            <a:ext cx="10195560" cy="384048"/>
          </a:xfrm>
          <a:prstGeom prst="rect">
            <a:avLst/>
          </a:prstGeom>
          <a:noFill/>
        </p:spPr>
        <p:txBody>
          <a:bodyPr wrap="square" anchor="t" lIns="36576" rIns="36576" tIns="36576" bIns="36576">
            <a:spAutoFit/>
          </a:bodyPr>
          <a:lstStyle/>
          <a:p>
            <a:pPr algn="l"/>
            <a:r>
              <a:rPr sz="1250" b="0" i="0">
                <a:solidFill>
                  <a:srgbClr val="586A80"/>
                </a:solidFill>
                <a:latin typeface="Aptos"/>
              </a:rPr>
              <a:t>Un buen comienzo profesional puede ser valioso aunque el proyecto, el contrato o la relación laboral no sean permanentes.</a:t>
            </a:r>
          </a:p>
        </p:txBody>
      </p:sp>
      <p:sp>
        <p:nvSpPr>
          <p:cNvPr id="7" name="TextBox 6"/>
          <p:cNvSpPr txBox="1"/>
          <p:nvPr/>
        </p:nvSpPr>
        <p:spPr>
          <a:xfrm>
            <a:off x="530352" y="6236208"/>
            <a:ext cx="10607040" cy="182880"/>
          </a:xfrm>
          <a:prstGeom prst="rect">
            <a:avLst/>
          </a:prstGeom>
          <a:noFill/>
        </p:spPr>
        <p:txBody>
          <a:bodyPr wrap="square" anchor="t" lIns="36576" rIns="36576" tIns="36576" bIns="36576">
            <a:spAutoFit/>
          </a:bodyPr>
          <a:lstStyle/>
          <a:p>
            <a:pPr algn="l"/>
            <a:r>
              <a:rPr sz="750" b="0" i="1">
                <a:solidFill>
                  <a:srgbClr val="586A80"/>
                </a:solidFill>
                <a:latin typeface="Aptos"/>
              </a:rPr>
              <a:t>Glassdoor, reseñas anónimas de Santo Domingo: C1, 5 nov. 2024 (4/5); C2, 24 ago. 2024 (3/5); C3, 3 may. 2023 (5/5); C4, 9 feb. 2023 (4/5).</a:t>
            </a:r>
          </a:p>
        </p:txBody>
      </p:sp>
      <p:sp>
        <p:nvSpPr>
          <p:cNvPr id="8" name="TextBox 7"/>
          <p:cNvSpPr txBox="1"/>
          <p:nvPr/>
        </p:nvSpPr>
        <p:spPr>
          <a:xfrm>
            <a:off x="475488" y="6510528"/>
            <a:ext cx="5212080" cy="182880"/>
          </a:xfrm>
          <a:prstGeom prst="rect">
            <a:avLst/>
          </a:prstGeom>
          <a:noFill/>
        </p:spPr>
        <p:txBody>
          <a:bodyPr wrap="square" anchor="t" lIns="36576" rIns="36576" tIns="36576" bIns="36576">
            <a:spAutoFit/>
          </a:bodyPr>
          <a:lstStyle/>
          <a:p>
            <a:pPr algn="l"/>
            <a:r>
              <a:rPr sz="850" b="0" i="0">
                <a:solidFill>
                  <a:srgbClr val="586A80"/>
                </a:solidFill>
                <a:latin typeface="Aptos"/>
              </a:rPr>
              <a:t>Taller QA · 2 de julio de 2026</a:t>
            </a:r>
          </a:p>
        </p:txBody>
      </p:sp>
      <p:sp>
        <p:nvSpPr>
          <p:cNvPr id="9" name="TextBox 8"/>
          <p:cNvSpPr txBox="1"/>
          <p:nvPr/>
        </p:nvSpPr>
        <p:spPr>
          <a:xfrm>
            <a:off x="11155680" y="6473952"/>
            <a:ext cx="502920" cy="228600"/>
          </a:xfrm>
          <a:prstGeom prst="rect">
            <a:avLst/>
          </a:prstGeom>
          <a:noFill/>
        </p:spPr>
        <p:txBody>
          <a:bodyPr wrap="square" anchor="t" lIns="36576" rIns="36576" tIns="36576" bIns="36576">
            <a:spAutoFit/>
          </a:bodyPr>
          <a:lstStyle/>
          <a:p>
            <a:pPr algn="r"/>
            <a:r>
              <a:rPr sz="900" b="1" i="0">
                <a:solidFill>
                  <a:srgbClr val="586A80"/>
                </a:solidFill>
                <a:latin typeface="Aptos"/>
              </a:rPr>
              <a:t>33</a:t>
            </a:r>
          </a:p>
        </p:txBody>
      </p:sp>
      <p:sp>
        <p:nvSpPr>
          <p:cNvPr id="10" name="Rounded Rectangle 9"/>
          <p:cNvSpPr/>
          <p:nvPr/>
        </p:nvSpPr>
        <p:spPr>
          <a:xfrm>
            <a:off x="658368" y="1371600"/>
            <a:ext cx="5413248" cy="4407408"/>
          </a:xfrm>
          <a:prstGeom prst="roundRect">
            <a:avLst/>
          </a:prstGeom>
          <a:solidFill>
            <a:srgbClr val="FFFFFF"/>
          </a:solidFill>
          <a:ln>
            <a:solidFill>
              <a:srgbClr val="DAE4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4496" y="1371600"/>
            <a:ext cx="5266944" cy="4407408"/>
          </a:xfrm>
          <a:prstGeom prst="roundRect">
            <a:avLst/>
          </a:prstGeom>
          <a:solidFill>
            <a:srgbClr val="07132A"/>
          </a:solidFill>
          <a:ln>
            <a:solidFill>
              <a:srgbClr val="0713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1682496"/>
            <a:ext cx="4663440" cy="320040"/>
          </a:xfrm>
          <a:prstGeom prst="rect">
            <a:avLst/>
          </a:prstGeom>
          <a:noFill/>
        </p:spPr>
        <p:txBody>
          <a:bodyPr wrap="square" anchor="t" lIns="36576" rIns="36576" tIns="36576" bIns="36576">
            <a:spAutoFit/>
          </a:bodyPr>
          <a:lstStyle/>
          <a:p>
            <a:pPr algn="l"/>
            <a:r>
              <a:rPr sz="1300" b="1" i="0">
                <a:solidFill>
                  <a:srgbClr val="195CAA"/>
                </a:solidFill>
                <a:latin typeface="Aptos"/>
              </a:rPr>
              <a:t>COMENTARIOS PUBLICADOS</a:t>
            </a:r>
          </a:p>
        </p:txBody>
      </p:sp>
      <p:sp>
        <p:nvSpPr>
          <p:cNvPr id="13" name="TextBox 12"/>
          <p:cNvSpPr txBox="1"/>
          <p:nvPr/>
        </p:nvSpPr>
        <p:spPr>
          <a:xfrm>
            <a:off x="1005840" y="2176272"/>
            <a:ext cx="4590288" cy="3063240"/>
          </a:xfrm>
          <a:prstGeom prst="rect">
            <a:avLst/>
          </a:prstGeom>
          <a:noFill/>
        </p:spPr>
        <p:txBody>
          <a:bodyPr wrap="square" lIns="36576" rIns="36576">
            <a:spAutoFit/>
          </a:bodyPr>
          <a:lstStyle/>
          <a:p>
            <a:pPr>
              <a:lnSpc>
                <a:spcPct val="105000"/>
              </a:lnSpc>
              <a:spcAft>
                <a:spcPts val="600"/>
              </a:spcAft>
              <a:defRPr sz="1380">
                <a:solidFill>
                  <a:srgbClr val="16263C"/>
                </a:solidFill>
                <a:latin typeface="Aptos"/>
              </a:defRPr>
            </a:pPr>
            <a:r>
              <a:rPr sz="1380"/>
              <a:t>•  “Nice place to work, great opportunity to improve your skills, great team work.” (C1)</a:t>
            </a:r>
          </a:p>
          <a:p>
            <a:pPr>
              <a:lnSpc>
                <a:spcPct val="105000"/>
              </a:lnSpc>
              <a:spcAft>
                <a:spcPts val="600"/>
              </a:spcAft>
              <a:defRPr sz="1380">
                <a:solidFill>
                  <a:srgbClr val="16263C"/>
                </a:solidFill>
                <a:latin typeface="Aptos"/>
              </a:defRPr>
            </a:pPr>
            <a:r>
              <a:rPr sz="1380"/>
              <a:t>•  “The work environment with my colleagues is exceptionally positive.” (C2)</a:t>
            </a:r>
          </a:p>
          <a:p>
            <a:pPr>
              <a:lnSpc>
                <a:spcPct val="105000"/>
              </a:lnSpc>
              <a:spcAft>
                <a:spcPts val="600"/>
              </a:spcAft>
              <a:defRPr sz="1380">
                <a:solidFill>
                  <a:srgbClr val="16263C"/>
                </a:solidFill>
                <a:latin typeface="Aptos"/>
              </a:defRPr>
            </a:pPr>
            <a:r>
              <a:rPr sz="1380"/>
              <a:t>•  “Very friendly and welcoming team.” (C3)</a:t>
            </a:r>
          </a:p>
          <a:p>
            <a:pPr>
              <a:lnSpc>
                <a:spcPct val="105000"/>
              </a:lnSpc>
              <a:spcAft>
                <a:spcPts val="600"/>
              </a:spcAft>
              <a:defRPr sz="1380">
                <a:solidFill>
                  <a:srgbClr val="16263C"/>
                </a:solidFill>
                <a:latin typeface="Aptos"/>
              </a:defRPr>
            </a:pPr>
            <a:r>
              <a:rPr sz="1380"/>
              <a:t>•  “Collaborative team. Flexible hours.” (C4)</a:t>
            </a:r>
          </a:p>
        </p:txBody>
      </p:sp>
      <p:sp>
        <p:nvSpPr>
          <p:cNvPr id="14" name="TextBox 13"/>
          <p:cNvSpPr txBox="1"/>
          <p:nvPr/>
        </p:nvSpPr>
        <p:spPr>
          <a:xfrm>
            <a:off x="6620256" y="1682496"/>
            <a:ext cx="4480560" cy="320040"/>
          </a:xfrm>
          <a:prstGeom prst="rect">
            <a:avLst/>
          </a:prstGeom>
          <a:noFill/>
        </p:spPr>
        <p:txBody>
          <a:bodyPr wrap="square" anchor="t" lIns="36576" rIns="36576" tIns="36576" bIns="36576">
            <a:spAutoFit/>
          </a:bodyPr>
          <a:lstStyle/>
          <a:p>
            <a:pPr algn="l"/>
            <a:r>
              <a:rPr sz="1300" b="1" i="0">
                <a:solidFill>
                  <a:srgbClr val="31CADB"/>
                </a:solidFill>
                <a:latin typeface="Aptos"/>
              </a:rPr>
              <a:t>LECTURA PROFESIONAL</a:t>
            </a:r>
          </a:p>
        </p:txBody>
      </p:sp>
      <p:sp>
        <p:nvSpPr>
          <p:cNvPr id="15" name="TextBox 14"/>
          <p:cNvSpPr txBox="1"/>
          <p:nvPr/>
        </p:nvSpPr>
        <p:spPr>
          <a:xfrm>
            <a:off x="6620256" y="2176272"/>
            <a:ext cx="4407408" cy="3063240"/>
          </a:xfrm>
          <a:prstGeom prst="rect">
            <a:avLst/>
          </a:prstGeom>
          <a:noFill/>
        </p:spPr>
        <p:txBody>
          <a:bodyPr wrap="square" lIns="36576" rIns="36576">
            <a:spAutoFit/>
          </a:bodyPr>
          <a:lstStyle/>
          <a:p>
            <a:pPr>
              <a:lnSpc>
                <a:spcPct val="105000"/>
              </a:lnSpc>
              <a:spcAft>
                <a:spcPts val="600"/>
              </a:spcAft>
              <a:defRPr sz="1380">
                <a:solidFill>
                  <a:srgbClr val="FFFFFF"/>
                </a:solidFill>
                <a:latin typeface="Aptos"/>
              </a:defRPr>
            </a:pPr>
            <a:r>
              <a:rPr sz="1380"/>
              <a:t>•  Algunas empresas son una etapa de aprendizaje, no un destino permanente</a:t>
            </a:r>
          </a:p>
          <a:p>
            <a:pPr>
              <a:lnSpc>
                <a:spcPct val="105000"/>
              </a:lnSpc>
              <a:spcAft>
                <a:spcPts val="600"/>
              </a:spcAft>
              <a:defRPr sz="1380">
                <a:solidFill>
                  <a:srgbClr val="FFFFFF"/>
                </a:solidFill>
                <a:latin typeface="Aptos"/>
              </a:defRPr>
            </a:pPr>
            <a:r>
              <a:rPr sz="1380"/>
              <a:t>•  Un proyecto puede terminar o las necesidades de la organización pueden cambiar</a:t>
            </a:r>
          </a:p>
          <a:p>
            <a:pPr>
              <a:lnSpc>
                <a:spcPct val="105000"/>
              </a:lnSpc>
              <a:spcAft>
                <a:spcPts val="600"/>
              </a:spcAft>
              <a:defRPr sz="1380">
                <a:solidFill>
                  <a:srgbClr val="FFFFFF"/>
                </a:solidFill>
                <a:latin typeface="Aptos"/>
              </a:defRPr>
            </a:pPr>
            <a:r>
              <a:rPr sz="1380"/>
              <a:t>•  «Y todo lo que hagáis, hacedlo de corazón, como para el Señor y no para los hombres». — Colosenses 3:23</a:t>
            </a:r>
          </a:p>
          <a:p>
            <a:pPr>
              <a:lnSpc>
                <a:spcPct val="105000"/>
              </a:lnSpc>
              <a:spcAft>
                <a:spcPts val="600"/>
              </a:spcAft>
              <a:defRPr sz="1380">
                <a:solidFill>
                  <a:srgbClr val="FFFFFF"/>
                </a:solidFill>
                <a:latin typeface="Aptos"/>
              </a:defRPr>
            </a:pPr>
            <a:r>
              <a:rPr sz="1380"/>
              <a:t>•  Agradece la oportunidad sin convertirla en una deuda infinita</a:t>
            </a:r>
          </a:p>
          <a:p>
            <a:pPr>
              <a:lnSpc>
                <a:spcPct val="105000"/>
              </a:lnSpc>
              <a:spcAft>
                <a:spcPts val="600"/>
              </a:spcAft>
              <a:defRPr sz="1380">
                <a:solidFill>
                  <a:srgbClr val="FFFFFF"/>
                </a:solidFill>
                <a:latin typeface="Aptos"/>
              </a:defRPr>
            </a:pPr>
            <a:r>
              <a:rPr sz="1380"/>
              <a:t>•  Mantén CV, portafolio, red profesional y finanzas personales preparados</a:t>
            </a:r>
          </a:p>
          <a:p>
            <a:pPr>
              <a:lnSpc>
                <a:spcPct val="105000"/>
              </a:lnSpc>
              <a:spcAft>
                <a:spcPts val="600"/>
              </a:spcAft>
              <a:defRPr sz="1380">
                <a:solidFill>
                  <a:srgbClr val="FFFFFF"/>
                </a:solidFill>
                <a:latin typeface="Aptos"/>
              </a:defRPr>
            </a:pPr>
            <a:r>
              <a:rPr sz="1380"/>
              <a:t>•  Si no eres accionista, tu vínculo es profesional: aporta valor y conserva autonomía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transformación del Software QA Engineering: IA, automatización y empleabilidad</dc:title>
  <dc:subject>Charla-taller virtual del 2 de julio de 2026</dc:subject>
  <dc:creator>Marlenis Judith Concepción Cuevas</dc:creator>
  <cp:keywords>QA, IA, automatización, empleabilidad, aprendizaje autónomo, UASD</cp:keywords>
  <dc:description>Incluye notas del orador en cada diapositiva.</dc:description>
  <cp:lastModifiedBy>Steve Canny</cp:lastModifiedBy>
  <cp:revision>1</cp:revision>
  <dcterms:created xsi:type="dcterms:W3CDTF">2013-01-27T09:14:16Z</dcterms:created>
  <dcterms:modified xsi:type="dcterms:W3CDTF">2013-01-27T09:15:58Z</dcterms:modified>
  <cp:category/>
</cp:coreProperties>
</file>