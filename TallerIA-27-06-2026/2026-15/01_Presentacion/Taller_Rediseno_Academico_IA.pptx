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Buenos días. Mi nombre es Marlenis Judith Concepción Cuevas y les doy la bienvenida a este taller sobre rediseño académico con inteligencia artificial. Hoy no vamos a mirar la IA solamente como una herramienta para escribir textos o preparar una presentación. Vamos a pensarla como una oportunidad para reorganizar el trabajo docente completo.</a:t>
            </a:r>
          </a:p>
          <a:p/>
          <a:p>
            <a:r>
              <a:t>Tenemos un grupo multidisciplinario. Esto es una fortaleza, porque la necesidad de simplificar el trabajo cotidiano no pertenece a una sola carrera. Una persona puede enseñar programación, otra salud, derecho, ingeniería, idiomas, ciencias sociales o administración; todas deben investigar, planificar, crear actividades, evaluar evidencias y retroalimentar. Cambian los contenidos y los criterios profesionales, pero muchas tareas del flujo docente son comunes.</a:t>
            </a:r>
          </a:p>
          <a:p/>
          <a:p>
            <a:r>
              <a:t>Nuestro propósito será partir de una asignatura real, revisar sus contenidos, relacionarla con las competencias profesionales y producir actividades, evaluaciones y retroalimentaciones más pertinentes. Trabajaremos con la Taxonomía de Bloom revisada, aula invertida y ciclos Agile para docentes.</a:t>
            </a:r>
          </a:p>
          <a:p/>
          <a:p>
            <a:r>
              <a:t>También presentaré NotebookLM utilizando varios programas de asignaturas de programación. Veremos cómo una colección de fuentes institucionales puede convertirse en preguntas, cuestionarios, presentaciones y materiales de apoyo. Aunque el ejemplo sea de programación, el procedimiento puede transferirse a cualquier disciplina sustituyendo las fuentes y los criterios correspondientes.</a:t>
            </a:r>
          </a:p>
          <a:p/>
          <a:p>
            <a:r>
              <a:t>Mi intención es que cada persona salga de aquí con al menos una idea concreta para simplificar su trabajo del día a día. Finalmente, conectaremos la demostración con una arquitectura de agentes especializados. La idea central es sencilla: la IA realiza y organiza buena parte del trabajo repetitivo, mientras el docente conserva el propósito pedagógico, el vínculo humano y la decisión final.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Quiero comenzar con una afirmación: la inteligencia artificial está redefiniendo el trabajo docente. No se trata simplemente de agregar otra aplicación a nuestra lista de herramientas. Se trata de revisar cómo distribuimos nuestro tiempo y cuáles tareas requieren realmente nuestro juicio profesional.</a:t>
            </a:r>
          </a:p>
          <a:p/>
          <a:p>
            <a:r>
              <a:t>Durante años hemos dedicado muchas horas a comenzar actividades desde una página en blanco, adaptar instrucciones, elaborar preguntas similares, revisar entregas una por una y repetir comentarios. Con IA, buena parte de ese trabajo puede prepararse, clasificarse o compararse de manera asistida.</a:t>
            </a:r>
          </a:p>
          <a:p/>
          <a:p>
            <a:r>
              <a:t>Eso no significa sacar al docente del proceso. Significa moverlo hacia donde aporta más valor: definir qué se debe aprender, observar cómo aprende el estudiante, interpretar dificultades, acompañar decisiones y validar la evaluación. A este principio lo llamamos **human in the loop**, o ser humano dentro del ciclo. La IA ejecuta una tarea, organiza datos o propone una respuesta; el docente revisa la evidencia, corrige cuando sea necesario y aprueba el resultado antes de utilizarlo.</a:t>
            </a:r>
          </a:p>
          <a:p/>
          <a:p>
            <a:r>
              <a:t>Los agentes que propondremos no tomarán el control de la asignatura. Cada uno realizará una función delimitada y entregará evidencia para que el docente revise. El verdadero beneficio no es solamente producir más rápido; es recuperar tiempo para enseñar, conversar y atender las diferencias del grupo. Al escuchar los ejemplos, quiero que cada participante piense: ¿cuál tarea repetitiva de mi día a día podría delegar parcialmente a un agente sin delegar mi responsabilidad?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Aquí planteamos el problema que queremos resolver. Actualizar una asignatura exige revisar programas, fuentes nuevas y necesidades del mercado laboral. Luego debemos transformar esos hallazgos en actividades coherentes, revisar las evidencias y explicar a cada estudiante cómo mejorar. Cuando el grupo es numeroso, este ciclo puede convertirse en una carga difícil de sostener.</a:t>
            </a:r>
          </a:p>
          <a:p/>
          <a:p>
            <a:r>
              <a:t>En este momento haré la demostración de NotebookLM. He cargado varios programas relacionados con asignaturas de programación, entre ellos documentos de INF-510 a INF-515, incluyendo asignaturas y laboratorios, además de planes académicos. Es importante señalar que NotebookLM responde apoyándose en las fuentes seleccionadas. Por eso primero debemos revisar cuáles documentos cargamos y cuáles tenemos activados.</a:t>
            </a:r>
          </a:p>
          <a:p/>
          <a:p>
            <a:r>
              <a:t>[Mostrar NotebookLM]. Señalaré el panel de fuentes, el chat y el área Studio. A partir de esos programas podemos preguntar qué contenidos se repiten, cuáles competencias aparecen, qué temas podrían estar desactualizados y cómo se relacionan las asignaturas. También podemos producir un cuestionario sobre programación, una presentación, tarjetas didácticas o una guía. La herramienta genera un borrador fundamentado; el docente verifica y decide si es pedagógicamente adecuado.</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lugar de pedirle todo a una sola IA con un único mensaje, proponemos agentes especializados. El agente de diagnóstico identifica conocimientos previos y brechas. El investigador busca información actual y verifica sus fuentes. El diseñador convierte resultados de aprendizaje en actividades. El evaluador compara evidencias con una rúbrica. El agente de calificación propone una valoración justificada y el de retroalimentación explica cómo mejorar.</a:t>
            </a:r>
          </a:p>
          <a:p/>
          <a:p>
            <a:r>
              <a:t>Estos agentes son útiles para un grupo multidisciplinario porque la arquitectura se conserva aunque cambie la materia. En programación, un agente puede analizar código y criterios de funcionamiento. En salud, puede organizar un caso clínico educativo sin utilizar datos personales. En derecho, puede contrastar una argumentación con los criterios de la actividad. En idiomas, puede clasificar errores y proponer práctica diferenciada. En administración, puede revisar un estudio de caso o un proyecto. En todos los ejemplos, las fuentes, la rúbrica y la validación humana deben pertenecer a la disciplina.</a:t>
            </a:r>
          </a:p>
          <a:p/>
          <a:p>
            <a:r>
              <a:t>Esta separación es importante porque cada tarea requiere instrucciones, fuentes y controles distintos. Un agente que investiga no debe inventar criterios de evaluación. Un agente que califica no debe cambiar la rúbrica después de ver el trabajo del estudiante. Y un agente de retroalimentación no debe limitarse a felicitar o señalar errores; debe ofrecer acciones concretas.</a:t>
            </a:r>
          </a:p>
          <a:p/>
          <a:p>
            <a:r>
              <a:t>En la demostración de NotebookLM vimos productos como preguntas, cuestionarios y presentaciones. Aquí damos un paso adicional: convertimos esos productos en partes de un flujo docente. Cada salida debe tener una finalidad pedagógica y un responsable de validarla. Así evitamos acumular materiales bonitos que no contribuyen realmente al aprendizaje.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Este es el flujo general del equipo de agentes. Primero se diagnostica. Después se investiga qué debe actualizarse. Con la evidencia recopilada se actualizan los contenidos. Solo entonces se diseñan actividades, instrumentos y productos. Cuando el estudiante entrega su evidencia, el agente evaluador la contrasta con la rúbrica y el agente de retroalimentación prepara orientaciones para la siguiente versión.</a:t>
            </a:r>
          </a:p>
          <a:p/>
          <a:p>
            <a:r>
              <a:t>Sobre todos ellos se encuentra el agente coordinador. Su función no es enseñar ni calificar, sino conservar el contexto, comprobar que cada etapa recibió los productos anteriores y detener el proceso cuando falta información. También identifica los puntos donde debe intervenir el docente.</a:t>
            </a:r>
          </a:p>
          <a:p/>
          <a:p>
            <a:r>
              <a:t>Por ejemplo, si la rúbrica pide argumentación, pero la actividad solo solicita marcar respuestas, el coordinador debe señalar que existe una desalineación. Si un estudiante no cumplió un criterio, el sistema no debe improvisar un castigo ni cambiar la regla. Debe mostrar qué evidencia falta, proponer una retroalimentación y remitir la decisión definitiva al docente.</a:t>
            </a:r>
          </a:p>
          <a:p/>
          <a:p>
            <a:r>
              <a:t>Aquí opera nuevamente el principio human in the loop. No significa que el docente tenga que rehacer manualmente todo lo producido por la IA. Significa que existen puntos de control proporcionales al riesgo: aprobar las competencias, validar las fuentes, revisar la rúbrica, examinar casos dudosos y confirmar la calificación. Los agentes realizan el trabajo operativo; el docente supervisa y responde por la decisión. Cada agente asiste; ninguno sustituye la responsabilidad profesional.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rapidez de la IA solo es valiosa cuando está gobernada por una metodología. Nuestro primer marco es la Taxonomía de Bloom revisada. Los resultados deben utilizar acciones observables: recordar, comprender, aplicar, analizar, evaluar y crear. No basta con decir que el estudiante conocerá un tema; debemos determinar qué hará para demostrarlo.</a:t>
            </a:r>
          </a:p>
          <a:p/>
          <a:p>
            <a:r>
              <a:t>El segundo marco es el aula invertida. Antes del encuentro, el estudiante explora fuentes, responde un diagnóstico y prepara preguntas. Durante la clase aplicamos, analizamos y resolvemos problemas. Después de la clase consolidamos, producimos una evidencia y mejoramos a partir de la retroalimentación.</a:t>
            </a:r>
          </a:p>
          <a:p/>
          <a:p>
            <a:r>
              <a:t>El tercer marco es Agile para docentes: trabajamos en ciclos cortos, con una lista priorizada, un producto verificable, una revisión y una retrospectiva. Finalmente, la IA educativa exige transparencia, verificación de fuentes, protección de datos y supervisión humana. Los agentes no diseñan en el vacío. Sus decisiones deben obedecer a estos principios y mantener la alineación entre lo que prometemos enseñar y lo que realmente evaluamos.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 unidad comienza con una prueba diagnóstica. Su finalidad no es castigar ni asignar una nota sumativa. Buscamos conocer el punto de partida: qué recuerda el estudiante, qué comprende, qué puede aplicar y cuáles conceptos erróneos podrían dificultar el nuevo aprendizaje.</a:t>
            </a:r>
          </a:p>
          <a:p/>
          <a:p>
            <a:r>
              <a:t>El agente de diagnóstico puede ayudarnos a crear preguntas en varios niveles de Bloom, organizar las respuestas y detectar patrones. En el ejemplo de la gráfica, el grupo tiene mejores resultados en recordar y comprender, pero presenta mayor dificultad al aplicar y analizar. Esa información cambia nuestra planificación: quizá debamos dedicar menos tiempo a repetir definiciones y más tiempo a casos guiados.</a:t>
            </a:r>
          </a:p>
          <a:p/>
          <a:p>
            <a:r>
              <a:t>Aquí también podemos utilizar NotebookLM para generar un primer banco de preguntas basadas en los programas y materiales seleccionados. Sin embargo, el docente debe comprobar el nivel cognitivo, la claridad y la pertinencia de cada pregunta. Los resultados del diagnóstico alimentan el primer ciclo Agile: permiten priorizar contenidos, formar grupos, preparar apoyos y ajustar el ritmo. Al final compararemos una evidencia equivalente para observar el progreso real.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IA puede acompañar las tres etapas del aula invertida. Antes de la clase, puede preparar una lectura guiada, un video breve, tarjetas, preguntas de anticipación y el diagnóstico. El estudiante llega con una primera aproximación al contenido y el docente recibe información sobre las dificultades del grupo.</a:t>
            </a:r>
          </a:p>
          <a:p/>
          <a:p>
            <a:r>
              <a:t>Durante la clase no queremos usar el tiempo para repetir lo que el estudiante pudo revisar previamente. Queremos resolver casos, programar, analizar errores, comparar soluciones y tomar decisiones. La IA puede proponer variantes de un problema o brindar apoyos diferenciados, pero el encuentro debe favorecer la discusión, la colaboración y el acompañamiento docente.</a:t>
            </a:r>
          </a:p>
          <a:p/>
          <a:p>
            <a:r>
              <a:t>Después de la clase, el estudiante entrega un producto, explica su proceso y recibe retroalimentación. El agente evaluador organiza la evidencia según la rúbrica y el agente de retroalimentación propone próximos pasos. El estudiante mejora su trabajo y el docente observa qué debe cambiar en el siguiente ciclo. De esta forma, la tecnología no reduce la interacción humana; libera tiempo del encuentro para hacerla más profunda.</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Una de las tareas que más agota al docente es corregir trabajos cuando algunos estudiantes no cumplen la rúbrica. El problema no es solamente colocar una puntuación. Debemos identificar qué criterio se cumplió, cuál evidencia lo demuestra, qué falta y cómo puede mejorar el estudiante.</a:t>
            </a:r>
          </a:p>
          <a:p/>
          <a:p>
            <a:r>
              <a:t>Nuestro flujo conecta diagnóstico, competencia, resultado de aprendizaje, nivel de Bloom, actividad, evidencia, rúbrica y retroalimentación. El agente evaluador compara la entrega con cada criterio aprobado. No puede penalizar algo que nunca fue solicitado ni modificar los criterios después de recibir el trabajo. Cuando no encuentra evidencia suficiente, debe decirlo claramente y remitir el caso al docente.</a:t>
            </a:r>
          </a:p>
          <a:p/>
          <a:p>
            <a:r>
              <a:t>El agente puede preparar una propuesta como esta: criterio, evidencia encontrada, nivel alcanzado, puntuación sugerida y justificación. Luego el agente de retroalimentación convierte ese análisis en un mensaje respetuoso y accionable. El docente revisa los casos dudosos y valida la calificación. Así dejamos de repetir comentarios manualmente, pero mantenemos una evaluación justa, trazable y humana.</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Para cerrar, no estamos proponiendo que el docente haga más tareas con una herramienta nueva. Estamos proponiendo una manera distinta de trabajar. Los agentes especializados pueden investigar, organizar información, producir variantes, comparar evidencias y preparar retroalimentaciones. El docente aporta lo que ninguna automatización debe decidir por sí sola: el propósito de la asignatura, la lectura del contexto, la relación con el estudiante y el juicio profesional.</a:t>
            </a:r>
          </a:p>
          <a:p/>
          <a:p>
            <a:r>
              <a:t>Como somos un grupo multidisciplinario, no espero que todos salgamos con el mismo agente. Una persona puede comenzar con un agente para crear actividades; otra, con uno para revisar una rúbrica; otra, con un agente para organizar retroalimentaciones frecuentes. Lo importante es identificar una tarea real que consume tiempo, definir qué información necesita la IA, establecer qué producto debe entregar y decidir dónde intervendrá el ser humano para validarlo.</a:t>
            </a:r>
          </a:p>
          <a:p/>
          <a:p>
            <a:r>
              <a:t>La invitación es comenzar con una asignatura y una unidad, no automatizarlo todo de inmediato. Cargamos las fuentes confiables, aplicamos un diagnóstico, seleccionamos una tarea repetitiva y diseñamos un agente con límites claros. Revisamos sus resultados, recogemos evidencia y mejoramos el siguiente ciclo.</a:t>
            </a:r>
          </a:p>
          <a:p/>
          <a:p>
            <a:r>
              <a:t>Quiero que nos quedemos con esta idea: la IA puede hacer por nosotros gran parte del trabajo operativo y repetitivo, pero trabaja dentro de límites definidos por el docente. Nosotros validamos los resultados mediante human in the loop. La meta es que cada participante salga con una idea aplicable para simplificar su día a día y recuperar tiempo para acompañar mejor a sus estudiantes.</a:t>
            </a:r>
          </a:p>
          <a:p/>
          <a:p>
            <a:r>
              <a:t>Nuestro próximo paso será tomar una asignatura real y construir esta cadena de agentes desde la investigación hasta la retroalimentación. Muchas gracias. Ahora podemos conversar sobre cuál tarea docente desean transformar primero.</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8FC"/>
          </a:solidFill>
          <a:ln>
            <a:solidFill>
              <a:srgbClr val="F4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132320" cy="6858000"/>
          </a:xfrm>
          <a:prstGeom prst="rect">
            <a:avLst/>
          </a:prstGeom>
          <a:solidFill>
            <a:srgbClr val="164391"/>
          </a:solidFill>
          <a:ln>
            <a:solidFill>
              <a:srgbClr val="16439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7132320" cy="786384"/>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502920" y="109728"/>
            <a:ext cx="566928" cy="566928"/>
          </a:xfrm>
          <a:prstGeom prst="ellipse">
            <a:avLst/>
          </a:prstGeom>
          <a:solidFill>
            <a:srgbClr val="E3F7FB"/>
          </a:solidFill>
          <a:ln w="25400">
            <a:solidFill>
              <a:srgbClr val="4AD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201168"/>
            <a:ext cx="566928" cy="320040"/>
          </a:xfrm>
          <a:prstGeom prst="rect">
            <a:avLst/>
          </a:prstGeom>
          <a:noFill/>
        </p:spPr>
        <p:txBody>
          <a:bodyPr wrap="square" anchor="t">
            <a:spAutoFit/>
          </a:bodyPr>
          <a:lstStyle/>
          <a:p>
            <a:pPr algn="ctr"/>
            <a:r>
              <a:rPr sz="1500" b="1">
                <a:solidFill>
                  <a:srgbClr val="1F4EA0"/>
                </a:solidFill>
                <a:latin typeface="Aptos"/>
              </a:rPr>
              <a:t>FIA</a:t>
            </a:r>
          </a:p>
        </p:txBody>
      </p:sp>
      <p:sp>
        <p:nvSpPr>
          <p:cNvPr id="7" name="TextBox 6"/>
          <p:cNvSpPr txBox="1"/>
          <p:nvPr/>
        </p:nvSpPr>
        <p:spPr>
          <a:xfrm>
            <a:off x="1234440" y="137160"/>
            <a:ext cx="4023360" cy="256032"/>
          </a:xfrm>
          <a:prstGeom prst="rect">
            <a:avLst/>
          </a:prstGeom>
          <a:noFill/>
        </p:spPr>
        <p:txBody>
          <a:bodyPr wrap="square" anchor="t">
            <a:spAutoFit/>
          </a:bodyPr>
          <a:lstStyle/>
          <a:p>
            <a:pPr algn="l"/>
            <a:r>
              <a:rPr sz="1500" b="1">
                <a:solidFill>
                  <a:srgbClr val="192A43"/>
                </a:solidFill>
                <a:latin typeface="Aptos"/>
              </a:rPr>
              <a:t>Facultad de Ciencias</a:t>
            </a:r>
          </a:p>
        </p:txBody>
      </p:sp>
      <p:sp>
        <p:nvSpPr>
          <p:cNvPr id="8" name="TextBox 7"/>
          <p:cNvSpPr txBox="1"/>
          <p:nvPr/>
        </p:nvSpPr>
        <p:spPr>
          <a:xfrm>
            <a:off x="1234440" y="411480"/>
            <a:ext cx="4023360" cy="219456"/>
          </a:xfrm>
          <a:prstGeom prst="rect">
            <a:avLst/>
          </a:prstGeom>
          <a:noFill/>
        </p:spPr>
        <p:txBody>
          <a:bodyPr wrap="square" anchor="t">
            <a:spAutoFit/>
          </a:bodyPr>
          <a:lstStyle/>
          <a:p>
            <a:pPr algn="l"/>
            <a:r>
              <a:rPr sz="1300" b="1">
                <a:solidFill>
                  <a:srgbClr val="192A43"/>
                </a:solidFill>
                <a:latin typeface="Aptos"/>
              </a:rPr>
              <a:t>Escuela de Informática</a:t>
            </a:r>
          </a:p>
        </p:txBody>
      </p:sp>
      <p:sp>
        <p:nvSpPr>
          <p:cNvPr id="9" name="Rounded Rectangle 8"/>
          <p:cNvSpPr/>
          <p:nvPr/>
        </p:nvSpPr>
        <p:spPr>
          <a:xfrm>
            <a:off x="5166360" y="146304"/>
            <a:ext cx="1627632" cy="438912"/>
          </a:xfrm>
          <a:prstGeom prst="roundRect">
            <a:avLst/>
          </a:prstGeom>
          <a:solidFill>
            <a:srgbClr val="4AD2E8"/>
          </a:solidFill>
          <a:ln>
            <a:solidFill>
              <a:srgbClr val="4AD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239512" y="228600"/>
            <a:ext cx="1472184" cy="228600"/>
          </a:xfrm>
          <a:prstGeom prst="rect">
            <a:avLst/>
          </a:prstGeom>
          <a:noFill/>
        </p:spPr>
        <p:txBody>
          <a:bodyPr wrap="square" anchor="t">
            <a:spAutoFit/>
          </a:bodyPr>
          <a:lstStyle/>
          <a:p>
            <a:pPr algn="ctr"/>
            <a:r>
              <a:rPr sz="1100" b="1">
                <a:solidFill>
                  <a:srgbClr val="192A43"/>
                </a:solidFill>
                <a:latin typeface="Aptos"/>
              </a:rPr>
              <a:t>27/JUN/2026</a:t>
            </a:r>
          </a:p>
        </p:txBody>
      </p:sp>
      <p:sp>
        <p:nvSpPr>
          <p:cNvPr id="11" name="TextBox 10"/>
          <p:cNvSpPr txBox="1"/>
          <p:nvPr/>
        </p:nvSpPr>
        <p:spPr>
          <a:xfrm>
            <a:off x="594360" y="1207008"/>
            <a:ext cx="4389120" cy="329184"/>
          </a:xfrm>
          <a:prstGeom prst="rect">
            <a:avLst/>
          </a:prstGeom>
          <a:noFill/>
        </p:spPr>
        <p:txBody>
          <a:bodyPr wrap="square" anchor="t">
            <a:spAutoFit/>
          </a:bodyPr>
          <a:lstStyle/>
          <a:p>
            <a:pPr algn="l"/>
            <a:r>
              <a:rPr sz="1800" b="1">
                <a:solidFill>
                  <a:srgbClr val="4AD2E8"/>
                </a:solidFill>
                <a:latin typeface="Aptos"/>
              </a:rPr>
              <a:t>TALLER</a:t>
            </a:r>
          </a:p>
        </p:txBody>
      </p:sp>
      <p:sp>
        <p:nvSpPr>
          <p:cNvPr id="12" name="TextBox 11"/>
          <p:cNvSpPr txBox="1"/>
          <p:nvPr/>
        </p:nvSpPr>
        <p:spPr>
          <a:xfrm>
            <a:off x="594360" y="1627632"/>
            <a:ext cx="5715000" cy="1243584"/>
          </a:xfrm>
          <a:prstGeom prst="rect">
            <a:avLst/>
          </a:prstGeom>
          <a:noFill/>
        </p:spPr>
        <p:txBody>
          <a:bodyPr wrap="square" anchor="t">
            <a:spAutoFit/>
          </a:bodyPr>
          <a:lstStyle/>
          <a:p>
            <a:pPr algn="l"/>
            <a:r>
              <a:rPr sz="3400" b="1">
                <a:solidFill>
                  <a:srgbClr val="FFFFFF"/>
                </a:solidFill>
                <a:latin typeface="Aptos"/>
              </a:rPr>
              <a:t>Rediseño Académico
con IA</a:t>
            </a:r>
          </a:p>
        </p:txBody>
      </p:sp>
      <p:sp>
        <p:nvSpPr>
          <p:cNvPr id="13" name="TextBox 12"/>
          <p:cNvSpPr txBox="1"/>
          <p:nvPr/>
        </p:nvSpPr>
        <p:spPr>
          <a:xfrm>
            <a:off x="612648" y="2944368"/>
            <a:ext cx="5577840" cy="749808"/>
          </a:xfrm>
          <a:prstGeom prst="rect">
            <a:avLst/>
          </a:prstGeom>
          <a:noFill/>
        </p:spPr>
        <p:txBody>
          <a:bodyPr wrap="square" anchor="t">
            <a:spAutoFit/>
          </a:bodyPr>
          <a:lstStyle/>
          <a:p>
            <a:pPr algn="l"/>
            <a:r>
              <a:rPr sz="2100" b="0">
                <a:solidFill>
                  <a:srgbClr val="FFFFFF"/>
                </a:solidFill>
                <a:latin typeface="Aptos"/>
              </a:rPr>
              <a:t>Actualizar asignaturas según competencias
y mercado laboral</a:t>
            </a:r>
          </a:p>
        </p:txBody>
      </p:sp>
      <p:sp>
        <p:nvSpPr>
          <p:cNvPr id="14" name="Rounded Rectangle 13"/>
          <p:cNvSpPr/>
          <p:nvPr/>
        </p:nvSpPr>
        <p:spPr>
          <a:xfrm>
            <a:off x="594360" y="3968496"/>
            <a:ext cx="1600200" cy="420624"/>
          </a:xfrm>
          <a:prstGeom prst="roundRect">
            <a:avLst/>
          </a:prstGeom>
          <a:solidFill>
            <a:srgbClr val="4AD2E8"/>
          </a:solidFill>
          <a:ln>
            <a:solidFill>
              <a:srgbClr val="4AD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94944" y="4041648"/>
            <a:ext cx="1389888" cy="246888"/>
          </a:xfrm>
          <a:prstGeom prst="rect">
            <a:avLst/>
          </a:prstGeom>
          <a:noFill/>
        </p:spPr>
        <p:txBody>
          <a:bodyPr wrap="square" anchor="t">
            <a:spAutoFit/>
          </a:bodyPr>
          <a:lstStyle/>
          <a:p>
            <a:pPr algn="ctr"/>
            <a:r>
              <a:rPr sz="1600" b="1">
                <a:solidFill>
                  <a:srgbClr val="164391"/>
                </a:solidFill>
                <a:latin typeface="Aptos"/>
              </a:rPr>
              <a:t>GRATIS</a:t>
            </a:r>
          </a:p>
        </p:txBody>
      </p:sp>
      <p:sp>
        <p:nvSpPr>
          <p:cNvPr id="16" name="TextBox 15"/>
          <p:cNvSpPr txBox="1"/>
          <p:nvPr/>
        </p:nvSpPr>
        <p:spPr>
          <a:xfrm>
            <a:off x="621792" y="4709160"/>
            <a:ext cx="1572768" cy="594360"/>
          </a:xfrm>
          <a:prstGeom prst="rect">
            <a:avLst/>
          </a:prstGeom>
          <a:noFill/>
        </p:spPr>
        <p:txBody>
          <a:bodyPr wrap="square" anchor="t">
            <a:spAutoFit/>
          </a:bodyPr>
          <a:lstStyle/>
          <a:p>
            <a:pPr algn="l"/>
            <a:r>
              <a:rPr sz="1300" b="1">
                <a:solidFill>
                  <a:srgbClr val="FFFFFF"/>
                </a:solidFill>
                <a:latin typeface="Aptos"/>
              </a:rPr>
              <a:t>MODALIDAD
VIRTUAL</a:t>
            </a:r>
          </a:p>
        </p:txBody>
      </p:sp>
      <p:sp>
        <p:nvSpPr>
          <p:cNvPr id="17" name="TextBox 16"/>
          <p:cNvSpPr txBox="1"/>
          <p:nvPr/>
        </p:nvSpPr>
        <p:spPr>
          <a:xfrm>
            <a:off x="2359152" y="4709160"/>
            <a:ext cx="3429000" cy="594360"/>
          </a:xfrm>
          <a:prstGeom prst="rect">
            <a:avLst/>
          </a:prstGeom>
          <a:noFill/>
        </p:spPr>
        <p:txBody>
          <a:bodyPr wrap="square" anchor="t">
            <a:spAutoFit/>
          </a:bodyPr>
          <a:lstStyle/>
          <a:p>
            <a:pPr algn="l"/>
            <a:r>
              <a:rPr sz="1300" b="1">
                <a:solidFill>
                  <a:srgbClr val="FFFFFF"/>
                </a:solidFill>
                <a:latin typeface="Aptos"/>
              </a:rPr>
              <a:t>HORARIO
Sábado · 08:00 AM – 12:00 PM</a:t>
            </a:r>
          </a:p>
        </p:txBody>
      </p:sp>
      <p:sp>
        <p:nvSpPr>
          <p:cNvPr id="18" name="TextBox 17"/>
          <p:cNvSpPr txBox="1"/>
          <p:nvPr/>
        </p:nvSpPr>
        <p:spPr>
          <a:xfrm>
            <a:off x="621792" y="5513832"/>
            <a:ext cx="1572768" cy="548640"/>
          </a:xfrm>
          <a:prstGeom prst="rect">
            <a:avLst/>
          </a:prstGeom>
          <a:noFill/>
        </p:spPr>
        <p:txBody>
          <a:bodyPr wrap="square" anchor="t">
            <a:spAutoFit/>
          </a:bodyPr>
          <a:lstStyle/>
          <a:p>
            <a:pPr algn="l"/>
            <a:r>
              <a:rPr sz="1300" b="1">
                <a:solidFill>
                  <a:srgbClr val="FFFFFF"/>
                </a:solidFill>
                <a:latin typeface="Aptos"/>
              </a:rPr>
              <a:t>DURACIÓN
1 semana</a:t>
            </a:r>
          </a:p>
        </p:txBody>
      </p:sp>
      <p:sp>
        <p:nvSpPr>
          <p:cNvPr id="19" name="TextBox 18"/>
          <p:cNvSpPr txBox="1"/>
          <p:nvPr/>
        </p:nvSpPr>
        <p:spPr>
          <a:xfrm>
            <a:off x="2359152" y="5513832"/>
            <a:ext cx="4041648" cy="566928"/>
          </a:xfrm>
          <a:prstGeom prst="rect">
            <a:avLst/>
          </a:prstGeom>
          <a:noFill/>
        </p:spPr>
        <p:txBody>
          <a:bodyPr wrap="square" anchor="t">
            <a:spAutoFit/>
          </a:bodyPr>
          <a:lstStyle/>
          <a:p>
            <a:pPr algn="l"/>
            <a:r>
              <a:rPr sz="1300" b="1">
                <a:solidFill>
                  <a:srgbClr val="FFFFFF"/>
                </a:solidFill>
                <a:latin typeface="Aptos"/>
              </a:rPr>
              <a:t>PROFESORA
Marlenis Judith Concepción Cuevas</a:t>
            </a:r>
          </a:p>
        </p:txBody>
      </p:sp>
      <p:sp>
        <p:nvSpPr>
          <p:cNvPr id="20" name="Oval 19"/>
          <p:cNvSpPr/>
          <p:nvPr/>
        </p:nvSpPr>
        <p:spPr>
          <a:xfrm>
            <a:off x="7818120" y="777240"/>
            <a:ext cx="3154680" cy="3154680"/>
          </a:xfrm>
          <a:prstGeom prst="ellipse">
            <a:avLst/>
          </a:prstGeom>
          <a:solidFill>
            <a:srgbClr val="E3F7FB"/>
          </a:solidFill>
          <a:ln w="38100">
            <a:solidFill>
              <a:srgbClr val="4AD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8458200" y="1417320"/>
            <a:ext cx="1874519" cy="1874519"/>
          </a:xfrm>
          <a:prstGeom prst="ellipse">
            <a:avLst/>
          </a:prstGeom>
          <a:solidFill>
            <a:srgbClr val="FFFFFF"/>
          </a:solidFill>
          <a:ln w="38100">
            <a:solidFill>
              <a:srgbClr val="4AD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9189720" y="3291840"/>
            <a:ext cx="2240280" cy="2240280"/>
          </a:xfrm>
          <a:prstGeom prst="ellipse">
            <a:avLst/>
          </a:prstGeom>
          <a:solidFill>
            <a:srgbClr val="FFFFFF"/>
          </a:solidFill>
          <a:ln w="38100">
            <a:solidFill>
              <a:srgbClr val="4AD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458200" y="1874519"/>
            <a:ext cx="1874519" cy="685800"/>
          </a:xfrm>
          <a:prstGeom prst="rect">
            <a:avLst/>
          </a:prstGeom>
          <a:noFill/>
        </p:spPr>
        <p:txBody>
          <a:bodyPr wrap="square" anchor="t">
            <a:spAutoFit/>
          </a:bodyPr>
          <a:lstStyle/>
          <a:p>
            <a:pPr algn="ctr"/>
            <a:r>
              <a:rPr sz="3400" b="1">
                <a:solidFill>
                  <a:srgbClr val="1F4EA0"/>
                </a:solidFill>
                <a:latin typeface="Aptos"/>
              </a:rPr>
              <a:t>IA</a:t>
            </a:r>
          </a:p>
        </p:txBody>
      </p:sp>
      <p:sp>
        <p:nvSpPr>
          <p:cNvPr id="24" name="TextBox 23"/>
          <p:cNvSpPr txBox="1"/>
          <p:nvPr/>
        </p:nvSpPr>
        <p:spPr>
          <a:xfrm>
            <a:off x="9189720" y="3977639"/>
            <a:ext cx="2240280" cy="384048"/>
          </a:xfrm>
          <a:prstGeom prst="rect">
            <a:avLst/>
          </a:prstGeom>
          <a:noFill/>
        </p:spPr>
        <p:txBody>
          <a:bodyPr wrap="square" anchor="t">
            <a:spAutoFit/>
          </a:bodyPr>
          <a:lstStyle/>
          <a:p>
            <a:pPr algn="ctr"/>
            <a:r>
              <a:rPr sz="1500" b="1">
                <a:solidFill>
                  <a:srgbClr val="164391"/>
                </a:solidFill>
                <a:latin typeface="Aptos"/>
              </a:rPr>
              <a:t>DOCENCIA</a:t>
            </a:r>
          </a:p>
        </p:txBody>
      </p:sp>
      <p:sp>
        <p:nvSpPr>
          <p:cNvPr id="25" name="Oval 24"/>
          <p:cNvSpPr/>
          <p:nvPr/>
        </p:nvSpPr>
        <p:spPr>
          <a:xfrm>
            <a:off x="7543800" y="5074920"/>
            <a:ext cx="91440" cy="91440"/>
          </a:xfrm>
          <a:prstGeom prst="ellipse">
            <a:avLst/>
          </a:prstGeom>
          <a:solidFill>
            <a:srgbClr val="4AD2E8"/>
          </a:solidFill>
          <a:ln w="19050">
            <a:solidFill>
              <a:srgbClr val="4AD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7854696" y="5074920"/>
            <a:ext cx="91440" cy="91440"/>
          </a:xfrm>
          <a:prstGeom prst="ellipse">
            <a:avLst/>
          </a:prstGeom>
          <a:solidFill>
            <a:srgbClr val="4AD2E8"/>
          </a:solidFill>
          <a:ln w="19050">
            <a:solidFill>
              <a:srgbClr val="4AD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8165592" y="5074920"/>
            <a:ext cx="91440" cy="91440"/>
          </a:xfrm>
          <a:prstGeom prst="ellipse">
            <a:avLst/>
          </a:prstGeom>
          <a:solidFill>
            <a:srgbClr val="4AD2E8"/>
          </a:solidFill>
          <a:ln w="19050">
            <a:solidFill>
              <a:srgbClr val="4AD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8476488" y="5074920"/>
            <a:ext cx="91440" cy="91440"/>
          </a:xfrm>
          <a:prstGeom prst="ellipse">
            <a:avLst/>
          </a:prstGeom>
          <a:solidFill>
            <a:srgbClr val="4AD2E8"/>
          </a:solidFill>
          <a:ln w="19050">
            <a:solidFill>
              <a:srgbClr val="4AD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7543800" y="5385816"/>
            <a:ext cx="91440" cy="91440"/>
          </a:xfrm>
          <a:prstGeom prst="ellipse">
            <a:avLst/>
          </a:prstGeom>
          <a:solidFill>
            <a:srgbClr val="4AD2E8"/>
          </a:solidFill>
          <a:ln w="19050">
            <a:solidFill>
              <a:srgbClr val="4AD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7854696" y="5385816"/>
            <a:ext cx="91440" cy="91440"/>
          </a:xfrm>
          <a:prstGeom prst="ellipse">
            <a:avLst/>
          </a:prstGeom>
          <a:solidFill>
            <a:srgbClr val="4AD2E8"/>
          </a:solidFill>
          <a:ln w="19050">
            <a:solidFill>
              <a:srgbClr val="4AD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8165592" y="5385816"/>
            <a:ext cx="91440" cy="91440"/>
          </a:xfrm>
          <a:prstGeom prst="ellipse">
            <a:avLst/>
          </a:prstGeom>
          <a:solidFill>
            <a:srgbClr val="4AD2E8"/>
          </a:solidFill>
          <a:ln w="19050">
            <a:solidFill>
              <a:srgbClr val="4AD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8476488" y="5385816"/>
            <a:ext cx="91440" cy="91440"/>
          </a:xfrm>
          <a:prstGeom prst="ellipse">
            <a:avLst/>
          </a:prstGeom>
          <a:solidFill>
            <a:srgbClr val="4AD2E8"/>
          </a:solidFill>
          <a:ln w="19050">
            <a:solidFill>
              <a:srgbClr val="4AD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7543800" y="5696712"/>
            <a:ext cx="91440" cy="91440"/>
          </a:xfrm>
          <a:prstGeom prst="ellipse">
            <a:avLst/>
          </a:prstGeom>
          <a:solidFill>
            <a:srgbClr val="4AD2E8"/>
          </a:solidFill>
          <a:ln w="19050">
            <a:solidFill>
              <a:srgbClr val="4AD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7854696" y="5696712"/>
            <a:ext cx="91440" cy="91440"/>
          </a:xfrm>
          <a:prstGeom prst="ellipse">
            <a:avLst/>
          </a:prstGeom>
          <a:solidFill>
            <a:srgbClr val="4AD2E8"/>
          </a:solidFill>
          <a:ln w="19050">
            <a:solidFill>
              <a:srgbClr val="4AD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8165592" y="5696712"/>
            <a:ext cx="91440" cy="91440"/>
          </a:xfrm>
          <a:prstGeom prst="ellipse">
            <a:avLst/>
          </a:prstGeom>
          <a:solidFill>
            <a:srgbClr val="4AD2E8"/>
          </a:solidFill>
          <a:ln w="19050">
            <a:solidFill>
              <a:srgbClr val="4AD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8476488" y="5696712"/>
            <a:ext cx="91440" cy="91440"/>
          </a:xfrm>
          <a:prstGeom prst="ellipse">
            <a:avLst/>
          </a:prstGeom>
          <a:solidFill>
            <a:srgbClr val="4AD2E8"/>
          </a:solidFill>
          <a:ln w="19050">
            <a:solidFill>
              <a:srgbClr val="4AD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7543800" y="6007608"/>
            <a:ext cx="91440" cy="91440"/>
          </a:xfrm>
          <a:prstGeom prst="ellipse">
            <a:avLst/>
          </a:prstGeom>
          <a:solidFill>
            <a:srgbClr val="4AD2E8"/>
          </a:solidFill>
          <a:ln w="19050">
            <a:solidFill>
              <a:srgbClr val="4AD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7854696" y="6007608"/>
            <a:ext cx="91440" cy="91440"/>
          </a:xfrm>
          <a:prstGeom prst="ellipse">
            <a:avLst/>
          </a:prstGeom>
          <a:solidFill>
            <a:srgbClr val="4AD2E8"/>
          </a:solidFill>
          <a:ln w="19050">
            <a:solidFill>
              <a:srgbClr val="4AD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8165592" y="6007608"/>
            <a:ext cx="91440" cy="91440"/>
          </a:xfrm>
          <a:prstGeom prst="ellipse">
            <a:avLst/>
          </a:prstGeom>
          <a:solidFill>
            <a:srgbClr val="4AD2E8"/>
          </a:solidFill>
          <a:ln w="19050">
            <a:solidFill>
              <a:srgbClr val="4AD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8476488" y="6007608"/>
            <a:ext cx="91440" cy="91440"/>
          </a:xfrm>
          <a:prstGeom prst="ellipse">
            <a:avLst/>
          </a:prstGeom>
          <a:solidFill>
            <a:srgbClr val="4AD2E8"/>
          </a:solidFill>
          <a:ln w="19050">
            <a:solidFill>
              <a:srgbClr val="4AD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452360" y="6327648"/>
            <a:ext cx="4160520" cy="256032"/>
          </a:xfrm>
          <a:prstGeom prst="rect">
            <a:avLst/>
          </a:prstGeom>
          <a:noFill/>
        </p:spPr>
        <p:txBody>
          <a:bodyPr wrap="square" anchor="t">
            <a:spAutoFit/>
          </a:bodyPr>
          <a:lstStyle/>
          <a:p>
            <a:pPr algn="ctr"/>
            <a:r>
              <a:rPr sz="1200" b="1">
                <a:solidFill>
                  <a:srgbClr val="58697F"/>
                </a:solidFill>
                <a:latin typeface="Aptos"/>
              </a:rPr>
              <a:t>Competencias · actividades · evaluación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8FC"/>
          </a:solidFill>
          <a:ln>
            <a:solidFill>
              <a:srgbClr val="F4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4AD2E8"/>
          </a:solidFill>
          <a:ln>
            <a:solidFill>
              <a:srgbClr val="4AD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10896"/>
            <a:ext cx="640080" cy="411480"/>
          </a:xfrm>
          <a:prstGeom prst="rect">
            <a:avLst/>
          </a:prstGeom>
          <a:noFill/>
        </p:spPr>
        <p:txBody>
          <a:bodyPr wrap="square" anchor="t">
            <a:spAutoFit/>
          </a:bodyPr>
          <a:lstStyle/>
          <a:p>
            <a:pPr algn="l"/>
            <a:r>
              <a:rPr sz="1400" b="1">
                <a:solidFill>
                  <a:srgbClr val="1F4EA0"/>
                </a:solidFill>
                <a:latin typeface="Aptos"/>
              </a:rPr>
              <a:t>02</a:t>
            </a:r>
          </a:p>
        </p:txBody>
      </p:sp>
      <p:sp>
        <p:nvSpPr>
          <p:cNvPr id="5" name="TextBox 4"/>
          <p:cNvSpPr txBox="1"/>
          <p:nvPr/>
        </p:nvSpPr>
        <p:spPr>
          <a:xfrm>
            <a:off x="1143000" y="256032"/>
            <a:ext cx="10241280" cy="566928"/>
          </a:xfrm>
          <a:prstGeom prst="rect">
            <a:avLst/>
          </a:prstGeom>
          <a:noFill/>
        </p:spPr>
        <p:txBody>
          <a:bodyPr wrap="square" anchor="t">
            <a:spAutoFit/>
          </a:bodyPr>
          <a:lstStyle/>
          <a:p>
            <a:pPr algn="l"/>
            <a:r>
              <a:rPr sz="2800" b="1">
                <a:solidFill>
                  <a:srgbClr val="192A43"/>
                </a:solidFill>
                <a:latin typeface="Aptos"/>
              </a:rPr>
              <a:t>La IA redefine el trabajo docente</a:t>
            </a:r>
          </a:p>
        </p:txBody>
      </p:sp>
      <p:sp>
        <p:nvSpPr>
          <p:cNvPr id="6" name="TextBox 5"/>
          <p:cNvSpPr txBox="1"/>
          <p:nvPr/>
        </p:nvSpPr>
        <p:spPr>
          <a:xfrm>
            <a:off x="1143000" y="804672"/>
            <a:ext cx="10058400" cy="384048"/>
          </a:xfrm>
          <a:prstGeom prst="rect">
            <a:avLst/>
          </a:prstGeom>
          <a:noFill/>
        </p:spPr>
        <p:txBody>
          <a:bodyPr wrap="square" anchor="t">
            <a:spAutoFit/>
          </a:bodyPr>
          <a:lstStyle/>
          <a:p>
            <a:pPr algn="l"/>
            <a:r>
              <a:rPr sz="1300" b="0">
                <a:solidFill>
                  <a:srgbClr val="58697F"/>
                </a:solidFill>
                <a:latin typeface="Aptos"/>
              </a:rPr>
              <a:t>Una propuesta aplicable a un grupo multidisciplinario</a:t>
            </a:r>
          </a:p>
        </p:txBody>
      </p:sp>
      <p:sp>
        <p:nvSpPr>
          <p:cNvPr id="7" name="TextBox 6"/>
          <p:cNvSpPr txBox="1"/>
          <p:nvPr/>
        </p:nvSpPr>
        <p:spPr>
          <a:xfrm>
            <a:off x="8823960" y="6510528"/>
            <a:ext cx="2788920" cy="201168"/>
          </a:xfrm>
          <a:prstGeom prst="rect">
            <a:avLst/>
          </a:prstGeom>
          <a:noFill/>
        </p:spPr>
        <p:txBody>
          <a:bodyPr wrap="square" anchor="t">
            <a:spAutoFit/>
          </a:bodyPr>
          <a:lstStyle/>
          <a:p>
            <a:pPr algn="r"/>
            <a:r>
              <a:rPr sz="900" b="0">
                <a:solidFill>
                  <a:srgbClr val="58697F"/>
                </a:solidFill>
                <a:latin typeface="Aptos"/>
              </a:rPr>
              <a:t>Taller · Rediseño académico con IA</a:t>
            </a:r>
          </a:p>
        </p:txBody>
      </p:sp>
      <p:sp>
        <p:nvSpPr>
          <p:cNvPr id="8" name="TextBox 7"/>
          <p:cNvSpPr txBox="1"/>
          <p:nvPr/>
        </p:nvSpPr>
        <p:spPr>
          <a:xfrm>
            <a:off x="822960" y="1481328"/>
            <a:ext cx="5120640" cy="475488"/>
          </a:xfrm>
          <a:prstGeom prst="rect">
            <a:avLst/>
          </a:prstGeom>
          <a:noFill/>
        </p:spPr>
        <p:txBody>
          <a:bodyPr wrap="square" anchor="t">
            <a:spAutoFit/>
          </a:bodyPr>
          <a:lstStyle/>
          <a:p>
            <a:pPr algn="l"/>
            <a:r>
              <a:rPr sz="2800" b="1">
                <a:solidFill>
                  <a:srgbClr val="1F4EA0"/>
                </a:solidFill>
                <a:latin typeface="Aptos"/>
              </a:rPr>
              <a:t>Más tiempo para enseñar.</a:t>
            </a:r>
          </a:p>
        </p:txBody>
      </p:sp>
      <p:sp>
        <p:nvSpPr>
          <p:cNvPr id="9" name="TextBox 8"/>
          <p:cNvSpPr txBox="1"/>
          <p:nvPr/>
        </p:nvSpPr>
        <p:spPr>
          <a:xfrm>
            <a:off x="822960" y="2084831"/>
            <a:ext cx="5074920" cy="1234440"/>
          </a:xfrm>
          <a:prstGeom prst="rect">
            <a:avLst/>
          </a:prstGeom>
          <a:noFill/>
        </p:spPr>
        <p:txBody>
          <a:bodyPr wrap="square" anchor="t">
            <a:spAutoFit/>
          </a:bodyPr>
          <a:lstStyle/>
          <a:p>
            <a:pPr algn="l"/>
            <a:r>
              <a:rPr sz="1900" b="0">
                <a:solidFill>
                  <a:srgbClr val="192A43"/>
                </a:solidFill>
                <a:latin typeface="Aptos"/>
              </a:rPr>
              <a:t>La IA reduce el trabajo repetitivo y amplía la capacidad para investigar, diseñar, evaluar y acompañar el aprendizaje.</a:t>
            </a:r>
          </a:p>
        </p:txBody>
      </p:sp>
      <p:sp>
        <p:nvSpPr>
          <p:cNvPr id="10" name="Rounded Rectangle 9"/>
          <p:cNvSpPr/>
          <p:nvPr/>
        </p:nvSpPr>
        <p:spPr>
          <a:xfrm>
            <a:off x="6400800" y="1417320"/>
            <a:ext cx="4754880" cy="1143000"/>
          </a:xfrm>
          <a:prstGeom prst="roundRect">
            <a:avLst/>
          </a:prstGeom>
          <a:solidFill>
            <a:srgbClr val="FFFFFF"/>
          </a:solidFill>
          <a:ln>
            <a:solidFill>
              <a:srgbClr val="DCE6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400800" y="1417320"/>
            <a:ext cx="91440" cy="1143000"/>
          </a:xfrm>
          <a:prstGeom prst="roundRect">
            <a:avLst/>
          </a:prstGeom>
          <a:solidFill>
            <a:srgbClr val="4AD2E8"/>
          </a:solidFill>
          <a:ln>
            <a:solidFill>
              <a:srgbClr val="4AD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656832" y="1673352"/>
            <a:ext cx="502920" cy="502920"/>
          </a:xfrm>
          <a:prstGeom prst="ellipse">
            <a:avLst/>
          </a:prstGeom>
          <a:solidFill>
            <a:srgbClr val="4AD2E8"/>
          </a:solidFill>
          <a:ln w="19050">
            <a:solidFill>
              <a:srgbClr val="4AD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56832" y="1682496"/>
            <a:ext cx="502920" cy="475488"/>
          </a:xfrm>
          <a:prstGeom prst="rect">
            <a:avLst/>
          </a:prstGeom>
          <a:noFill/>
        </p:spPr>
        <p:txBody>
          <a:bodyPr wrap="square" anchor="ctr">
            <a:spAutoFit/>
          </a:bodyPr>
          <a:lstStyle/>
          <a:p>
            <a:pPr algn="ctr"/>
            <a:r>
              <a:rPr sz="1500" b="1">
                <a:solidFill>
                  <a:srgbClr val="FFFFFF"/>
                </a:solidFill>
                <a:latin typeface="Aptos"/>
              </a:rPr>
              <a:t>1</a:t>
            </a:r>
          </a:p>
        </p:txBody>
      </p:sp>
      <p:sp>
        <p:nvSpPr>
          <p:cNvPr id="14" name="TextBox 13"/>
          <p:cNvSpPr txBox="1"/>
          <p:nvPr/>
        </p:nvSpPr>
        <p:spPr>
          <a:xfrm>
            <a:off x="7315200" y="1673352"/>
            <a:ext cx="3611880" cy="347472"/>
          </a:xfrm>
          <a:prstGeom prst="rect">
            <a:avLst/>
          </a:prstGeom>
          <a:noFill/>
        </p:spPr>
        <p:txBody>
          <a:bodyPr wrap="square" anchor="t">
            <a:spAutoFit/>
          </a:bodyPr>
          <a:lstStyle/>
          <a:p>
            <a:pPr algn="l"/>
            <a:r>
              <a:rPr sz="1700" b="1">
                <a:solidFill>
                  <a:srgbClr val="192A43"/>
                </a:solidFill>
                <a:latin typeface="Aptos"/>
              </a:rPr>
              <a:t>Antes</a:t>
            </a:r>
          </a:p>
        </p:txBody>
      </p:sp>
      <p:sp>
        <p:nvSpPr>
          <p:cNvPr id="15" name="TextBox 14"/>
          <p:cNvSpPr txBox="1"/>
          <p:nvPr/>
        </p:nvSpPr>
        <p:spPr>
          <a:xfrm>
            <a:off x="7315200" y="2130552"/>
            <a:ext cx="3611880" cy="228600"/>
          </a:xfrm>
          <a:prstGeom prst="rect">
            <a:avLst/>
          </a:prstGeom>
          <a:noFill/>
        </p:spPr>
        <p:txBody>
          <a:bodyPr wrap="square" anchor="t">
            <a:spAutoFit/>
          </a:bodyPr>
          <a:lstStyle/>
          <a:p>
            <a:pPr algn="l"/>
            <a:r>
              <a:rPr sz="1250" b="0">
                <a:solidFill>
                  <a:srgbClr val="58697F"/>
                </a:solidFill>
                <a:latin typeface="Aptos"/>
              </a:rPr>
              <a:t>Horas para rediseñar actividades, revisar entregas y repetir correcciones.</a:t>
            </a:r>
          </a:p>
        </p:txBody>
      </p:sp>
      <p:sp>
        <p:nvSpPr>
          <p:cNvPr id="16" name="Rounded Rectangle 15"/>
          <p:cNvSpPr/>
          <p:nvPr/>
        </p:nvSpPr>
        <p:spPr>
          <a:xfrm>
            <a:off x="6400800" y="2743200"/>
            <a:ext cx="4754880" cy="1143000"/>
          </a:xfrm>
          <a:prstGeom prst="roundRect">
            <a:avLst/>
          </a:prstGeom>
          <a:solidFill>
            <a:srgbClr val="FFFFFF"/>
          </a:solidFill>
          <a:ln>
            <a:solidFill>
              <a:srgbClr val="DCE6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400800" y="2743200"/>
            <a:ext cx="91440" cy="1143000"/>
          </a:xfrm>
          <a:prstGeom prst="roundRect">
            <a:avLst/>
          </a:prstGeom>
          <a:solidFill>
            <a:srgbClr val="1F4EA0"/>
          </a:solidFill>
          <a:ln>
            <a:solidFill>
              <a:srgbClr val="1F4E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656832" y="2999232"/>
            <a:ext cx="502920" cy="502920"/>
          </a:xfrm>
          <a:prstGeom prst="ellipse">
            <a:avLst/>
          </a:prstGeom>
          <a:solidFill>
            <a:srgbClr val="1F4EA0"/>
          </a:solidFill>
          <a:ln w="19050">
            <a:solidFill>
              <a:srgbClr val="1F4E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656832" y="3008376"/>
            <a:ext cx="502920" cy="475488"/>
          </a:xfrm>
          <a:prstGeom prst="rect">
            <a:avLst/>
          </a:prstGeom>
          <a:noFill/>
        </p:spPr>
        <p:txBody>
          <a:bodyPr wrap="square" anchor="ctr">
            <a:spAutoFit/>
          </a:bodyPr>
          <a:lstStyle/>
          <a:p>
            <a:pPr algn="ctr"/>
            <a:r>
              <a:rPr sz="1500" b="1">
                <a:solidFill>
                  <a:srgbClr val="FFFFFF"/>
                </a:solidFill>
                <a:latin typeface="Aptos"/>
              </a:rPr>
              <a:t>2</a:t>
            </a:r>
          </a:p>
        </p:txBody>
      </p:sp>
      <p:sp>
        <p:nvSpPr>
          <p:cNvPr id="20" name="TextBox 19"/>
          <p:cNvSpPr txBox="1"/>
          <p:nvPr/>
        </p:nvSpPr>
        <p:spPr>
          <a:xfrm>
            <a:off x="7315200" y="2999232"/>
            <a:ext cx="3611880" cy="347472"/>
          </a:xfrm>
          <a:prstGeom prst="rect">
            <a:avLst/>
          </a:prstGeom>
          <a:noFill/>
        </p:spPr>
        <p:txBody>
          <a:bodyPr wrap="square" anchor="t">
            <a:spAutoFit/>
          </a:bodyPr>
          <a:lstStyle/>
          <a:p>
            <a:pPr algn="l"/>
            <a:r>
              <a:rPr sz="1700" b="1">
                <a:solidFill>
                  <a:srgbClr val="192A43"/>
                </a:solidFill>
                <a:latin typeface="Aptos"/>
              </a:rPr>
              <a:t>Con agentes</a:t>
            </a:r>
          </a:p>
        </p:txBody>
      </p:sp>
      <p:sp>
        <p:nvSpPr>
          <p:cNvPr id="21" name="TextBox 20"/>
          <p:cNvSpPr txBox="1"/>
          <p:nvPr/>
        </p:nvSpPr>
        <p:spPr>
          <a:xfrm>
            <a:off x="7315200" y="3456432"/>
            <a:ext cx="3611880" cy="228600"/>
          </a:xfrm>
          <a:prstGeom prst="rect">
            <a:avLst/>
          </a:prstGeom>
          <a:noFill/>
        </p:spPr>
        <p:txBody>
          <a:bodyPr wrap="square" anchor="t">
            <a:spAutoFit/>
          </a:bodyPr>
          <a:lstStyle/>
          <a:p>
            <a:pPr algn="l"/>
            <a:r>
              <a:rPr sz="1250" b="0">
                <a:solidFill>
                  <a:srgbClr val="58697F"/>
                </a:solidFill>
                <a:latin typeface="Aptos"/>
              </a:rPr>
              <a:t>Cada tarea docente recibe asistencia especializada y evidencia verificable.</a:t>
            </a:r>
          </a:p>
        </p:txBody>
      </p:sp>
      <p:sp>
        <p:nvSpPr>
          <p:cNvPr id="22" name="Rounded Rectangle 21"/>
          <p:cNvSpPr/>
          <p:nvPr/>
        </p:nvSpPr>
        <p:spPr>
          <a:xfrm>
            <a:off x="6400800" y="4069080"/>
            <a:ext cx="4754880" cy="1143000"/>
          </a:xfrm>
          <a:prstGeom prst="roundRect">
            <a:avLst/>
          </a:prstGeom>
          <a:solidFill>
            <a:srgbClr val="FFFFFF"/>
          </a:solidFill>
          <a:ln>
            <a:solidFill>
              <a:srgbClr val="DCE6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6400800" y="4069080"/>
            <a:ext cx="91440" cy="1143000"/>
          </a:xfrm>
          <a:prstGeom prst="roundRect">
            <a:avLst/>
          </a:prstGeom>
          <a:solidFill>
            <a:srgbClr val="35A674"/>
          </a:solidFill>
          <a:ln>
            <a:solidFill>
              <a:srgbClr val="35A6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656832" y="4325112"/>
            <a:ext cx="502920" cy="502920"/>
          </a:xfrm>
          <a:prstGeom prst="ellipse">
            <a:avLst/>
          </a:prstGeom>
          <a:solidFill>
            <a:srgbClr val="35A674"/>
          </a:solidFill>
          <a:ln w="19050">
            <a:solidFill>
              <a:srgbClr val="35A6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656832" y="4334256"/>
            <a:ext cx="502920" cy="475488"/>
          </a:xfrm>
          <a:prstGeom prst="rect">
            <a:avLst/>
          </a:prstGeom>
          <a:noFill/>
        </p:spPr>
        <p:txBody>
          <a:bodyPr wrap="square" anchor="ctr">
            <a:spAutoFit/>
          </a:bodyPr>
          <a:lstStyle/>
          <a:p>
            <a:pPr algn="ctr"/>
            <a:r>
              <a:rPr sz="1500" b="1">
                <a:solidFill>
                  <a:srgbClr val="FFFFFF"/>
                </a:solidFill>
                <a:latin typeface="Aptos"/>
              </a:rPr>
              <a:t>3</a:t>
            </a:r>
          </a:p>
        </p:txBody>
      </p:sp>
      <p:sp>
        <p:nvSpPr>
          <p:cNvPr id="26" name="TextBox 25"/>
          <p:cNvSpPr txBox="1"/>
          <p:nvPr/>
        </p:nvSpPr>
        <p:spPr>
          <a:xfrm>
            <a:off x="7315200" y="4325112"/>
            <a:ext cx="3611880" cy="347472"/>
          </a:xfrm>
          <a:prstGeom prst="rect">
            <a:avLst/>
          </a:prstGeom>
          <a:noFill/>
        </p:spPr>
        <p:txBody>
          <a:bodyPr wrap="square" anchor="t">
            <a:spAutoFit/>
          </a:bodyPr>
          <a:lstStyle/>
          <a:p>
            <a:pPr algn="l"/>
            <a:r>
              <a:rPr sz="1700" b="1">
                <a:solidFill>
                  <a:srgbClr val="192A43"/>
                </a:solidFill>
                <a:latin typeface="Aptos"/>
              </a:rPr>
              <a:t>Nuevo rol</a:t>
            </a:r>
          </a:p>
        </p:txBody>
      </p:sp>
      <p:sp>
        <p:nvSpPr>
          <p:cNvPr id="27" name="TextBox 26"/>
          <p:cNvSpPr txBox="1"/>
          <p:nvPr/>
        </p:nvSpPr>
        <p:spPr>
          <a:xfrm>
            <a:off x="7315200" y="4782312"/>
            <a:ext cx="3611880" cy="228600"/>
          </a:xfrm>
          <a:prstGeom prst="rect">
            <a:avLst/>
          </a:prstGeom>
          <a:noFill/>
        </p:spPr>
        <p:txBody>
          <a:bodyPr wrap="square" anchor="t">
            <a:spAutoFit/>
          </a:bodyPr>
          <a:lstStyle/>
          <a:p>
            <a:pPr algn="l"/>
            <a:r>
              <a:rPr sz="1250" b="0">
                <a:solidFill>
                  <a:srgbClr val="58697F"/>
                </a:solidFill>
                <a:latin typeface="Aptos"/>
              </a:rPr>
              <a:t>El docente interpreta, acompaña, valida y toma la decisión final.</a:t>
            </a:r>
          </a:p>
        </p:txBody>
      </p:sp>
      <p:sp>
        <p:nvSpPr>
          <p:cNvPr id="28" name="Rounded Rectangle 27"/>
          <p:cNvSpPr/>
          <p:nvPr/>
        </p:nvSpPr>
        <p:spPr>
          <a:xfrm>
            <a:off x="822960" y="3886200"/>
            <a:ext cx="5029200" cy="1143000"/>
          </a:xfrm>
          <a:prstGeom prst="roundRect">
            <a:avLst/>
          </a:prstGeom>
          <a:solidFill>
            <a:srgbClr val="E3F7FB"/>
          </a:solidFill>
          <a:ln>
            <a:solidFill>
              <a:srgbClr val="E3F7F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97280" y="4160520"/>
            <a:ext cx="1188720" cy="274320"/>
          </a:xfrm>
          <a:prstGeom prst="rect">
            <a:avLst/>
          </a:prstGeom>
          <a:noFill/>
        </p:spPr>
        <p:txBody>
          <a:bodyPr wrap="square" anchor="t">
            <a:spAutoFit/>
          </a:bodyPr>
          <a:lstStyle/>
          <a:p>
            <a:pPr algn="l"/>
            <a:r>
              <a:rPr sz="1400" b="1">
                <a:solidFill>
                  <a:srgbClr val="1F4EA0"/>
                </a:solidFill>
                <a:latin typeface="Aptos"/>
              </a:rPr>
              <a:t>Idea clave</a:t>
            </a:r>
          </a:p>
        </p:txBody>
      </p:sp>
      <p:sp>
        <p:nvSpPr>
          <p:cNvPr id="30" name="TextBox 29"/>
          <p:cNvSpPr txBox="1"/>
          <p:nvPr/>
        </p:nvSpPr>
        <p:spPr>
          <a:xfrm>
            <a:off x="1097280" y="4498848"/>
            <a:ext cx="4343400" cy="438912"/>
          </a:xfrm>
          <a:prstGeom prst="rect">
            <a:avLst/>
          </a:prstGeom>
          <a:noFill/>
        </p:spPr>
        <p:txBody>
          <a:bodyPr wrap="square" anchor="t">
            <a:spAutoFit/>
          </a:bodyPr>
          <a:lstStyle/>
          <a:p>
            <a:pPr algn="l"/>
            <a:r>
              <a:rPr sz="1700" b="1">
                <a:solidFill>
                  <a:srgbClr val="192A43"/>
                </a:solidFill>
                <a:latin typeface="Aptos"/>
              </a:rPr>
              <a:t>La automatización devuelve al docente tiempo para acompañar al estudiante.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8FC"/>
          </a:solidFill>
          <a:ln>
            <a:solidFill>
              <a:srgbClr val="F4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4AD2E8"/>
          </a:solidFill>
          <a:ln>
            <a:solidFill>
              <a:srgbClr val="4AD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10896"/>
            <a:ext cx="640080" cy="411480"/>
          </a:xfrm>
          <a:prstGeom prst="rect">
            <a:avLst/>
          </a:prstGeom>
          <a:noFill/>
        </p:spPr>
        <p:txBody>
          <a:bodyPr wrap="square" anchor="t">
            <a:spAutoFit/>
          </a:bodyPr>
          <a:lstStyle/>
          <a:p>
            <a:pPr algn="l"/>
            <a:r>
              <a:rPr sz="1400" b="1">
                <a:solidFill>
                  <a:srgbClr val="1F4EA0"/>
                </a:solidFill>
                <a:latin typeface="Aptos"/>
              </a:rPr>
              <a:t>03</a:t>
            </a:r>
          </a:p>
        </p:txBody>
      </p:sp>
      <p:sp>
        <p:nvSpPr>
          <p:cNvPr id="5" name="TextBox 4"/>
          <p:cNvSpPr txBox="1"/>
          <p:nvPr/>
        </p:nvSpPr>
        <p:spPr>
          <a:xfrm>
            <a:off x="1143000" y="256032"/>
            <a:ext cx="10241280" cy="566928"/>
          </a:xfrm>
          <a:prstGeom prst="rect">
            <a:avLst/>
          </a:prstGeom>
          <a:noFill/>
        </p:spPr>
        <p:txBody>
          <a:bodyPr wrap="square" anchor="t">
            <a:spAutoFit/>
          </a:bodyPr>
          <a:lstStyle/>
          <a:p>
            <a:pPr algn="l"/>
            <a:r>
              <a:rPr sz="2800" b="1">
                <a:solidFill>
                  <a:srgbClr val="192A43"/>
                </a:solidFill>
                <a:latin typeface="Aptos"/>
              </a:rPr>
              <a:t>¿Qué problema estamos resolviendo?</a:t>
            </a:r>
          </a:p>
        </p:txBody>
      </p:sp>
      <p:sp>
        <p:nvSpPr>
          <p:cNvPr id="6" name="TextBox 5"/>
          <p:cNvSpPr txBox="1"/>
          <p:nvPr/>
        </p:nvSpPr>
        <p:spPr>
          <a:xfrm>
            <a:off x="1143000" y="804672"/>
            <a:ext cx="10058400" cy="384048"/>
          </a:xfrm>
          <a:prstGeom prst="rect">
            <a:avLst/>
          </a:prstGeom>
          <a:noFill/>
        </p:spPr>
        <p:txBody>
          <a:bodyPr wrap="square" anchor="t">
            <a:spAutoFit/>
          </a:bodyPr>
          <a:lstStyle/>
          <a:p>
            <a:pPr algn="l"/>
            <a:r>
              <a:rPr sz="1300" b="0">
                <a:solidFill>
                  <a:srgbClr val="58697F"/>
                </a:solidFill>
                <a:latin typeface="Aptos"/>
              </a:rPr>
              <a:t>Demostración: NotebookLM con programas de asignaturas de programación</a:t>
            </a:r>
          </a:p>
        </p:txBody>
      </p:sp>
      <p:sp>
        <p:nvSpPr>
          <p:cNvPr id="7" name="TextBox 6"/>
          <p:cNvSpPr txBox="1"/>
          <p:nvPr/>
        </p:nvSpPr>
        <p:spPr>
          <a:xfrm>
            <a:off x="8823960" y="6510528"/>
            <a:ext cx="2788920" cy="201168"/>
          </a:xfrm>
          <a:prstGeom prst="rect">
            <a:avLst/>
          </a:prstGeom>
          <a:noFill/>
        </p:spPr>
        <p:txBody>
          <a:bodyPr wrap="square" anchor="t">
            <a:spAutoFit/>
          </a:bodyPr>
          <a:lstStyle/>
          <a:p>
            <a:pPr algn="r"/>
            <a:r>
              <a:rPr sz="900" b="0">
                <a:solidFill>
                  <a:srgbClr val="58697F"/>
                </a:solidFill>
                <a:latin typeface="Aptos"/>
              </a:rPr>
              <a:t>Taller · Rediseño académico con IA</a:t>
            </a:r>
          </a:p>
        </p:txBody>
      </p:sp>
      <p:sp>
        <p:nvSpPr>
          <p:cNvPr id="8" name="Oval 7"/>
          <p:cNvSpPr/>
          <p:nvPr/>
        </p:nvSpPr>
        <p:spPr>
          <a:xfrm>
            <a:off x="868680" y="1389888"/>
            <a:ext cx="566928" cy="566928"/>
          </a:xfrm>
          <a:prstGeom prst="ellipse">
            <a:avLst/>
          </a:prstGeom>
          <a:solidFill>
            <a:srgbClr val="4AD2E8"/>
          </a:solidFill>
          <a:ln w="19050">
            <a:solidFill>
              <a:srgbClr val="4AD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426464"/>
            <a:ext cx="566928" cy="457200"/>
          </a:xfrm>
          <a:prstGeom prst="rect">
            <a:avLst/>
          </a:prstGeom>
          <a:noFill/>
        </p:spPr>
        <p:txBody>
          <a:bodyPr wrap="square" anchor="ctr">
            <a:spAutoFit/>
          </a:bodyPr>
          <a:lstStyle/>
          <a:p>
            <a:pPr algn="ctr"/>
            <a:r>
              <a:rPr sz="1700" b="1">
                <a:solidFill>
                  <a:srgbClr val="FFFFFF"/>
                </a:solidFill>
                <a:latin typeface="Aptos"/>
              </a:rPr>
              <a:t>1</a:t>
            </a:r>
          </a:p>
        </p:txBody>
      </p:sp>
      <p:sp>
        <p:nvSpPr>
          <p:cNvPr id="10" name="TextBox 9"/>
          <p:cNvSpPr txBox="1"/>
          <p:nvPr/>
        </p:nvSpPr>
        <p:spPr>
          <a:xfrm>
            <a:off x="1664208" y="1371600"/>
            <a:ext cx="2788920" cy="310896"/>
          </a:xfrm>
          <a:prstGeom prst="rect">
            <a:avLst/>
          </a:prstGeom>
          <a:noFill/>
        </p:spPr>
        <p:txBody>
          <a:bodyPr wrap="square" anchor="t">
            <a:spAutoFit/>
          </a:bodyPr>
          <a:lstStyle/>
          <a:p>
            <a:pPr algn="l"/>
            <a:r>
              <a:rPr sz="1700" b="1">
                <a:solidFill>
                  <a:srgbClr val="192A43"/>
                </a:solidFill>
                <a:latin typeface="Aptos"/>
              </a:rPr>
              <a:t>Actualizar</a:t>
            </a:r>
          </a:p>
        </p:txBody>
      </p:sp>
      <p:sp>
        <p:nvSpPr>
          <p:cNvPr id="11" name="TextBox 10"/>
          <p:cNvSpPr txBox="1"/>
          <p:nvPr/>
        </p:nvSpPr>
        <p:spPr>
          <a:xfrm>
            <a:off x="1664208" y="1737360"/>
            <a:ext cx="4160520" cy="493776"/>
          </a:xfrm>
          <a:prstGeom prst="rect">
            <a:avLst/>
          </a:prstGeom>
          <a:noFill/>
        </p:spPr>
        <p:txBody>
          <a:bodyPr wrap="square" anchor="t">
            <a:spAutoFit/>
          </a:bodyPr>
          <a:lstStyle/>
          <a:p>
            <a:pPr algn="l"/>
            <a:r>
              <a:rPr sz="1300" b="0">
                <a:solidFill>
                  <a:srgbClr val="58697F"/>
                </a:solidFill>
                <a:latin typeface="Aptos"/>
              </a:rPr>
              <a:t>Comparar programas, fuentes recientes y necesidades profesionales.</a:t>
            </a:r>
          </a:p>
        </p:txBody>
      </p:sp>
      <p:sp>
        <p:nvSpPr>
          <p:cNvPr id="12" name="Rectangle 11"/>
          <p:cNvSpPr/>
          <p:nvPr/>
        </p:nvSpPr>
        <p:spPr>
          <a:xfrm>
            <a:off x="1124712" y="1956816"/>
            <a:ext cx="54864" cy="557784"/>
          </a:xfrm>
          <a:prstGeom prst="rect">
            <a:avLst/>
          </a:prstGeom>
          <a:solidFill>
            <a:srgbClr val="C7DFEB"/>
          </a:solidFill>
          <a:ln>
            <a:solidFill>
              <a:srgbClr val="C7D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68680" y="2532888"/>
            <a:ext cx="566928" cy="566928"/>
          </a:xfrm>
          <a:prstGeom prst="ellipse">
            <a:avLst/>
          </a:prstGeom>
          <a:solidFill>
            <a:srgbClr val="4AD2E8"/>
          </a:solidFill>
          <a:ln w="19050">
            <a:solidFill>
              <a:srgbClr val="4AD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2569464"/>
            <a:ext cx="566928" cy="457200"/>
          </a:xfrm>
          <a:prstGeom prst="rect">
            <a:avLst/>
          </a:prstGeom>
          <a:noFill/>
        </p:spPr>
        <p:txBody>
          <a:bodyPr wrap="square" anchor="ctr">
            <a:spAutoFit/>
          </a:bodyPr>
          <a:lstStyle/>
          <a:p>
            <a:pPr algn="ctr"/>
            <a:r>
              <a:rPr sz="1700" b="1">
                <a:solidFill>
                  <a:srgbClr val="FFFFFF"/>
                </a:solidFill>
                <a:latin typeface="Aptos"/>
              </a:rPr>
              <a:t>2</a:t>
            </a:r>
          </a:p>
        </p:txBody>
      </p:sp>
      <p:sp>
        <p:nvSpPr>
          <p:cNvPr id="15" name="TextBox 14"/>
          <p:cNvSpPr txBox="1"/>
          <p:nvPr/>
        </p:nvSpPr>
        <p:spPr>
          <a:xfrm>
            <a:off x="1664208" y="2514600"/>
            <a:ext cx="2788920" cy="310896"/>
          </a:xfrm>
          <a:prstGeom prst="rect">
            <a:avLst/>
          </a:prstGeom>
          <a:noFill/>
        </p:spPr>
        <p:txBody>
          <a:bodyPr wrap="square" anchor="t">
            <a:spAutoFit/>
          </a:bodyPr>
          <a:lstStyle/>
          <a:p>
            <a:pPr algn="l"/>
            <a:r>
              <a:rPr sz="1700" b="1">
                <a:solidFill>
                  <a:srgbClr val="192A43"/>
                </a:solidFill>
                <a:latin typeface="Aptos"/>
              </a:rPr>
              <a:t>Rediseñar</a:t>
            </a:r>
          </a:p>
        </p:txBody>
      </p:sp>
      <p:sp>
        <p:nvSpPr>
          <p:cNvPr id="16" name="TextBox 15"/>
          <p:cNvSpPr txBox="1"/>
          <p:nvPr/>
        </p:nvSpPr>
        <p:spPr>
          <a:xfrm>
            <a:off x="1664208" y="2880360"/>
            <a:ext cx="4160520" cy="493776"/>
          </a:xfrm>
          <a:prstGeom prst="rect">
            <a:avLst/>
          </a:prstGeom>
          <a:noFill/>
        </p:spPr>
        <p:txBody>
          <a:bodyPr wrap="square" anchor="t">
            <a:spAutoFit/>
          </a:bodyPr>
          <a:lstStyle/>
          <a:p>
            <a:pPr algn="l"/>
            <a:r>
              <a:rPr sz="1300" b="0">
                <a:solidFill>
                  <a:srgbClr val="58697F"/>
                </a:solidFill>
                <a:latin typeface="Aptos"/>
              </a:rPr>
              <a:t>Convertir competencias en actividades pertinentes y diferenciadas.</a:t>
            </a:r>
          </a:p>
        </p:txBody>
      </p:sp>
      <p:sp>
        <p:nvSpPr>
          <p:cNvPr id="17" name="Rectangle 16"/>
          <p:cNvSpPr/>
          <p:nvPr/>
        </p:nvSpPr>
        <p:spPr>
          <a:xfrm>
            <a:off x="1124712" y="3099816"/>
            <a:ext cx="54864" cy="557784"/>
          </a:xfrm>
          <a:prstGeom prst="rect">
            <a:avLst/>
          </a:prstGeom>
          <a:solidFill>
            <a:srgbClr val="C7DFEB"/>
          </a:solidFill>
          <a:ln>
            <a:solidFill>
              <a:srgbClr val="C7D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68680" y="3675887"/>
            <a:ext cx="566928" cy="566928"/>
          </a:xfrm>
          <a:prstGeom prst="ellipse">
            <a:avLst/>
          </a:prstGeom>
          <a:solidFill>
            <a:srgbClr val="4AD2E8"/>
          </a:solidFill>
          <a:ln w="19050">
            <a:solidFill>
              <a:srgbClr val="4AD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68680" y="3712463"/>
            <a:ext cx="566928" cy="457200"/>
          </a:xfrm>
          <a:prstGeom prst="rect">
            <a:avLst/>
          </a:prstGeom>
          <a:noFill/>
        </p:spPr>
        <p:txBody>
          <a:bodyPr wrap="square" anchor="ctr">
            <a:spAutoFit/>
          </a:bodyPr>
          <a:lstStyle/>
          <a:p>
            <a:pPr algn="ctr"/>
            <a:r>
              <a:rPr sz="1700" b="1">
                <a:solidFill>
                  <a:srgbClr val="FFFFFF"/>
                </a:solidFill>
                <a:latin typeface="Aptos"/>
              </a:rPr>
              <a:t>3</a:t>
            </a:r>
          </a:p>
        </p:txBody>
      </p:sp>
      <p:sp>
        <p:nvSpPr>
          <p:cNvPr id="20" name="TextBox 19"/>
          <p:cNvSpPr txBox="1"/>
          <p:nvPr/>
        </p:nvSpPr>
        <p:spPr>
          <a:xfrm>
            <a:off x="1664208" y="3657599"/>
            <a:ext cx="2788920" cy="310896"/>
          </a:xfrm>
          <a:prstGeom prst="rect">
            <a:avLst/>
          </a:prstGeom>
          <a:noFill/>
        </p:spPr>
        <p:txBody>
          <a:bodyPr wrap="square" anchor="t">
            <a:spAutoFit/>
          </a:bodyPr>
          <a:lstStyle/>
          <a:p>
            <a:pPr algn="l"/>
            <a:r>
              <a:rPr sz="1700" b="1">
                <a:solidFill>
                  <a:srgbClr val="192A43"/>
                </a:solidFill>
                <a:latin typeface="Aptos"/>
              </a:rPr>
              <a:t>Evaluar</a:t>
            </a:r>
          </a:p>
        </p:txBody>
      </p:sp>
      <p:sp>
        <p:nvSpPr>
          <p:cNvPr id="21" name="TextBox 20"/>
          <p:cNvSpPr txBox="1"/>
          <p:nvPr/>
        </p:nvSpPr>
        <p:spPr>
          <a:xfrm>
            <a:off x="1664208" y="4023359"/>
            <a:ext cx="4160520" cy="493776"/>
          </a:xfrm>
          <a:prstGeom prst="rect">
            <a:avLst/>
          </a:prstGeom>
          <a:noFill/>
        </p:spPr>
        <p:txBody>
          <a:bodyPr wrap="square" anchor="t">
            <a:spAutoFit/>
          </a:bodyPr>
          <a:lstStyle/>
          <a:p>
            <a:pPr algn="l"/>
            <a:r>
              <a:rPr sz="1300" b="0">
                <a:solidFill>
                  <a:srgbClr val="58697F"/>
                </a:solidFill>
                <a:latin typeface="Aptos"/>
              </a:rPr>
              <a:t>Revisar evidencias sin perder de vista criterios y rúbricas.</a:t>
            </a:r>
          </a:p>
        </p:txBody>
      </p:sp>
      <p:sp>
        <p:nvSpPr>
          <p:cNvPr id="22" name="Rectangle 21"/>
          <p:cNvSpPr/>
          <p:nvPr/>
        </p:nvSpPr>
        <p:spPr>
          <a:xfrm>
            <a:off x="1124712" y="4242816"/>
            <a:ext cx="54864" cy="557784"/>
          </a:xfrm>
          <a:prstGeom prst="rect">
            <a:avLst/>
          </a:prstGeom>
          <a:solidFill>
            <a:srgbClr val="C7DFEB"/>
          </a:solidFill>
          <a:ln>
            <a:solidFill>
              <a:srgbClr val="C7D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868680" y="4818888"/>
            <a:ext cx="566928" cy="566928"/>
          </a:xfrm>
          <a:prstGeom prst="ellipse">
            <a:avLst/>
          </a:prstGeom>
          <a:solidFill>
            <a:srgbClr val="35A674"/>
          </a:solidFill>
          <a:ln w="19050">
            <a:solidFill>
              <a:srgbClr val="35A6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68680" y="4855464"/>
            <a:ext cx="566928" cy="457200"/>
          </a:xfrm>
          <a:prstGeom prst="rect">
            <a:avLst/>
          </a:prstGeom>
          <a:noFill/>
        </p:spPr>
        <p:txBody>
          <a:bodyPr wrap="square" anchor="ctr">
            <a:spAutoFit/>
          </a:bodyPr>
          <a:lstStyle/>
          <a:p>
            <a:pPr algn="ctr"/>
            <a:r>
              <a:rPr sz="1700" b="1">
                <a:solidFill>
                  <a:srgbClr val="FFFFFF"/>
                </a:solidFill>
                <a:latin typeface="Aptos"/>
              </a:rPr>
              <a:t>4</a:t>
            </a:r>
          </a:p>
        </p:txBody>
      </p:sp>
      <p:sp>
        <p:nvSpPr>
          <p:cNvPr id="25" name="TextBox 24"/>
          <p:cNvSpPr txBox="1"/>
          <p:nvPr/>
        </p:nvSpPr>
        <p:spPr>
          <a:xfrm>
            <a:off x="1664208" y="4800600"/>
            <a:ext cx="2788920" cy="310896"/>
          </a:xfrm>
          <a:prstGeom prst="rect">
            <a:avLst/>
          </a:prstGeom>
          <a:noFill/>
        </p:spPr>
        <p:txBody>
          <a:bodyPr wrap="square" anchor="t">
            <a:spAutoFit/>
          </a:bodyPr>
          <a:lstStyle/>
          <a:p>
            <a:pPr algn="l"/>
            <a:r>
              <a:rPr sz="1700" b="1">
                <a:solidFill>
                  <a:srgbClr val="192A43"/>
                </a:solidFill>
                <a:latin typeface="Aptos"/>
              </a:rPr>
              <a:t>Retroalimentar</a:t>
            </a:r>
          </a:p>
        </p:txBody>
      </p:sp>
      <p:sp>
        <p:nvSpPr>
          <p:cNvPr id="26" name="TextBox 25"/>
          <p:cNvSpPr txBox="1"/>
          <p:nvPr/>
        </p:nvSpPr>
        <p:spPr>
          <a:xfrm>
            <a:off x="1664208" y="5166359"/>
            <a:ext cx="4160520" cy="493776"/>
          </a:xfrm>
          <a:prstGeom prst="rect">
            <a:avLst/>
          </a:prstGeom>
          <a:noFill/>
        </p:spPr>
        <p:txBody>
          <a:bodyPr wrap="square" anchor="t">
            <a:spAutoFit/>
          </a:bodyPr>
          <a:lstStyle/>
          <a:p>
            <a:pPr algn="l"/>
            <a:r>
              <a:rPr sz="1300" b="0">
                <a:solidFill>
                  <a:srgbClr val="58697F"/>
                </a:solidFill>
                <a:latin typeface="Aptos"/>
              </a:rPr>
              <a:t>Explicar qué logró cada estudiante y cómo puede mejorar.</a:t>
            </a:r>
          </a:p>
        </p:txBody>
      </p:sp>
      <p:sp>
        <p:nvSpPr>
          <p:cNvPr id="27" name="Rounded Rectangle 26"/>
          <p:cNvSpPr/>
          <p:nvPr/>
        </p:nvSpPr>
        <p:spPr>
          <a:xfrm>
            <a:off x="6537960" y="1417320"/>
            <a:ext cx="4709160" cy="4526280"/>
          </a:xfrm>
          <a:prstGeom prst="roundRect">
            <a:avLst/>
          </a:prstGeom>
          <a:solidFill>
            <a:srgbClr val="164391"/>
          </a:solidFill>
          <a:ln>
            <a:solidFill>
              <a:srgbClr val="16439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903720" y="1755648"/>
            <a:ext cx="3977639" cy="256032"/>
          </a:xfrm>
          <a:prstGeom prst="rect">
            <a:avLst/>
          </a:prstGeom>
          <a:noFill/>
        </p:spPr>
        <p:txBody>
          <a:bodyPr wrap="square" anchor="t">
            <a:spAutoFit/>
          </a:bodyPr>
          <a:lstStyle/>
          <a:p>
            <a:pPr algn="l"/>
            <a:r>
              <a:rPr sz="1200" b="1">
                <a:solidFill>
                  <a:srgbClr val="4AD2E8"/>
                </a:solidFill>
                <a:latin typeface="Aptos"/>
              </a:rPr>
              <a:t>NUEVO FLUJO</a:t>
            </a:r>
          </a:p>
        </p:txBody>
      </p:sp>
      <p:sp>
        <p:nvSpPr>
          <p:cNvPr id="29" name="TextBox 28"/>
          <p:cNvSpPr txBox="1"/>
          <p:nvPr/>
        </p:nvSpPr>
        <p:spPr>
          <a:xfrm>
            <a:off x="6903720" y="2176272"/>
            <a:ext cx="3977639" cy="841248"/>
          </a:xfrm>
          <a:prstGeom prst="rect">
            <a:avLst/>
          </a:prstGeom>
          <a:noFill/>
        </p:spPr>
        <p:txBody>
          <a:bodyPr wrap="square" anchor="t">
            <a:spAutoFit/>
          </a:bodyPr>
          <a:lstStyle/>
          <a:p>
            <a:pPr algn="l"/>
            <a:r>
              <a:rPr sz="2700" b="1">
                <a:solidFill>
                  <a:srgbClr val="FFFFFF"/>
                </a:solidFill>
                <a:latin typeface="Aptos"/>
              </a:rPr>
              <a:t>Docente +
agentes de IA</a:t>
            </a:r>
          </a:p>
        </p:txBody>
      </p:sp>
      <p:sp>
        <p:nvSpPr>
          <p:cNvPr id="30" name="TextBox 29"/>
          <p:cNvSpPr txBox="1"/>
          <p:nvPr/>
        </p:nvSpPr>
        <p:spPr>
          <a:xfrm>
            <a:off x="6903720" y="3310128"/>
            <a:ext cx="3657600" cy="502920"/>
          </a:xfrm>
          <a:prstGeom prst="rect">
            <a:avLst/>
          </a:prstGeom>
          <a:noFill/>
        </p:spPr>
        <p:txBody>
          <a:bodyPr wrap="square" anchor="t">
            <a:spAutoFit/>
          </a:bodyPr>
          <a:lstStyle/>
          <a:p>
            <a:pPr algn="l"/>
            <a:r>
              <a:rPr sz="1700" b="1">
                <a:solidFill>
                  <a:srgbClr val="FFFFFF"/>
                </a:solidFill>
                <a:latin typeface="Aptos"/>
              </a:rPr>
              <a:t>Una tarea para cada agente</a:t>
            </a:r>
          </a:p>
        </p:txBody>
      </p:sp>
      <p:sp>
        <p:nvSpPr>
          <p:cNvPr id="31" name="Rounded Rectangle 30"/>
          <p:cNvSpPr/>
          <p:nvPr/>
        </p:nvSpPr>
        <p:spPr>
          <a:xfrm>
            <a:off x="6903720" y="3950208"/>
            <a:ext cx="3794760" cy="320040"/>
          </a:xfrm>
          <a:prstGeom prst="roundRect">
            <a:avLst/>
          </a:prstGeom>
          <a:solidFill>
            <a:srgbClr val="305B9E"/>
          </a:solidFill>
          <a:ln>
            <a:solidFill>
              <a:srgbClr val="305B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059168" y="4005072"/>
            <a:ext cx="3429000" cy="173736"/>
          </a:xfrm>
          <a:prstGeom prst="rect">
            <a:avLst/>
          </a:prstGeom>
          <a:noFill/>
        </p:spPr>
        <p:txBody>
          <a:bodyPr wrap="square" anchor="t">
            <a:spAutoFit/>
          </a:bodyPr>
          <a:lstStyle/>
          <a:p>
            <a:pPr algn="l"/>
            <a:r>
              <a:rPr sz="1100" b="0">
                <a:solidFill>
                  <a:srgbClr val="FFFFFF"/>
                </a:solidFill>
                <a:latin typeface="Aptos"/>
              </a:rPr>
              <a:t>Investigar y actualizar</a:t>
            </a:r>
          </a:p>
        </p:txBody>
      </p:sp>
      <p:sp>
        <p:nvSpPr>
          <p:cNvPr id="33" name="Rounded Rectangle 32"/>
          <p:cNvSpPr/>
          <p:nvPr/>
        </p:nvSpPr>
        <p:spPr>
          <a:xfrm>
            <a:off x="6903720" y="4370832"/>
            <a:ext cx="3794760" cy="320040"/>
          </a:xfrm>
          <a:prstGeom prst="roundRect">
            <a:avLst/>
          </a:prstGeom>
          <a:solidFill>
            <a:srgbClr val="305B9E"/>
          </a:solidFill>
          <a:ln>
            <a:solidFill>
              <a:srgbClr val="305B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059168" y="4425696"/>
            <a:ext cx="3429000" cy="173736"/>
          </a:xfrm>
          <a:prstGeom prst="rect">
            <a:avLst/>
          </a:prstGeom>
          <a:noFill/>
        </p:spPr>
        <p:txBody>
          <a:bodyPr wrap="square" anchor="t">
            <a:spAutoFit/>
          </a:bodyPr>
          <a:lstStyle/>
          <a:p>
            <a:pPr algn="l"/>
            <a:r>
              <a:rPr sz="1100" b="0">
                <a:solidFill>
                  <a:srgbClr val="FFFFFF"/>
                </a:solidFill>
                <a:latin typeface="Aptos"/>
              </a:rPr>
              <a:t>Diseñar actividades</a:t>
            </a:r>
          </a:p>
        </p:txBody>
      </p:sp>
      <p:sp>
        <p:nvSpPr>
          <p:cNvPr id="35" name="Rounded Rectangle 34"/>
          <p:cNvSpPr/>
          <p:nvPr/>
        </p:nvSpPr>
        <p:spPr>
          <a:xfrm>
            <a:off x="6903720" y="4791456"/>
            <a:ext cx="3794760" cy="320040"/>
          </a:xfrm>
          <a:prstGeom prst="roundRect">
            <a:avLst/>
          </a:prstGeom>
          <a:solidFill>
            <a:srgbClr val="305B9E"/>
          </a:solidFill>
          <a:ln>
            <a:solidFill>
              <a:srgbClr val="305B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059168" y="4846320"/>
            <a:ext cx="3429000" cy="173736"/>
          </a:xfrm>
          <a:prstGeom prst="rect">
            <a:avLst/>
          </a:prstGeom>
          <a:noFill/>
        </p:spPr>
        <p:txBody>
          <a:bodyPr wrap="square" anchor="t">
            <a:spAutoFit/>
          </a:bodyPr>
          <a:lstStyle/>
          <a:p>
            <a:pPr algn="l"/>
            <a:r>
              <a:rPr sz="1100" b="1">
                <a:solidFill>
                  <a:srgbClr val="FFFFFF"/>
                </a:solidFill>
                <a:latin typeface="Aptos"/>
              </a:rPr>
              <a:t>Evaluar con rúbricas</a:t>
            </a:r>
          </a:p>
        </p:txBody>
      </p:sp>
      <p:sp>
        <p:nvSpPr>
          <p:cNvPr id="37" name="Rounded Rectangle 36"/>
          <p:cNvSpPr/>
          <p:nvPr/>
        </p:nvSpPr>
        <p:spPr>
          <a:xfrm>
            <a:off x="6903720" y="5212080"/>
            <a:ext cx="3794760" cy="320040"/>
          </a:xfrm>
          <a:prstGeom prst="roundRect">
            <a:avLst/>
          </a:prstGeom>
          <a:solidFill>
            <a:srgbClr val="35A674"/>
          </a:solidFill>
          <a:ln>
            <a:solidFill>
              <a:srgbClr val="35A6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059168" y="5266944"/>
            <a:ext cx="3429000" cy="173736"/>
          </a:xfrm>
          <a:prstGeom prst="rect">
            <a:avLst/>
          </a:prstGeom>
          <a:noFill/>
        </p:spPr>
        <p:txBody>
          <a:bodyPr wrap="square" anchor="t">
            <a:spAutoFit/>
          </a:bodyPr>
          <a:lstStyle/>
          <a:p>
            <a:pPr algn="l"/>
            <a:r>
              <a:rPr sz="1100" b="0">
                <a:solidFill>
                  <a:srgbClr val="FFFFFF"/>
                </a:solidFill>
                <a:latin typeface="Aptos"/>
              </a:rPr>
              <a:t>Retroalimentar y mejorar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8FC"/>
          </a:solidFill>
          <a:ln>
            <a:solidFill>
              <a:srgbClr val="F4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4AD2E8"/>
          </a:solidFill>
          <a:ln>
            <a:solidFill>
              <a:srgbClr val="4AD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10896"/>
            <a:ext cx="640080" cy="411480"/>
          </a:xfrm>
          <a:prstGeom prst="rect">
            <a:avLst/>
          </a:prstGeom>
          <a:noFill/>
        </p:spPr>
        <p:txBody>
          <a:bodyPr wrap="square" anchor="t">
            <a:spAutoFit/>
          </a:bodyPr>
          <a:lstStyle/>
          <a:p>
            <a:pPr algn="l"/>
            <a:r>
              <a:rPr sz="1400" b="1">
                <a:solidFill>
                  <a:srgbClr val="1F4EA0"/>
                </a:solidFill>
                <a:latin typeface="Aptos"/>
              </a:rPr>
              <a:t>04</a:t>
            </a:r>
          </a:p>
        </p:txBody>
      </p:sp>
      <p:sp>
        <p:nvSpPr>
          <p:cNvPr id="5" name="TextBox 4"/>
          <p:cNvSpPr txBox="1"/>
          <p:nvPr/>
        </p:nvSpPr>
        <p:spPr>
          <a:xfrm>
            <a:off x="1143000" y="256032"/>
            <a:ext cx="10241280" cy="566928"/>
          </a:xfrm>
          <a:prstGeom prst="rect">
            <a:avLst/>
          </a:prstGeom>
          <a:noFill/>
        </p:spPr>
        <p:txBody>
          <a:bodyPr wrap="square" anchor="t">
            <a:spAutoFit/>
          </a:bodyPr>
          <a:lstStyle/>
          <a:p>
            <a:pPr algn="l"/>
            <a:r>
              <a:rPr sz="2800" b="1">
                <a:solidFill>
                  <a:srgbClr val="192A43"/>
                </a:solidFill>
                <a:latin typeface="Aptos"/>
              </a:rPr>
              <a:t>Agentes para las tareas docentes</a:t>
            </a:r>
          </a:p>
        </p:txBody>
      </p:sp>
      <p:sp>
        <p:nvSpPr>
          <p:cNvPr id="6" name="TextBox 5"/>
          <p:cNvSpPr txBox="1"/>
          <p:nvPr/>
        </p:nvSpPr>
        <p:spPr>
          <a:xfrm>
            <a:off x="1143000" y="804672"/>
            <a:ext cx="10058400" cy="384048"/>
          </a:xfrm>
          <a:prstGeom prst="rect">
            <a:avLst/>
          </a:prstGeom>
          <a:noFill/>
        </p:spPr>
        <p:txBody>
          <a:bodyPr wrap="square" anchor="t">
            <a:spAutoFit/>
          </a:bodyPr>
          <a:lstStyle/>
          <a:p>
            <a:pPr algn="l"/>
            <a:r>
              <a:rPr sz="1300" b="0">
                <a:solidFill>
                  <a:srgbClr val="58697F"/>
                </a:solidFill>
                <a:latin typeface="Aptos"/>
              </a:rPr>
              <a:t>Funciones adaptables a cualquier disciplina y contexto educativo</a:t>
            </a:r>
          </a:p>
        </p:txBody>
      </p:sp>
      <p:sp>
        <p:nvSpPr>
          <p:cNvPr id="7" name="TextBox 6"/>
          <p:cNvSpPr txBox="1"/>
          <p:nvPr/>
        </p:nvSpPr>
        <p:spPr>
          <a:xfrm>
            <a:off x="8823960" y="6510528"/>
            <a:ext cx="2788920" cy="201168"/>
          </a:xfrm>
          <a:prstGeom prst="rect">
            <a:avLst/>
          </a:prstGeom>
          <a:noFill/>
        </p:spPr>
        <p:txBody>
          <a:bodyPr wrap="square" anchor="t">
            <a:spAutoFit/>
          </a:bodyPr>
          <a:lstStyle/>
          <a:p>
            <a:pPr algn="r"/>
            <a:r>
              <a:rPr sz="900" b="0">
                <a:solidFill>
                  <a:srgbClr val="58697F"/>
                </a:solidFill>
                <a:latin typeface="Aptos"/>
              </a:rPr>
              <a:t>Taller · Rediseño académico con IA</a:t>
            </a:r>
          </a:p>
        </p:txBody>
      </p:sp>
      <p:sp>
        <p:nvSpPr>
          <p:cNvPr id="8" name="Rounded Rectangle 7"/>
          <p:cNvSpPr/>
          <p:nvPr/>
        </p:nvSpPr>
        <p:spPr>
          <a:xfrm>
            <a:off x="777240" y="1417320"/>
            <a:ext cx="3401568" cy="1719072"/>
          </a:xfrm>
          <a:prstGeom prst="roundRect">
            <a:avLst/>
          </a:prstGeom>
          <a:solidFill>
            <a:srgbClr val="FFFFFF"/>
          </a:solidFill>
          <a:ln>
            <a:solidFill>
              <a:srgbClr val="DCE6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51560" y="1709928"/>
            <a:ext cx="658368" cy="658368"/>
          </a:xfrm>
          <a:prstGeom prst="ellipse">
            <a:avLst/>
          </a:prstGeom>
          <a:solidFill>
            <a:srgbClr val="1F4EA0"/>
          </a:solidFill>
          <a:ln w="19050">
            <a:solidFill>
              <a:srgbClr val="1F4E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1792224"/>
            <a:ext cx="658368" cy="347472"/>
          </a:xfrm>
          <a:prstGeom prst="rect">
            <a:avLst/>
          </a:prstGeom>
          <a:noFill/>
        </p:spPr>
        <p:txBody>
          <a:bodyPr wrap="square" anchor="t">
            <a:spAutoFit/>
          </a:bodyPr>
          <a:lstStyle/>
          <a:p>
            <a:pPr algn="ctr"/>
            <a:r>
              <a:rPr sz="1400" b="1">
                <a:solidFill>
                  <a:srgbClr val="FFFFFF"/>
                </a:solidFill>
                <a:latin typeface="Aptos"/>
              </a:rPr>
              <a:t>?</a:t>
            </a:r>
          </a:p>
        </p:txBody>
      </p:sp>
      <p:sp>
        <p:nvSpPr>
          <p:cNvPr id="11" name="TextBox 10"/>
          <p:cNvSpPr txBox="1"/>
          <p:nvPr/>
        </p:nvSpPr>
        <p:spPr>
          <a:xfrm>
            <a:off x="1892807" y="1709928"/>
            <a:ext cx="1920240" cy="320040"/>
          </a:xfrm>
          <a:prstGeom prst="rect">
            <a:avLst/>
          </a:prstGeom>
          <a:noFill/>
        </p:spPr>
        <p:txBody>
          <a:bodyPr wrap="square" anchor="t">
            <a:spAutoFit/>
          </a:bodyPr>
          <a:lstStyle/>
          <a:p>
            <a:pPr algn="l"/>
            <a:r>
              <a:rPr sz="1800" b="1">
                <a:solidFill>
                  <a:srgbClr val="192A43"/>
                </a:solidFill>
                <a:latin typeface="Aptos"/>
              </a:rPr>
              <a:t>Diagnóstico</a:t>
            </a:r>
          </a:p>
        </p:txBody>
      </p:sp>
      <p:sp>
        <p:nvSpPr>
          <p:cNvPr id="12" name="TextBox 11"/>
          <p:cNvSpPr txBox="1"/>
          <p:nvPr/>
        </p:nvSpPr>
        <p:spPr>
          <a:xfrm>
            <a:off x="1892807" y="2176272"/>
            <a:ext cx="1920240" cy="603504"/>
          </a:xfrm>
          <a:prstGeom prst="rect">
            <a:avLst/>
          </a:prstGeom>
          <a:noFill/>
        </p:spPr>
        <p:txBody>
          <a:bodyPr wrap="square" anchor="t">
            <a:spAutoFit/>
          </a:bodyPr>
          <a:lstStyle/>
          <a:p>
            <a:pPr algn="l"/>
            <a:r>
              <a:rPr sz="1300" b="0">
                <a:solidFill>
                  <a:srgbClr val="58697F"/>
                </a:solidFill>
                <a:latin typeface="Aptos"/>
              </a:rPr>
              <a:t>Detecta saberes previos y brechas</a:t>
            </a:r>
          </a:p>
        </p:txBody>
      </p:sp>
      <p:sp>
        <p:nvSpPr>
          <p:cNvPr id="13" name="Rounded Rectangle 12"/>
          <p:cNvSpPr/>
          <p:nvPr/>
        </p:nvSpPr>
        <p:spPr>
          <a:xfrm>
            <a:off x="4572000" y="1417320"/>
            <a:ext cx="3401568" cy="1719072"/>
          </a:xfrm>
          <a:prstGeom prst="roundRect">
            <a:avLst/>
          </a:prstGeom>
          <a:solidFill>
            <a:srgbClr val="FFFFFF"/>
          </a:solidFill>
          <a:ln>
            <a:solidFill>
              <a:srgbClr val="DCE6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846320" y="1709928"/>
            <a:ext cx="658368" cy="658368"/>
          </a:xfrm>
          <a:prstGeom prst="ellipse">
            <a:avLst/>
          </a:prstGeom>
          <a:solidFill>
            <a:srgbClr val="4AD2E8"/>
          </a:solidFill>
          <a:ln w="19050">
            <a:solidFill>
              <a:srgbClr val="4AD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846320" y="1792224"/>
            <a:ext cx="658368" cy="347472"/>
          </a:xfrm>
          <a:prstGeom prst="rect">
            <a:avLst/>
          </a:prstGeom>
          <a:noFill/>
        </p:spPr>
        <p:txBody>
          <a:bodyPr wrap="square" anchor="t">
            <a:spAutoFit/>
          </a:bodyPr>
          <a:lstStyle/>
          <a:p>
            <a:pPr algn="ctr"/>
            <a:r>
              <a:rPr sz="1400" b="1">
                <a:solidFill>
                  <a:srgbClr val="FFFFFF"/>
                </a:solidFill>
                <a:latin typeface="Aptos"/>
              </a:rPr>
              <a:t>↗</a:t>
            </a:r>
          </a:p>
        </p:txBody>
      </p:sp>
      <p:sp>
        <p:nvSpPr>
          <p:cNvPr id="16" name="TextBox 15"/>
          <p:cNvSpPr txBox="1"/>
          <p:nvPr/>
        </p:nvSpPr>
        <p:spPr>
          <a:xfrm>
            <a:off x="5687568" y="1709928"/>
            <a:ext cx="1920240" cy="320040"/>
          </a:xfrm>
          <a:prstGeom prst="rect">
            <a:avLst/>
          </a:prstGeom>
          <a:noFill/>
        </p:spPr>
        <p:txBody>
          <a:bodyPr wrap="square" anchor="t">
            <a:spAutoFit/>
          </a:bodyPr>
          <a:lstStyle/>
          <a:p>
            <a:pPr algn="l"/>
            <a:r>
              <a:rPr sz="1800" b="1">
                <a:solidFill>
                  <a:srgbClr val="192A43"/>
                </a:solidFill>
                <a:latin typeface="Aptos"/>
              </a:rPr>
              <a:t>Investigación</a:t>
            </a:r>
          </a:p>
        </p:txBody>
      </p:sp>
      <p:sp>
        <p:nvSpPr>
          <p:cNvPr id="17" name="TextBox 16"/>
          <p:cNvSpPr txBox="1"/>
          <p:nvPr/>
        </p:nvSpPr>
        <p:spPr>
          <a:xfrm>
            <a:off x="5687568" y="2176272"/>
            <a:ext cx="1920240" cy="603504"/>
          </a:xfrm>
          <a:prstGeom prst="rect">
            <a:avLst/>
          </a:prstGeom>
          <a:noFill/>
        </p:spPr>
        <p:txBody>
          <a:bodyPr wrap="square" anchor="t">
            <a:spAutoFit/>
          </a:bodyPr>
          <a:lstStyle/>
          <a:p>
            <a:pPr algn="l"/>
            <a:r>
              <a:rPr sz="1300" b="0">
                <a:solidFill>
                  <a:srgbClr val="58697F"/>
                </a:solidFill>
                <a:latin typeface="Aptos"/>
              </a:rPr>
              <a:t>Busca y verifica información actual</a:t>
            </a:r>
          </a:p>
        </p:txBody>
      </p:sp>
      <p:sp>
        <p:nvSpPr>
          <p:cNvPr id="18" name="Rounded Rectangle 17"/>
          <p:cNvSpPr/>
          <p:nvPr/>
        </p:nvSpPr>
        <p:spPr>
          <a:xfrm>
            <a:off x="8366760" y="1417320"/>
            <a:ext cx="3401568" cy="1719072"/>
          </a:xfrm>
          <a:prstGeom prst="roundRect">
            <a:avLst/>
          </a:prstGeom>
          <a:solidFill>
            <a:srgbClr val="FFFFFF"/>
          </a:solidFill>
          <a:ln>
            <a:solidFill>
              <a:srgbClr val="DCE6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641080" y="1709928"/>
            <a:ext cx="658368" cy="658368"/>
          </a:xfrm>
          <a:prstGeom prst="ellipse">
            <a:avLst/>
          </a:prstGeom>
          <a:solidFill>
            <a:srgbClr val="F2A13F"/>
          </a:solidFill>
          <a:ln w="19050">
            <a:solidFill>
              <a:srgbClr val="F2A13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41080" y="1792224"/>
            <a:ext cx="658368" cy="347472"/>
          </a:xfrm>
          <a:prstGeom prst="rect">
            <a:avLst/>
          </a:prstGeom>
          <a:noFill/>
        </p:spPr>
        <p:txBody>
          <a:bodyPr wrap="square" anchor="t">
            <a:spAutoFit/>
          </a:bodyPr>
          <a:lstStyle/>
          <a:p>
            <a:pPr algn="ctr"/>
            <a:r>
              <a:rPr sz="1400" b="1">
                <a:solidFill>
                  <a:srgbClr val="FFFFFF"/>
                </a:solidFill>
                <a:latin typeface="Aptos"/>
              </a:rPr>
              <a:t>✎</a:t>
            </a:r>
          </a:p>
        </p:txBody>
      </p:sp>
      <p:sp>
        <p:nvSpPr>
          <p:cNvPr id="21" name="TextBox 20"/>
          <p:cNvSpPr txBox="1"/>
          <p:nvPr/>
        </p:nvSpPr>
        <p:spPr>
          <a:xfrm>
            <a:off x="9482328" y="1709928"/>
            <a:ext cx="1920240" cy="320040"/>
          </a:xfrm>
          <a:prstGeom prst="rect">
            <a:avLst/>
          </a:prstGeom>
          <a:noFill/>
        </p:spPr>
        <p:txBody>
          <a:bodyPr wrap="square" anchor="t">
            <a:spAutoFit/>
          </a:bodyPr>
          <a:lstStyle/>
          <a:p>
            <a:pPr algn="l"/>
            <a:r>
              <a:rPr sz="1800" b="1">
                <a:solidFill>
                  <a:srgbClr val="192A43"/>
                </a:solidFill>
                <a:latin typeface="Aptos"/>
              </a:rPr>
              <a:t>Diseño</a:t>
            </a:r>
          </a:p>
        </p:txBody>
      </p:sp>
      <p:sp>
        <p:nvSpPr>
          <p:cNvPr id="22" name="TextBox 21"/>
          <p:cNvSpPr txBox="1"/>
          <p:nvPr/>
        </p:nvSpPr>
        <p:spPr>
          <a:xfrm>
            <a:off x="9482328" y="2176272"/>
            <a:ext cx="1920240" cy="603504"/>
          </a:xfrm>
          <a:prstGeom prst="rect">
            <a:avLst/>
          </a:prstGeom>
          <a:noFill/>
        </p:spPr>
        <p:txBody>
          <a:bodyPr wrap="square" anchor="t">
            <a:spAutoFit/>
          </a:bodyPr>
          <a:lstStyle/>
          <a:p>
            <a:pPr algn="l"/>
            <a:r>
              <a:rPr sz="1300" b="0">
                <a:solidFill>
                  <a:srgbClr val="58697F"/>
                </a:solidFill>
                <a:latin typeface="Aptos"/>
              </a:rPr>
              <a:t>Crea actividades y recursos alineados</a:t>
            </a:r>
          </a:p>
        </p:txBody>
      </p:sp>
      <p:sp>
        <p:nvSpPr>
          <p:cNvPr id="23" name="Rounded Rectangle 22"/>
          <p:cNvSpPr/>
          <p:nvPr/>
        </p:nvSpPr>
        <p:spPr>
          <a:xfrm>
            <a:off x="777240" y="3566160"/>
            <a:ext cx="3401568" cy="1719072"/>
          </a:xfrm>
          <a:prstGeom prst="roundRect">
            <a:avLst/>
          </a:prstGeom>
          <a:solidFill>
            <a:srgbClr val="FFFFFF"/>
          </a:solidFill>
          <a:ln>
            <a:solidFill>
              <a:srgbClr val="DCE6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51560" y="3858768"/>
            <a:ext cx="658368" cy="658368"/>
          </a:xfrm>
          <a:prstGeom prst="ellipse">
            <a:avLst/>
          </a:prstGeom>
          <a:solidFill>
            <a:srgbClr val="35A674"/>
          </a:solidFill>
          <a:ln w="19050">
            <a:solidFill>
              <a:srgbClr val="35A6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51560" y="3941064"/>
            <a:ext cx="658368" cy="347472"/>
          </a:xfrm>
          <a:prstGeom prst="rect">
            <a:avLst/>
          </a:prstGeom>
          <a:noFill/>
        </p:spPr>
        <p:txBody>
          <a:bodyPr wrap="square" anchor="t">
            <a:spAutoFit/>
          </a:bodyPr>
          <a:lstStyle/>
          <a:p>
            <a:pPr algn="ctr"/>
            <a:r>
              <a:rPr sz="1400" b="1">
                <a:solidFill>
                  <a:srgbClr val="FFFFFF"/>
                </a:solidFill>
                <a:latin typeface="Aptos"/>
              </a:rPr>
              <a:t>✓</a:t>
            </a:r>
          </a:p>
        </p:txBody>
      </p:sp>
      <p:sp>
        <p:nvSpPr>
          <p:cNvPr id="26" name="TextBox 25"/>
          <p:cNvSpPr txBox="1"/>
          <p:nvPr/>
        </p:nvSpPr>
        <p:spPr>
          <a:xfrm>
            <a:off x="1892807" y="3858768"/>
            <a:ext cx="1920240" cy="320040"/>
          </a:xfrm>
          <a:prstGeom prst="rect">
            <a:avLst/>
          </a:prstGeom>
          <a:noFill/>
        </p:spPr>
        <p:txBody>
          <a:bodyPr wrap="square" anchor="t">
            <a:spAutoFit/>
          </a:bodyPr>
          <a:lstStyle/>
          <a:p>
            <a:pPr algn="l"/>
            <a:r>
              <a:rPr sz="1800" b="1">
                <a:solidFill>
                  <a:srgbClr val="192A43"/>
                </a:solidFill>
                <a:latin typeface="Aptos"/>
              </a:rPr>
              <a:t>Evaluación</a:t>
            </a:r>
          </a:p>
        </p:txBody>
      </p:sp>
      <p:sp>
        <p:nvSpPr>
          <p:cNvPr id="27" name="TextBox 26"/>
          <p:cNvSpPr txBox="1"/>
          <p:nvPr/>
        </p:nvSpPr>
        <p:spPr>
          <a:xfrm>
            <a:off x="1892807" y="4325112"/>
            <a:ext cx="1920240" cy="603504"/>
          </a:xfrm>
          <a:prstGeom prst="rect">
            <a:avLst/>
          </a:prstGeom>
          <a:noFill/>
        </p:spPr>
        <p:txBody>
          <a:bodyPr wrap="square" anchor="t">
            <a:spAutoFit/>
          </a:bodyPr>
          <a:lstStyle/>
          <a:p>
            <a:pPr algn="l"/>
            <a:r>
              <a:rPr sz="1300" b="0">
                <a:solidFill>
                  <a:srgbClr val="58697F"/>
                </a:solidFill>
                <a:latin typeface="Aptos"/>
              </a:rPr>
              <a:t>Contrasta evidencias con la rúbrica</a:t>
            </a:r>
          </a:p>
        </p:txBody>
      </p:sp>
      <p:sp>
        <p:nvSpPr>
          <p:cNvPr id="28" name="Rounded Rectangle 27"/>
          <p:cNvSpPr/>
          <p:nvPr/>
        </p:nvSpPr>
        <p:spPr>
          <a:xfrm>
            <a:off x="4572000" y="3566160"/>
            <a:ext cx="3401568" cy="1719072"/>
          </a:xfrm>
          <a:prstGeom prst="roundRect">
            <a:avLst/>
          </a:prstGeom>
          <a:solidFill>
            <a:srgbClr val="FFFFFF"/>
          </a:solidFill>
          <a:ln>
            <a:solidFill>
              <a:srgbClr val="DCE6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4846320" y="3858768"/>
            <a:ext cx="658368" cy="658368"/>
          </a:xfrm>
          <a:prstGeom prst="ellipse">
            <a:avLst/>
          </a:prstGeom>
          <a:solidFill>
            <a:srgbClr val="164391"/>
          </a:solidFill>
          <a:ln w="19050">
            <a:solidFill>
              <a:srgbClr val="16439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846320" y="3941064"/>
            <a:ext cx="658368" cy="347472"/>
          </a:xfrm>
          <a:prstGeom prst="rect">
            <a:avLst/>
          </a:prstGeom>
          <a:noFill/>
        </p:spPr>
        <p:txBody>
          <a:bodyPr wrap="square" anchor="t">
            <a:spAutoFit/>
          </a:bodyPr>
          <a:lstStyle/>
          <a:p>
            <a:pPr algn="ctr"/>
            <a:r>
              <a:rPr sz="1400" b="1">
                <a:solidFill>
                  <a:srgbClr val="FFFFFF"/>
                </a:solidFill>
                <a:latin typeface="Aptos"/>
              </a:rPr>
              <a:t>A+</a:t>
            </a:r>
          </a:p>
        </p:txBody>
      </p:sp>
      <p:sp>
        <p:nvSpPr>
          <p:cNvPr id="31" name="TextBox 30"/>
          <p:cNvSpPr txBox="1"/>
          <p:nvPr/>
        </p:nvSpPr>
        <p:spPr>
          <a:xfrm>
            <a:off x="5687568" y="3858768"/>
            <a:ext cx="1920240" cy="320040"/>
          </a:xfrm>
          <a:prstGeom prst="rect">
            <a:avLst/>
          </a:prstGeom>
          <a:noFill/>
        </p:spPr>
        <p:txBody>
          <a:bodyPr wrap="square" anchor="t">
            <a:spAutoFit/>
          </a:bodyPr>
          <a:lstStyle/>
          <a:p>
            <a:pPr algn="l"/>
            <a:r>
              <a:rPr sz="1800" b="1">
                <a:solidFill>
                  <a:srgbClr val="192A43"/>
                </a:solidFill>
                <a:latin typeface="Aptos"/>
              </a:rPr>
              <a:t>Calificación</a:t>
            </a:r>
          </a:p>
        </p:txBody>
      </p:sp>
      <p:sp>
        <p:nvSpPr>
          <p:cNvPr id="32" name="TextBox 31"/>
          <p:cNvSpPr txBox="1"/>
          <p:nvPr/>
        </p:nvSpPr>
        <p:spPr>
          <a:xfrm>
            <a:off x="5687568" y="4325112"/>
            <a:ext cx="1920240" cy="603504"/>
          </a:xfrm>
          <a:prstGeom prst="rect">
            <a:avLst/>
          </a:prstGeom>
          <a:noFill/>
        </p:spPr>
        <p:txBody>
          <a:bodyPr wrap="square" anchor="t">
            <a:spAutoFit/>
          </a:bodyPr>
          <a:lstStyle/>
          <a:p>
            <a:pPr algn="l"/>
            <a:r>
              <a:rPr sz="1300" b="0">
                <a:solidFill>
                  <a:srgbClr val="58697F"/>
                </a:solidFill>
                <a:latin typeface="Aptos"/>
              </a:rPr>
              <a:t>Propone resultados justificados</a:t>
            </a:r>
          </a:p>
        </p:txBody>
      </p:sp>
      <p:sp>
        <p:nvSpPr>
          <p:cNvPr id="33" name="Rounded Rectangle 32"/>
          <p:cNvSpPr/>
          <p:nvPr/>
        </p:nvSpPr>
        <p:spPr>
          <a:xfrm>
            <a:off x="8366760" y="3566160"/>
            <a:ext cx="3401568" cy="1719072"/>
          </a:xfrm>
          <a:prstGeom prst="roundRect">
            <a:avLst/>
          </a:prstGeom>
          <a:solidFill>
            <a:srgbClr val="FFFFFF"/>
          </a:solidFill>
          <a:ln>
            <a:solidFill>
              <a:srgbClr val="DCE6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8641080" y="3858768"/>
            <a:ext cx="658368" cy="658368"/>
          </a:xfrm>
          <a:prstGeom prst="ellipse">
            <a:avLst/>
          </a:prstGeom>
          <a:solidFill>
            <a:srgbClr val="765BA6"/>
          </a:solidFill>
          <a:ln w="19050">
            <a:solidFill>
              <a:srgbClr val="765B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641080" y="3941064"/>
            <a:ext cx="658368" cy="347472"/>
          </a:xfrm>
          <a:prstGeom prst="rect">
            <a:avLst/>
          </a:prstGeom>
          <a:noFill/>
        </p:spPr>
        <p:txBody>
          <a:bodyPr wrap="square" anchor="t">
            <a:spAutoFit/>
          </a:bodyPr>
          <a:lstStyle/>
          <a:p>
            <a:pPr algn="ctr"/>
            <a:r>
              <a:rPr sz="1400" b="1">
                <a:solidFill>
                  <a:srgbClr val="FFFFFF"/>
                </a:solidFill>
                <a:latin typeface="Aptos"/>
              </a:rPr>
              <a:t>AI</a:t>
            </a:r>
          </a:p>
        </p:txBody>
      </p:sp>
      <p:sp>
        <p:nvSpPr>
          <p:cNvPr id="36" name="TextBox 35"/>
          <p:cNvSpPr txBox="1"/>
          <p:nvPr/>
        </p:nvSpPr>
        <p:spPr>
          <a:xfrm>
            <a:off x="9482328" y="3858768"/>
            <a:ext cx="1920240" cy="320040"/>
          </a:xfrm>
          <a:prstGeom prst="rect">
            <a:avLst/>
          </a:prstGeom>
          <a:noFill/>
        </p:spPr>
        <p:txBody>
          <a:bodyPr wrap="square" anchor="t">
            <a:spAutoFit/>
          </a:bodyPr>
          <a:lstStyle/>
          <a:p>
            <a:pPr algn="l"/>
            <a:r>
              <a:rPr sz="1800" b="1">
                <a:solidFill>
                  <a:srgbClr val="192A43"/>
                </a:solidFill>
                <a:latin typeface="Aptos"/>
              </a:rPr>
              <a:t>Feedback</a:t>
            </a:r>
          </a:p>
        </p:txBody>
      </p:sp>
      <p:sp>
        <p:nvSpPr>
          <p:cNvPr id="37" name="TextBox 36"/>
          <p:cNvSpPr txBox="1"/>
          <p:nvPr/>
        </p:nvSpPr>
        <p:spPr>
          <a:xfrm>
            <a:off x="9482328" y="4325112"/>
            <a:ext cx="1920240" cy="603504"/>
          </a:xfrm>
          <a:prstGeom prst="rect">
            <a:avLst/>
          </a:prstGeom>
          <a:noFill/>
        </p:spPr>
        <p:txBody>
          <a:bodyPr wrap="square" anchor="t">
            <a:spAutoFit/>
          </a:bodyPr>
          <a:lstStyle/>
          <a:p>
            <a:pPr algn="l"/>
            <a:r>
              <a:rPr sz="1300" b="0">
                <a:solidFill>
                  <a:srgbClr val="58697F"/>
                </a:solidFill>
                <a:latin typeface="Aptos"/>
              </a:rPr>
              <a:t>Orienta la mejora de cada estudiante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8FC"/>
          </a:solidFill>
          <a:ln>
            <a:solidFill>
              <a:srgbClr val="F4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4AD2E8"/>
          </a:solidFill>
          <a:ln>
            <a:solidFill>
              <a:srgbClr val="4AD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10896"/>
            <a:ext cx="640080" cy="411480"/>
          </a:xfrm>
          <a:prstGeom prst="rect">
            <a:avLst/>
          </a:prstGeom>
          <a:noFill/>
        </p:spPr>
        <p:txBody>
          <a:bodyPr wrap="square" anchor="t">
            <a:spAutoFit/>
          </a:bodyPr>
          <a:lstStyle/>
          <a:p>
            <a:pPr algn="l"/>
            <a:r>
              <a:rPr sz="1400" b="1">
                <a:solidFill>
                  <a:srgbClr val="1F4EA0"/>
                </a:solidFill>
                <a:latin typeface="Aptos"/>
              </a:rPr>
              <a:t>05</a:t>
            </a:r>
          </a:p>
        </p:txBody>
      </p:sp>
      <p:sp>
        <p:nvSpPr>
          <p:cNvPr id="5" name="TextBox 4"/>
          <p:cNvSpPr txBox="1"/>
          <p:nvPr/>
        </p:nvSpPr>
        <p:spPr>
          <a:xfrm>
            <a:off x="1143000" y="256032"/>
            <a:ext cx="10241280" cy="566928"/>
          </a:xfrm>
          <a:prstGeom prst="rect">
            <a:avLst/>
          </a:prstGeom>
          <a:noFill/>
        </p:spPr>
        <p:txBody>
          <a:bodyPr wrap="square" anchor="t">
            <a:spAutoFit/>
          </a:bodyPr>
          <a:lstStyle/>
          <a:p>
            <a:pPr algn="l"/>
            <a:r>
              <a:rPr sz="2800" b="1">
                <a:solidFill>
                  <a:srgbClr val="192A43"/>
                </a:solidFill>
                <a:latin typeface="Aptos"/>
              </a:rPr>
              <a:t>Así funciona el equipo de agentes</a:t>
            </a:r>
          </a:p>
        </p:txBody>
      </p:sp>
      <p:sp>
        <p:nvSpPr>
          <p:cNvPr id="6" name="TextBox 5"/>
          <p:cNvSpPr txBox="1"/>
          <p:nvPr/>
        </p:nvSpPr>
        <p:spPr>
          <a:xfrm>
            <a:off x="1143000" y="804672"/>
            <a:ext cx="10058400" cy="384048"/>
          </a:xfrm>
          <a:prstGeom prst="rect">
            <a:avLst/>
          </a:prstGeom>
          <a:noFill/>
        </p:spPr>
        <p:txBody>
          <a:bodyPr wrap="square" anchor="t">
            <a:spAutoFit/>
          </a:bodyPr>
          <a:lstStyle/>
          <a:p>
            <a:pPr algn="l"/>
            <a:r>
              <a:rPr sz="1300" b="0">
                <a:solidFill>
                  <a:srgbClr val="58697F"/>
                </a:solidFill>
                <a:latin typeface="Aptos"/>
              </a:rPr>
              <a:t>Cada especialista recibe evidencia y entrega un producto verificable</a:t>
            </a:r>
          </a:p>
        </p:txBody>
      </p:sp>
      <p:sp>
        <p:nvSpPr>
          <p:cNvPr id="7" name="TextBox 6"/>
          <p:cNvSpPr txBox="1"/>
          <p:nvPr/>
        </p:nvSpPr>
        <p:spPr>
          <a:xfrm>
            <a:off x="8823960" y="6510528"/>
            <a:ext cx="2788920" cy="201168"/>
          </a:xfrm>
          <a:prstGeom prst="rect">
            <a:avLst/>
          </a:prstGeom>
          <a:noFill/>
        </p:spPr>
        <p:txBody>
          <a:bodyPr wrap="square" anchor="t">
            <a:spAutoFit/>
          </a:bodyPr>
          <a:lstStyle/>
          <a:p>
            <a:pPr algn="r"/>
            <a:r>
              <a:rPr sz="900" b="0">
                <a:solidFill>
                  <a:srgbClr val="58697F"/>
                </a:solidFill>
                <a:latin typeface="Aptos"/>
              </a:rPr>
              <a:t>Taller · Rediseño académico con IA</a:t>
            </a:r>
          </a:p>
        </p:txBody>
      </p:sp>
      <p:sp>
        <p:nvSpPr>
          <p:cNvPr id="8" name="Oval 7"/>
          <p:cNvSpPr/>
          <p:nvPr/>
        </p:nvSpPr>
        <p:spPr>
          <a:xfrm>
            <a:off x="868680" y="1828800"/>
            <a:ext cx="914400" cy="914400"/>
          </a:xfrm>
          <a:prstGeom prst="ellipse">
            <a:avLst/>
          </a:prstGeom>
          <a:solidFill>
            <a:srgbClr val="4AD2E8"/>
          </a:solidFill>
          <a:ln w="19050">
            <a:solidFill>
              <a:srgbClr val="4AD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975104"/>
            <a:ext cx="914400" cy="438912"/>
          </a:xfrm>
          <a:prstGeom prst="rect">
            <a:avLst/>
          </a:prstGeom>
          <a:noFill/>
        </p:spPr>
        <p:txBody>
          <a:bodyPr wrap="square" anchor="t">
            <a:spAutoFit/>
          </a:bodyPr>
          <a:lstStyle/>
          <a:p>
            <a:pPr algn="ctr"/>
            <a:r>
              <a:rPr sz="2000" b="1">
                <a:solidFill>
                  <a:srgbClr val="FFFFFF"/>
                </a:solidFill>
                <a:latin typeface="Aptos"/>
              </a:rPr>
              <a:t>1</a:t>
            </a:r>
          </a:p>
        </p:txBody>
      </p:sp>
      <p:sp>
        <p:nvSpPr>
          <p:cNvPr id="10" name="TextBox 9"/>
          <p:cNvSpPr txBox="1"/>
          <p:nvPr/>
        </p:nvSpPr>
        <p:spPr>
          <a:xfrm>
            <a:off x="384048" y="2907792"/>
            <a:ext cx="1874519" cy="365760"/>
          </a:xfrm>
          <a:prstGeom prst="rect">
            <a:avLst/>
          </a:prstGeom>
          <a:noFill/>
        </p:spPr>
        <p:txBody>
          <a:bodyPr wrap="square" anchor="t">
            <a:spAutoFit/>
          </a:bodyPr>
          <a:lstStyle/>
          <a:p>
            <a:pPr algn="ctr"/>
            <a:r>
              <a:rPr sz="1400" b="1">
                <a:solidFill>
                  <a:srgbClr val="192A43"/>
                </a:solidFill>
                <a:latin typeface="Aptos"/>
              </a:rPr>
              <a:t>Diagnosticar</a:t>
            </a:r>
          </a:p>
        </p:txBody>
      </p:sp>
      <p:sp>
        <p:nvSpPr>
          <p:cNvPr id="11" name="TextBox 10"/>
          <p:cNvSpPr txBox="1"/>
          <p:nvPr/>
        </p:nvSpPr>
        <p:spPr>
          <a:xfrm>
            <a:off x="1984248" y="2066543"/>
            <a:ext cx="384048" cy="320040"/>
          </a:xfrm>
          <a:prstGeom prst="rect">
            <a:avLst/>
          </a:prstGeom>
          <a:noFill/>
        </p:spPr>
        <p:txBody>
          <a:bodyPr wrap="square" anchor="t">
            <a:spAutoFit/>
          </a:bodyPr>
          <a:lstStyle/>
          <a:p>
            <a:pPr algn="ctr"/>
            <a:r>
              <a:rPr sz="2100" b="1">
                <a:solidFill>
                  <a:srgbClr val="58697F"/>
                </a:solidFill>
                <a:latin typeface="Aptos"/>
              </a:rPr>
              <a:t>→</a:t>
            </a:r>
          </a:p>
        </p:txBody>
      </p:sp>
      <p:sp>
        <p:nvSpPr>
          <p:cNvPr id="12" name="Oval 11"/>
          <p:cNvSpPr/>
          <p:nvPr/>
        </p:nvSpPr>
        <p:spPr>
          <a:xfrm>
            <a:off x="2798063" y="1828800"/>
            <a:ext cx="914400" cy="914400"/>
          </a:xfrm>
          <a:prstGeom prst="ellipse">
            <a:avLst/>
          </a:prstGeom>
          <a:solidFill>
            <a:srgbClr val="1F4EA0"/>
          </a:solidFill>
          <a:ln w="19050">
            <a:solidFill>
              <a:srgbClr val="1F4E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98063" y="1975104"/>
            <a:ext cx="914400" cy="438912"/>
          </a:xfrm>
          <a:prstGeom prst="rect">
            <a:avLst/>
          </a:prstGeom>
          <a:noFill/>
        </p:spPr>
        <p:txBody>
          <a:bodyPr wrap="square" anchor="t">
            <a:spAutoFit/>
          </a:bodyPr>
          <a:lstStyle/>
          <a:p>
            <a:pPr algn="ctr"/>
            <a:r>
              <a:rPr sz="2000" b="1">
                <a:solidFill>
                  <a:srgbClr val="FFFFFF"/>
                </a:solidFill>
                <a:latin typeface="Aptos"/>
              </a:rPr>
              <a:t>2</a:t>
            </a:r>
          </a:p>
        </p:txBody>
      </p:sp>
      <p:sp>
        <p:nvSpPr>
          <p:cNvPr id="14" name="TextBox 13"/>
          <p:cNvSpPr txBox="1"/>
          <p:nvPr/>
        </p:nvSpPr>
        <p:spPr>
          <a:xfrm>
            <a:off x="2313432" y="2907792"/>
            <a:ext cx="1874519" cy="365760"/>
          </a:xfrm>
          <a:prstGeom prst="rect">
            <a:avLst/>
          </a:prstGeom>
          <a:noFill/>
        </p:spPr>
        <p:txBody>
          <a:bodyPr wrap="square" anchor="t">
            <a:spAutoFit/>
          </a:bodyPr>
          <a:lstStyle/>
          <a:p>
            <a:pPr algn="ctr"/>
            <a:r>
              <a:rPr sz="1400" b="1">
                <a:solidFill>
                  <a:srgbClr val="192A43"/>
                </a:solidFill>
                <a:latin typeface="Aptos"/>
              </a:rPr>
              <a:t>Investigar</a:t>
            </a:r>
          </a:p>
        </p:txBody>
      </p:sp>
      <p:sp>
        <p:nvSpPr>
          <p:cNvPr id="15" name="TextBox 14"/>
          <p:cNvSpPr txBox="1"/>
          <p:nvPr/>
        </p:nvSpPr>
        <p:spPr>
          <a:xfrm>
            <a:off x="3913631" y="2066543"/>
            <a:ext cx="384048" cy="320040"/>
          </a:xfrm>
          <a:prstGeom prst="rect">
            <a:avLst/>
          </a:prstGeom>
          <a:noFill/>
        </p:spPr>
        <p:txBody>
          <a:bodyPr wrap="square" anchor="t">
            <a:spAutoFit/>
          </a:bodyPr>
          <a:lstStyle/>
          <a:p>
            <a:pPr algn="ctr"/>
            <a:r>
              <a:rPr sz="2100" b="1">
                <a:solidFill>
                  <a:srgbClr val="58697F"/>
                </a:solidFill>
                <a:latin typeface="Aptos"/>
              </a:rPr>
              <a:t>→</a:t>
            </a:r>
          </a:p>
        </p:txBody>
      </p:sp>
      <p:sp>
        <p:nvSpPr>
          <p:cNvPr id="16" name="Oval 15"/>
          <p:cNvSpPr/>
          <p:nvPr/>
        </p:nvSpPr>
        <p:spPr>
          <a:xfrm>
            <a:off x="4727448" y="1828800"/>
            <a:ext cx="914400" cy="914400"/>
          </a:xfrm>
          <a:prstGeom prst="ellipse">
            <a:avLst/>
          </a:prstGeom>
          <a:solidFill>
            <a:srgbClr val="164391"/>
          </a:solidFill>
          <a:ln w="19050">
            <a:solidFill>
              <a:srgbClr val="16439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727448" y="1975104"/>
            <a:ext cx="914400" cy="438912"/>
          </a:xfrm>
          <a:prstGeom prst="rect">
            <a:avLst/>
          </a:prstGeom>
          <a:noFill/>
        </p:spPr>
        <p:txBody>
          <a:bodyPr wrap="square" anchor="t">
            <a:spAutoFit/>
          </a:bodyPr>
          <a:lstStyle/>
          <a:p>
            <a:pPr algn="ctr"/>
            <a:r>
              <a:rPr sz="2000" b="1">
                <a:solidFill>
                  <a:srgbClr val="FFFFFF"/>
                </a:solidFill>
                <a:latin typeface="Aptos"/>
              </a:rPr>
              <a:t>3</a:t>
            </a:r>
          </a:p>
        </p:txBody>
      </p:sp>
      <p:sp>
        <p:nvSpPr>
          <p:cNvPr id="18" name="TextBox 17"/>
          <p:cNvSpPr txBox="1"/>
          <p:nvPr/>
        </p:nvSpPr>
        <p:spPr>
          <a:xfrm>
            <a:off x="4242816" y="2907792"/>
            <a:ext cx="1874519" cy="365760"/>
          </a:xfrm>
          <a:prstGeom prst="rect">
            <a:avLst/>
          </a:prstGeom>
          <a:noFill/>
        </p:spPr>
        <p:txBody>
          <a:bodyPr wrap="square" anchor="t">
            <a:spAutoFit/>
          </a:bodyPr>
          <a:lstStyle/>
          <a:p>
            <a:pPr algn="ctr"/>
            <a:r>
              <a:rPr sz="1400" b="1">
                <a:solidFill>
                  <a:srgbClr val="192A43"/>
                </a:solidFill>
                <a:latin typeface="Aptos"/>
              </a:rPr>
              <a:t>Actualizar</a:t>
            </a:r>
          </a:p>
        </p:txBody>
      </p:sp>
      <p:sp>
        <p:nvSpPr>
          <p:cNvPr id="19" name="TextBox 18"/>
          <p:cNvSpPr txBox="1"/>
          <p:nvPr/>
        </p:nvSpPr>
        <p:spPr>
          <a:xfrm>
            <a:off x="5843016" y="2066543"/>
            <a:ext cx="384048" cy="320040"/>
          </a:xfrm>
          <a:prstGeom prst="rect">
            <a:avLst/>
          </a:prstGeom>
          <a:noFill/>
        </p:spPr>
        <p:txBody>
          <a:bodyPr wrap="square" anchor="t">
            <a:spAutoFit/>
          </a:bodyPr>
          <a:lstStyle/>
          <a:p>
            <a:pPr algn="ctr"/>
            <a:r>
              <a:rPr sz="2100" b="1">
                <a:solidFill>
                  <a:srgbClr val="58697F"/>
                </a:solidFill>
                <a:latin typeface="Aptos"/>
              </a:rPr>
              <a:t>→</a:t>
            </a:r>
          </a:p>
        </p:txBody>
      </p:sp>
      <p:sp>
        <p:nvSpPr>
          <p:cNvPr id="20" name="Oval 19"/>
          <p:cNvSpPr/>
          <p:nvPr/>
        </p:nvSpPr>
        <p:spPr>
          <a:xfrm>
            <a:off x="6656832" y="1828800"/>
            <a:ext cx="914400" cy="914400"/>
          </a:xfrm>
          <a:prstGeom prst="ellipse">
            <a:avLst/>
          </a:prstGeom>
          <a:solidFill>
            <a:srgbClr val="765BA6"/>
          </a:solidFill>
          <a:ln w="19050">
            <a:solidFill>
              <a:srgbClr val="765B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656832" y="1975104"/>
            <a:ext cx="914400" cy="438912"/>
          </a:xfrm>
          <a:prstGeom prst="rect">
            <a:avLst/>
          </a:prstGeom>
          <a:noFill/>
        </p:spPr>
        <p:txBody>
          <a:bodyPr wrap="square" anchor="t">
            <a:spAutoFit/>
          </a:bodyPr>
          <a:lstStyle/>
          <a:p>
            <a:pPr algn="ctr"/>
            <a:r>
              <a:rPr sz="2000" b="1">
                <a:solidFill>
                  <a:srgbClr val="FFFFFF"/>
                </a:solidFill>
                <a:latin typeface="Aptos"/>
              </a:rPr>
              <a:t>4</a:t>
            </a:r>
          </a:p>
        </p:txBody>
      </p:sp>
      <p:sp>
        <p:nvSpPr>
          <p:cNvPr id="22" name="TextBox 21"/>
          <p:cNvSpPr txBox="1"/>
          <p:nvPr/>
        </p:nvSpPr>
        <p:spPr>
          <a:xfrm>
            <a:off x="6172200" y="2907792"/>
            <a:ext cx="1874519" cy="365760"/>
          </a:xfrm>
          <a:prstGeom prst="rect">
            <a:avLst/>
          </a:prstGeom>
          <a:noFill/>
        </p:spPr>
        <p:txBody>
          <a:bodyPr wrap="square" anchor="t">
            <a:spAutoFit/>
          </a:bodyPr>
          <a:lstStyle/>
          <a:p>
            <a:pPr algn="ctr"/>
            <a:r>
              <a:rPr sz="1400" b="1">
                <a:solidFill>
                  <a:srgbClr val="192A43"/>
                </a:solidFill>
                <a:latin typeface="Aptos"/>
              </a:rPr>
              <a:t>Diseñar</a:t>
            </a:r>
          </a:p>
        </p:txBody>
      </p:sp>
      <p:sp>
        <p:nvSpPr>
          <p:cNvPr id="23" name="TextBox 22"/>
          <p:cNvSpPr txBox="1"/>
          <p:nvPr/>
        </p:nvSpPr>
        <p:spPr>
          <a:xfrm>
            <a:off x="7772400" y="2066543"/>
            <a:ext cx="384048" cy="320040"/>
          </a:xfrm>
          <a:prstGeom prst="rect">
            <a:avLst/>
          </a:prstGeom>
          <a:noFill/>
        </p:spPr>
        <p:txBody>
          <a:bodyPr wrap="square" anchor="t">
            <a:spAutoFit/>
          </a:bodyPr>
          <a:lstStyle/>
          <a:p>
            <a:pPr algn="ctr"/>
            <a:r>
              <a:rPr sz="2100" b="1">
                <a:solidFill>
                  <a:srgbClr val="58697F"/>
                </a:solidFill>
                <a:latin typeface="Aptos"/>
              </a:rPr>
              <a:t>→</a:t>
            </a:r>
          </a:p>
        </p:txBody>
      </p:sp>
      <p:sp>
        <p:nvSpPr>
          <p:cNvPr id="24" name="Oval 23"/>
          <p:cNvSpPr/>
          <p:nvPr/>
        </p:nvSpPr>
        <p:spPr>
          <a:xfrm>
            <a:off x="8586215" y="1828800"/>
            <a:ext cx="914400" cy="914400"/>
          </a:xfrm>
          <a:prstGeom prst="ellipse">
            <a:avLst/>
          </a:prstGeom>
          <a:solidFill>
            <a:srgbClr val="F2A13F"/>
          </a:solidFill>
          <a:ln w="19050">
            <a:solidFill>
              <a:srgbClr val="F2A13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586215" y="1975104"/>
            <a:ext cx="914400" cy="438912"/>
          </a:xfrm>
          <a:prstGeom prst="rect">
            <a:avLst/>
          </a:prstGeom>
          <a:noFill/>
        </p:spPr>
        <p:txBody>
          <a:bodyPr wrap="square" anchor="t">
            <a:spAutoFit/>
          </a:bodyPr>
          <a:lstStyle/>
          <a:p>
            <a:pPr algn="ctr"/>
            <a:r>
              <a:rPr sz="2000" b="1">
                <a:solidFill>
                  <a:srgbClr val="FFFFFF"/>
                </a:solidFill>
                <a:latin typeface="Aptos"/>
              </a:rPr>
              <a:t>5</a:t>
            </a:r>
          </a:p>
        </p:txBody>
      </p:sp>
      <p:sp>
        <p:nvSpPr>
          <p:cNvPr id="26" name="TextBox 25"/>
          <p:cNvSpPr txBox="1"/>
          <p:nvPr/>
        </p:nvSpPr>
        <p:spPr>
          <a:xfrm>
            <a:off x="8101583" y="2907792"/>
            <a:ext cx="1874519" cy="365760"/>
          </a:xfrm>
          <a:prstGeom prst="rect">
            <a:avLst/>
          </a:prstGeom>
          <a:noFill/>
        </p:spPr>
        <p:txBody>
          <a:bodyPr wrap="square" anchor="t">
            <a:spAutoFit/>
          </a:bodyPr>
          <a:lstStyle/>
          <a:p>
            <a:pPr algn="ctr"/>
            <a:r>
              <a:rPr sz="1400" b="1">
                <a:solidFill>
                  <a:srgbClr val="192A43"/>
                </a:solidFill>
                <a:latin typeface="Aptos"/>
              </a:rPr>
              <a:t>Calificar</a:t>
            </a:r>
          </a:p>
        </p:txBody>
      </p:sp>
      <p:sp>
        <p:nvSpPr>
          <p:cNvPr id="27" name="TextBox 26"/>
          <p:cNvSpPr txBox="1"/>
          <p:nvPr/>
        </p:nvSpPr>
        <p:spPr>
          <a:xfrm>
            <a:off x="9701784" y="2066543"/>
            <a:ext cx="384048" cy="320040"/>
          </a:xfrm>
          <a:prstGeom prst="rect">
            <a:avLst/>
          </a:prstGeom>
          <a:noFill/>
        </p:spPr>
        <p:txBody>
          <a:bodyPr wrap="square" anchor="t">
            <a:spAutoFit/>
          </a:bodyPr>
          <a:lstStyle/>
          <a:p>
            <a:pPr algn="ctr"/>
            <a:r>
              <a:rPr sz="2100" b="1">
                <a:solidFill>
                  <a:srgbClr val="58697F"/>
                </a:solidFill>
                <a:latin typeface="Aptos"/>
              </a:rPr>
              <a:t>→</a:t>
            </a:r>
          </a:p>
        </p:txBody>
      </p:sp>
      <p:sp>
        <p:nvSpPr>
          <p:cNvPr id="28" name="Oval 27"/>
          <p:cNvSpPr/>
          <p:nvPr/>
        </p:nvSpPr>
        <p:spPr>
          <a:xfrm>
            <a:off x="10515599" y="1828800"/>
            <a:ext cx="914400" cy="914400"/>
          </a:xfrm>
          <a:prstGeom prst="ellipse">
            <a:avLst/>
          </a:prstGeom>
          <a:solidFill>
            <a:srgbClr val="35A674"/>
          </a:solidFill>
          <a:ln w="19050">
            <a:solidFill>
              <a:srgbClr val="35A6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515599" y="1975104"/>
            <a:ext cx="914400" cy="438912"/>
          </a:xfrm>
          <a:prstGeom prst="rect">
            <a:avLst/>
          </a:prstGeom>
          <a:noFill/>
        </p:spPr>
        <p:txBody>
          <a:bodyPr wrap="square" anchor="t">
            <a:spAutoFit/>
          </a:bodyPr>
          <a:lstStyle/>
          <a:p>
            <a:pPr algn="ctr"/>
            <a:r>
              <a:rPr sz="2000" b="1">
                <a:solidFill>
                  <a:srgbClr val="FFFFFF"/>
                </a:solidFill>
                <a:latin typeface="Aptos"/>
              </a:rPr>
              <a:t>6</a:t>
            </a:r>
          </a:p>
        </p:txBody>
      </p:sp>
      <p:sp>
        <p:nvSpPr>
          <p:cNvPr id="30" name="TextBox 29"/>
          <p:cNvSpPr txBox="1"/>
          <p:nvPr/>
        </p:nvSpPr>
        <p:spPr>
          <a:xfrm>
            <a:off x="10030967" y="2907792"/>
            <a:ext cx="1874519" cy="365760"/>
          </a:xfrm>
          <a:prstGeom prst="rect">
            <a:avLst/>
          </a:prstGeom>
          <a:noFill/>
        </p:spPr>
        <p:txBody>
          <a:bodyPr wrap="square" anchor="t">
            <a:spAutoFit/>
          </a:bodyPr>
          <a:lstStyle/>
          <a:p>
            <a:pPr algn="ctr"/>
            <a:r>
              <a:rPr sz="1400" b="1">
                <a:solidFill>
                  <a:srgbClr val="192A43"/>
                </a:solidFill>
                <a:latin typeface="Aptos"/>
              </a:rPr>
              <a:t>Retroalimentar</a:t>
            </a:r>
          </a:p>
        </p:txBody>
      </p:sp>
      <p:sp>
        <p:nvSpPr>
          <p:cNvPr id="31" name="Rounded Rectangle 30"/>
          <p:cNvSpPr/>
          <p:nvPr/>
        </p:nvSpPr>
        <p:spPr>
          <a:xfrm>
            <a:off x="1051560" y="3977639"/>
            <a:ext cx="10058400" cy="1097280"/>
          </a:xfrm>
          <a:prstGeom prst="roundRect">
            <a:avLst/>
          </a:prstGeom>
          <a:solidFill>
            <a:srgbClr val="E3F7FB"/>
          </a:solidFill>
          <a:ln>
            <a:solidFill>
              <a:srgbClr val="E3F7F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417320" y="4224528"/>
            <a:ext cx="2423160" cy="274320"/>
          </a:xfrm>
          <a:prstGeom prst="rect">
            <a:avLst/>
          </a:prstGeom>
          <a:noFill/>
        </p:spPr>
        <p:txBody>
          <a:bodyPr wrap="square" anchor="t">
            <a:spAutoFit/>
          </a:bodyPr>
          <a:lstStyle/>
          <a:p>
            <a:pPr algn="l"/>
            <a:r>
              <a:rPr sz="1300" b="1">
                <a:solidFill>
                  <a:srgbClr val="1F4EA0"/>
                </a:solidFill>
                <a:latin typeface="Aptos"/>
              </a:rPr>
              <a:t>AGENTE COORDINADOR</a:t>
            </a:r>
          </a:p>
        </p:txBody>
      </p:sp>
      <p:sp>
        <p:nvSpPr>
          <p:cNvPr id="33" name="TextBox 32"/>
          <p:cNvSpPr txBox="1"/>
          <p:nvPr/>
        </p:nvSpPr>
        <p:spPr>
          <a:xfrm>
            <a:off x="3703320" y="4160520"/>
            <a:ext cx="6903720" cy="475488"/>
          </a:xfrm>
          <a:prstGeom prst="rect">
            <a:avLst/>
          </a:prstGeom>
          <a:noFill/>
        </p:spPr>
        <p:txBody>
          <a:bodyPr wrap="square" anchor="t">
            <a:spAutoFit/>
          </a:bodyPr>
          <a:lstStyle/>
          <a:p>
            <a:pPr algn="l"/>
            <a:r>
              <a:rPr sz="1800" b="1">
                <a:solidFill>
                  <a:srgbClr val="192A43"/>
                </a:solidFill>
                <a:latin typeface="Aptos"/>
              </a:rPr>
              <a:t>Conserva el contexto, verifica la alineación y solicita aprobación humana.</a:t>
            </a:r>
          </a:p>
        </p:txBody>
      </p:sp>
      <p:sp>
        <p:nvSpPr>
          <p:cNvPr id="34" name="TextBox 33"/>
          <p:cNvSpPr txBox="1"/>
          <p:nvPr/>
        </p:nvSpPr>
        <p:spPr>
          <a:xfrm>
            <a:off x="3703320" y="4626864"/>
            <a:ext cx="6583680" cy="274320"/>
          </a:xfrm>
          <a:prstGeom prst="rect">
            <a:avLst/>
          </a:prstGeom>
          <a:noFill/>
        </p:spPr>
        <p:txBody>
          <a:bodyPr wrap="square" anchor="t">
            <a:spAutoFit/>
          </a:bodyPr>
          <a:lstStyle/>
          <a:p>
            <a:pPr algn="l"/>
            <a:r>
              <a:rPr sz="1300" b="0">
                <a:solidFill>
                  <a:srgbClr val="58697F"/>
                </a:solidFill>
                <a:latin typeface="Aptos"/>
              </a:rPr>
              <a:t>El docente conserva la decisión final.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8FC"/>
          </a:solidFill>
          <a:ln>
            <a:solidFill>
              <a:srgbClr val="F4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4AD2E8"/>
          </a:solidFill>
          <a:ln>
            <a:solidFill>
              <a:srgbClr val="4AD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10896"/>
            <a:ext cx="640080" cy="411480"/>
          </a:xfrm>
          <a:prstGeom prst="rect">
            <a:avLst/>
          </a:prstGeom>
          <a:noFill/>
        </p:spPr>
        <p:txBody>
          <a:bodyPr wrap="square" anchor="t">
            <a:spAutoFit/>
          </a:bodyPr>
          <a:lstStyle/>
          <a:p>
            <a:pPr algn="l"/>
            <a:r>
              <a:rPr sz="1400" b="1">
                <a:solidFill>
                  <a:srgbClr val="1F4EA0"/>
                </a:solidFill>
                <a:latin typeface="Aptos"/>
              </a:rPr>
              <a:t>06</a:t>
            </a:r>
          </a:p>
        </p:txBody>
      </p:sp>
      <p:sp>
        <p:nvSpPr>
          <p:cNvPr id="5" name="TextBox 4"/>
          <p:cNvSpPr txBox="1"/>
          <p:nvPr/>
        </p:nvSpPr>
        <p:spPr>
          <a:xfrm>
            <a:off x="1143000" y="256032"/>
            <a:ext cx="10241280" cy="566928"/>
          </a:xfrm>
          <a:prstGeom prst="rect">
            <a:avLst/>
          </a:prstGeom>
          <a:noFill/>
        </p:spPr>
        <p:txBody>
          <a:bodyPr wrap="square" anchor="t">
            <a:spAutoFit/>
          </a:bodyPr>
          <a:lstStyle/>
          <a:p>
            <a:pPr algn="l"/>
            <a:r>
              <a:rPr sz="2800" b="1">
                <a:solidFill>
                  <a:srgbClr val="192A43"/>
                </a:solidFill>
                <a:latin typeface="Aptos"/>
              </a:rPr>
              <a:t>Los agentes obedecen a la pedagogía</a:t>
            </a:r>
          </a:p>
        </p:txBody>
      </p:sp>
      <p:sp>
        <p:nvSpPr>
          <p:cNvPr id="6" name="TextBox 5"/>
          <p:cNvSpPr txBox="1"/>
          <p:nvPr/>
        </p:nvSpPr>
        <p:spPr>
          <a:xfrm>
            <a:off x="1143000" y="804672"/>
            <a:ext cx="10058400" cy="384048"/>
          </a:xfrm>
          <a:prstGeom prst="rect">
            <a:avLst/>
          </a:prstGeom>
          <a:noFill/>
        </p:spPr>
        <p:txBody>
          <a:bodyPr wrap="square" anchor="t">
            <a:spAutoFit/>
          </a:bodyPr>
          <a:lstStyle/>
          <a:p>
            <a:pPr algn="l"/>
            <a:r>
              <a:rPr sz="1300" b="0">
                <a:solidFill>
                  <a:srgbClr val="58697F"/>
                </a:solidFill>
                <a:latin typeface="Aptos"/>
              </a:rPr>
              <a:t>La velocidad solo tiene valor cuando existe intención educativa</a:t>
            </a:r>
          </a:p>
        </p:txBody>
      </p:sp>
      <p:sp>
        <p:nvSpPr>
          <p:cNvPr id="7" name="TextBox 6"/>
          <p:cNvSpPr txBox="1"/>
          <p:nvPr/>
        </p:nvSpPr>
        <p:spPr>
          <a:xfrm>
            <a:off x="8823960" y="6510528"/>
            <a:ext cx="2788920" cy="201168"/>
          </a:xfrm>
          <a:prstGeom prst="rect">
            <a:avLst/>
          </a:prstGeom>
          <a:noFill/>
        </p:spPr>
        <p:txBody>
          <a:bodyPr wrap="square" anchor="t">
            <a:spAutoFit/>
          </a:bodyPr>
          <a:lstStyle/>
          <a:p>
            <a:pPr algn="r"/>
            <a:r>
              <a:rPr sz="900" b="0">
                <a:solidFill>
                  <a:srgbClr val="58697F"/>
                </a:solidFill>
                <a:latin typeface="Aptos"/>
              </a:rPr>
              <a:t>Taller · Rediseño académico con IA</a:t>
            </a:r>
          </a:p>
        </p:txBody>
      </p:sp>
      <p:sp>
        <p:nvSpPr>
          <p:cNvPr id="8" name="Rounded Rectangle 7"/>
          <p:cNvSpPr/>
          <p:nvPr/>
        </p:nvSpPr>
        <p:spPr>
          <a:xfrm>
            <a:off x="868680" y="1417320"/>
            <a:ext cx="4892040" cy="1691640"/>
          </a:xfrm>
          <a:prstGeom prst="roundRect">
            <a:avLst/>
          </a:prstGeom>
          <a:solidFill>
            <a:srgbClr val="FFFFFF"/>
          </a:solidFill>
          <a:ln>
            <a:solidFill>
              <a:srgbClr val="DCE6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68680" y="1417320"/>
            <a:ext cx="91440" cy="1691640"/>
          </a:xfrm>
          <a:prstGeom prst="roundRect">
            <a:avLst/>
          </a:prstGeom>
          <a:solidFill>
            <a:srgbClr val="1F4EA0"/>
          </a:solidFill>
          <a:ln>
            <a:solidFill>
              <a:srgbClr val="1F4E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24712" y="1673352"/>
            <a:ext cx="502920" cy="502920"/>
          </a:xfrm>
          <a:prstGeom prst="ellipse">
            <a:avLst/>
          </a:prstGeom>
          <a:solidFill>
            <a:srgbClr val="1F4EA0"/>
          </a:solidFill>
          <a:ln w="19050">
            <a:solidFill>
              <a:srgbClr val="1F4E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24712" y="1682496"/>
            <a:ext cx="502920" cy="475488"/>
          </a:xfrm>
          <a:prstGeom prst="rect">
            <a:avLst/>
          </a:prstGeom>
          <a:noFill/>
        </p:spPr>
        <p:txBody>
          <a:bodyPr wrap="square" anchor="ctr">
            <a:spAutoFit/>
          </a:bodyPr>
          <a:lstStyle/>
          <a:p>
            <a:pPr algn="ctr"/>
            <a:r>
              <a:rPr sz="1500" b="1">
                <a:solidFill>
                  <a:srgbClr val="FFFFFF"/>
                </a:solidFill>
                <a:latin typeface="Aptos"/>
              </a:rPr>
              <a:t>1</a:t>
            </a:r>
          </a:p>
        </p:txBody>
      </p:sp>
      <p:sp>
        <p:nvSpPr>
          <p:cNvPr id="12" name="TextBox 11"/>
          <p:cNvSpPr txBox="1"/>
          <p:nvPr/>
        </p:nvSpPr>
        <p:spPr>
          <a:xfrm>
            <a:off x="1783080" y="1673352"/>
            <a:ext cx="3749039" cy="347472"/>
          </a:xfrm>
          <a:prstGeom prst="rect">
            <a:avLst/>
          </a:prstGeom>
          <a:noFill/>
        </p:spPr>
        <p:txBody>
          <a:bodyPr wrap="square" anchor="t">
            <a:spAutoFit/>
          </a:bodyPr>
          <a:lstStyle/>
          <a:p>
            <a:pPr algn="l"/>
            <a:r>
              <a:rPr sz="1700" b="1">
                <a:solidFill>
                  <a:srgbClr val="192A43"/>
                </a:solidFill>
                <a:latin typeface="Aptos"/>
              </a:rPr>
              <a:t>Bloom</a:t>
            </a:r>
          </a:p>
        </p:txBody>
      </p:sp>
      <p:sp>
        <p:nvSpPr>
          <p:cNvPr id="13" name="TextBox 12"/>
          <p:cNvSpPr txBox="1"/>
          <p:nvPr/>
        </p:nvSpPr>
        <p:spPr>
          <a:xfrm>
            <a:off x="1783080" y="2130552"/>
            <a:ext cx="3749039" cy="777240"/>
          </a:xfrm>
          <a:prstGeom prst="rect">
            <a:avLst/>
          </a:prstGeom>
          <a:noFill/>
        </p:spPr>
        <p:txBody>
          <a:bodyPr wrap="square" anchor="t">
            <a:spAutoFit/>
          </a:bodyPr>
          <a:lstStyle/>
          <a:p>
            <a:pPr algn="l"/>
            <a:r>
              <a:rPr sz="1250" b="0">
                <a:solidFill>
                  <a:srgbClr val="58697F"/>
                </a:solidFill>
                <a:latin typeface="Aptos"/>
              </a:rPr>
              <a:t>Resultados observables: recordar, comprender, aplicar, analizar, evaluar y crear.</a:t>
            </a:r>
          </a:p>
        </p:txBody>
      </p:sp>
      <p:sp>
        <p:nvSpPr>
          <p:cNvPr id="14" name="Rounded Rectangle 13"/>
          <p:cNvSpPr/>
          <p:nvPr/>
        </p:nvSpPr>
        <p:spPr>
          <a:xfrm>
            <a:off x="6492240" y="1417320"/>
            <a:ext cx="4892040" cy="1691640"/>
          </a:xfrm>
          <a:prstGeom prst="roundRect">
            <a:avLst/>
          </a:prstGeom>
          <a:solidFill>
            <a:srgbClr val="FFFFFF"/>
          </a:solidFill>
          <a:ln>
            <a:solidFill>
              <a:srgbClr val="DCE6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492240" y="1417320"/>
            <a:ext cx="91440" cy="1691640"/>
          </a:xfrm>
          <a:prstGeom prst="roundRect">
            <a:avLst/>
          </a:prstGeom>
          <a:solidFill>
            <a:srgbClr val="4AD2E8"/>
          </a:solidFill>
          <a:ln>
            <a:solidFill>
              <a:srgbClr val="4AD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748272" y="1673352"/>
            <a:ext cx="502920" cy="502920"/>
          </a:xfrm>
          <a:prstGeom prst="ellipse">
            <a:avLst/>
          </a:prstGeom>
          <a:solidFill>
            <a:srgbClr val="4AD2E8"/>
          </a:solidFill>
          <a:ln w="19050">
            <a:solidFill>
              <a:srgbClr val="4AD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748272" y="1682496"/>
            <a:ext cx="502920" cy="475488"/>
          </a:xfrm>
          <a:prstGeom prst="rect">
            <a:avLst/>
          </a:prstGeom>
          <a:noFill/>
        </p:spPr>
        <p:txBody>
          <a:bodyPr wrap="square" anchor="ctr">
            <a:spAutoFit/>
          </a:bodyPr>
          <a:lstStyle/>
          <a:p>
            <a:pPr algn="ctr"/>
            <a:r>
              <a:rPr sz="1500" b="1">
                <a:solidFill>
                  <a:srgbClr val="FFFFFF"/>
                </a:solidFill>
                <a:latin typeface="Aptos"/>
              </a:rPr>
              <a:t>2</a:t>
            </a:r>
          </a:p>
        </p:txBody>
      </p:sp>
      <p:sp>
        <p:nvSpPr>
          <p:cNvPr id="18" name="TextBox 17"/>
          <p:cNvSpPr txBox="1"/>
          <p:nvPr/>
        </p:nvSpPr>
        <p:spPr>
          <a:xfrm>
            <a:off x="7406640" y="1673352"/>
            <a:ext cx="3749039" cy="347472"/>
          </a:xfrm>
          <a:prstGeom prst="rect">
            <a:avLst/>
          </a:prstGeom>
          <a:noFill/>
        </p:spPr>
        <p:txBody>
          <a:bodyPr wrap="square" anchor="t">
            <a:spAutoFit/>
          </a:bodyPr>
          <a:lstStyle/>
          <a:p>
            <a:pPr algn="l"/>
            <a:r>
              <a:rPr sz="1700" b="1">
                <a:solidFill>
                  <a:srgbClr val="192A43"/>
                </a:solidFill>
                <a:latin typeface="Aptos"/>
              </a:rPr>
              <a:t>Aula invertida</a:t>
            </a:r>
          </a:p>
        </p:txBody>
      </p:sp>
      <p:sp>
        <p:nvSpPr>
          <p:cNvPr id="19" name="TextBox 18"/>
          <p:cNvSpPr txBox="1"/>
          <p:nvPr/>
        </p:nvSpPr>
        <p:spPr>
          <a:xfrm>
            <a:off x="7406640" y="2130552"/>
            <a:ext cx="3749039" cy="777240"/>
          </a:xfrm>
          <a:prstGeom prst="rect">
            <a:avLst/>
          </a:prstGeom>
          <a:noFill/>
        </p:spPr>
        <p:txBody>
          <a:bodyPr wrap="square" anchor="t">
            <a:spAutoFit/>
          </a:bodyPr>
          <a:lstStyle/>
          <a:p>
            <a:pPr algn="l"/>
            <a:r>
              <a:rPr sz="1250" b="0">
                <a:solidFill>
                  <a:srgbClr val="58697F"/>
                </a:solidFill>
                <a:latin typeface="Aptos"/>
              </a:rPr>
              <a:t>Antes: explorar · Durante: aplicar · Después: consolidar y mejorar.</a:t>
            </a:r>
          </a:p>
        </p:txBody>
      </p:sp>
      <p:sp>
        <p:nvSpPr>
          <p:cNvPr id="20" name="Rounded Rectangle 19"/>
          <p:cNvSpPr/>
          <p:nvPr/>
        </p:nvSpPr>
        <p:spPr>
          <a:xfrm>
            <a:off x="868680" y="3566160"/>
            <a:ext cx="4892040" cy="1691640"/>
          </a:xfrm>
          <a:prstGeom prst="roundRect">
            <a:avLst/>
          </a:prstGeom>
          <a:solidFill>
            <a:srgbClr val="FFFFFF"/>
          </a:solidFill>
          <a:ln>
            <a:solidFill>
              <a:srgbClr val="DCE6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868680" y="3566160"/>
            <a:ext cx="91440" cy="1691640"/>
          </a:xfrm>
          <a:prstGeom prst="roundRect">
            <a:avLst/>
          </a:prstGeom>
          <a:solidFill>
            <a:srgbClr val="F2A13F"/>
          </a:solidFill>
          <a:ln>
            <a:solidFill>
              <a:srgbClr val="F2A13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124712" y="3822192"/>
            <a:ext cx="502920" cy="502920"/>
          </a:xfrm>
          <a:prstGeom prst="ellipse">
            <a:avLst/>
          </a:prstGeom>
          <a:solidFill>
            <a:srgbClr val="F2A13F"/>
          </a:solidFill>
          <a:ln w="19050">
            <a:solidFill>
              <a:srgbClr val="F2A13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124712" y="3831336"/>
            <a:ext cx="502920" cy="475488"/>
          </a:xfrm>
          <a:prstGeom prst="rect">
            <a:avLst/>
          </a:prstGeom>
          <a:noFill/>
        </p:spPr>
        <p:txBody>
          <a:bodyPr wrap="square" anchor="ctr">
            <a:spAutoFit/>
          </a:bodyPr>
          <a:lstStyle/>
          <a:p>
            <a:pPr algn="ctr"/>
            <a:r>
              <a:rPr sz="1500" b="1">
                <a:solidFill>
                  <a:srgbClr val="FFFFFF"/>
                </a:solidFill>
                <a:latin typeface="Aptos"/>
              </a:rPr>
              <a:t>3</a:t>
            </a:r>
          </a:p>
        </p:txBody>
      </p:sp>
      <p:sp>
        <p:nvSpPr>
          <p:cNvPr id="24" name="TextBox 23"/>
          <p:cNvSpPr txBox="1"/>
          <p:nvPr/>
        </p:nvSpPr>
        <p:spPr>
          <a:xfrm>
            <a:off x="1783080" y="3822192"/>
            <a:ext cx="3749039" cy="347472"/>
          </a:xfrm>
          <a:prstGeom prst="rect">
            <a:avLst/>
          </a:prstGeom>
          <a:noFill/>
        </p:spPr>
        <p:txBody>
          <a:bodyPr wrap="square" anchor="t">
            <a:spAutoFit/>
          </a:bodyPr>
          <a:lstStyle/>
          <a:p>
            <a:pPr algn="l"/>
            <a:r>
              <a:rPr sz="1700" b="1">
                <a:solidFill>
                  <a:srgbClr val="192A43"/>
                </a:solidFill>
                <a:latin typeface="Aptos"/>
              </a:rPr>
              <a:t>Agile docente</a:t>
            </a:r>
          </a:p>
        </p:txBody>
      </p:sp>
      <p:sp>
        <p:nvSpPr>
          <p:cNvPr id="25" name="TextBox 24"/>
          <p:cNvSpPr txBox="1"/>
          <p:nvPr/>
        </p:nvSpPr>
        <p:spPr>
          <a:xfrm>
            <a:off x="1783080" y="4279392"/>
            <a:ext cx="3749039" cy="777240"/>
          </a:xfrm>
          <a:prstGeom prst="rect">
            <a:avLst/>
          </a:prstGeom>
          <a:noFill/>
        </p:spPr>
        <p:txBody>
          <a:bodyPr wrap="square" anchor="t">
            <a:spAutoFit/>
          </a:bodyPr>
          <a:lstStyle/>
          <a:p>
            <a:pPr algn="l"/>
            <a:r>
              <a:rPr sz="1250" b="0">
                <a:solidFill>
                  <a:srgbClr val="58697F"/>
                </a:solidFill>
                <a:latin typeface="Aptos"/>
              </a:rPr>
              <a:t>Ciclos cortos, producto verificable, revisión, retrospectiva y ajuste.</a:t>
            </a:r>
          </a:p>
        </p:txBody>
      </p:sp>
      <p:sp>
        <p:nvSpPr>
          <p:cNvPr id="26" name="Rounded Rectangle 25"/>
          <p:cNvSpPr/>
          <p:nvPr/>
        </p:nvSpPr>
        <p:spPr>
          <a:xfrm>
            <a:off x="6492240" y="3566160"/>
            <a:ext cx="4892040" cy="1691640"/>
          </a:xfrm>
          <a:prstGeom prst="roundRect">
            <a:avLst/>
          </a:prstGeom>
          <a:solidFill>
            <a:srgbClr val="FFFFFF"/>
          </a:solidFill>
          <a:ln>
            <a:solidFill>
              <a:srgbClr val="DCE6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492240" y="3566160"/>
            <a:ext cx="91440" cy="1691640"/>
          </a:xfrm>
          <a:prstGeom prst="roundRect">
            <a:avLst/>
          </a:prstGeom>
          <a:solidFill>
            <a:srgbClr val="35A674"/>
          </a:solidFill>
          <a:ln>
            <a:solidFill>
              <a:srgbClr val="35A6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6748272" y="3822192"/>
            <a:ext cx="502920" cy="502920"/>
          </a:xfrm>
          <a:prstGeom prst="ellipse">
            <a:avLst/>
          </a:prstGeom>
          <a:solidFill>
            <a:srgbClr val="35A674"/>
          </a:solidFill>
          <a:ln w="19050">
            <a:solidFill>
              <a:srgbClr val="35A6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748272" y="3831336"/>
            <a:ext cx="502920" cy="475488"/>
          </a:xfrm>
          <a:prstGeom prst="rect">
            <a:avLst/>
          </a:prstGeom>
          <a:noFill/>
        </p:spPr>
        <p:txBody>
          <a:bodyPr wrap="square" anchor="ctr">
            <a:spAutoFit/>
          </a:bodyPr>
          <a:lstStyle/>
          <a:p>
            <a:pPr algn="ctr"/>
            <a:r>
              <a:rPr sz="1500" b="1">
                <a:solidFill>
                  <a:srgbClr val="FFFFFF"/>
                </a:solidFill>
                <a:latin typeface="Aptos"/>
              </a:rPr>
              <a:t>4</a:t>
            </a:r>
          </a:p>
        </p:txBody>
      </p:sp>
      <p:sp>
        <p:nvSpPr>
          <p:cNvPr id="30" name="TextBox 29"/>
          <p:cNvSpPr txBox="1"/>
          <p:nvPr/>
        </p:nvSpPr>
        <p:spPr>
          <a:xfrm>
            <a:off x="7406640" y="3822192"/>
            <a:ext cx="3749039" cy="347472"/>
          </a:xfrm>
          <a:prstGeom prst="rect">
            <a:avLst/>
          </a:prstGeom>
          <a:noFill/>
        </p:spPr>
        <p:txBody>
          <a:bodyPr wrap="square" anchor="t">
            <a:spAutoFit/>
          </a:bodyPr>
          <a:lstStyle/>
          <a:p>
            <a:pPr algn="l"/>
            <a:r>
              <a:rPr sz="1700" b="1">
                <a:solidFill>
                  <a:srgbClr val="192A43"/>
                </a:solidFill>
                <a:latin typeface="Aptos"/>
              </a:rPr>
              <a:t>IA educativa</a:t>
            </a:r>
          </a:p>
        </p:txBody>
      </p:sp>
      <p:sp>
        <p:nvSpPr>
          <p:cNvPr id="31" name="TextBox 30"/>
          <p:cNvSpPr txBox="1"/>
          <p:nvPr/>
        </p:nvSpPr>
        <p:spPr>
          <a:xfrm>
            <a:off x="7406640" y="4279392"/>
            <a:ext cx="3749039" cy="777240"/>
          </a:xfrm>
          <a:prstGeom prst="rect">
            <a:avLst/>
          </a:prstGeom>
          <a:noFill/>
        </p:spPr>
        <p:txBody>
          <a:bodyPr wrap="square" anchor="t">
            <a:spAutoFit/>
          </a:bodyPr>
          <a:lstStyle/>
          <a:p>
            <a:pPr algn="l"/>
            <a:r>
              <a:rPr sz="1250" b="0">
                <a:solidFill>
                  <a:srgbClr val="58697F"/>
                </a:solidFill>
                <a:latin typeface="Aptos"/>
              </a:rPr>
              <a:t>Propósito explícito, verificación, transparencia y supervisión humana.</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8FC"/>
          </a:solidFill>
          <a:ln>
            <a:solidFill>
              <a:srgbClr val="F4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4AD2E8"/>
          </a:solidFill>
          <a:ln>
            <a:solidFill>
              <a:srgbClr val="4AD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10896"/>
            <a:ext cx="640080" cy="411480"/>
          </a:xfrm>
          <a:prstGeom prst="rect">
            <a:avLst/>
          </a:prstGeom>
          <a:noFill/>
        </p:spPr>
        <p:txBody>
          <a:bodyPr wrap="square" anchor="t">
            <a:spAutoFit/>
          </a:bodyPr>
          <a:lstStyle/>
          <a:p>
            <a:pPr algn="l"/>
            <a:r>
              <a:rPr sz="1400" b="1">
                <a:solidFill>
                  <a:srgbClr val="1F4EA0"/>
                </a:solidFill>
                <a:latin typeface="Aptos"/>
              </a:rPr>
              <a:t>07</a:t>
            </a:r>
          </a:p>
        </p:txBody>
      </p:sp>
      <p:sp>
        <p:nvSpPr>
          <p:cNvPr id="5" name="TextBox 4"/>
          <p:cNvSpPr txBox="1"/>
          <p:nvPr/>
        </p:nvSpPr>
        <p:spPr>
          <a:xfrm>
            <a:off x="1143000" y="256032"/>
            <a:ext cx="10241280" cy="566928"/>
          </a:xfrm>
          <a:prstGeom prst="rect">
            <a:avLst/>
          </a:prstGeom>
          <a:noFill/>
        </p:spPr>
        <p:txBody>
          <a:bodyPr wrap="square" anchor="t">
            <a:spAutoFit/>
          </a:bodyPr>
          <a:lstStyle/>
          <a:p>
            <a:pPr algn="l"/>
            <a:r>
              <a:rPr sz="2800" b="1">
                <a:solidFill>
                  <a:srgbClr val="192A43"/>
                </a:solidFill>
                <a:latin typeface="Aptos"/>
              </a:rPr>
              <a:t>El diagnóstico activa el primer agente</a:t>
            </a:r>
          </a:p>
        </p:txBody>
      </p:sp>
      <p:sp>
        <p:nvSpPr>
          <p:cNvPr id="6" name="TextBox 5"/>
          <p:cNvSpPr txBox="1"/>
          <p:nvPr/>
        </p:nvSpPr>
        <p:spPr>
          <a:xfrm>
            <a:off x="1143000" y="804672"/>
            <a:ext cx="10058400" cy="384048"/>
          </a:xfrm>
          <a:prstGeom prst="rect">
            <a:avLst/>
          </a:prstGeom>
          <a:noFill/>
        </p:spPr>
        <p:txBody>
          <a:bodyPr wrap="square" anchor="t">
            <a:spAutoFit/>
          </a:bodyPr>
          <a:lstStyle/>
          <a:p>
            <a:pPr algn="l"/>
            <a:r>
              <a:rPr sz="1300" b="0">
                <a:solidFill>
                  <a:srgbClr val="58697F"/>
                </a:solidFill>
                <a:latin typeface="Aptos"/>
              </a:rPr>
              <a:t>Diagnosticar para adaptar; no para castigar</a:t>
            </a:r>
          </a:p>
        </p:txBody>
      </p:sp>
      <p:sp>
        <p:nvSpPr>
          <p:cNvPr id="7" name="TextBox 6"/>
          <p:cNvSpPr txBox="1"/>
          <p:nvPr/>
        </p:nvSpPr>
        <p:spPr>
          <a:xfrm>
            <a:off x="8823960" y="6510528"/>
            <a:ext cx="2788920" cy="201168"/>
          </a:xfrm>
          <a:prstGeom prst="rect">
            <a:avLst/>
          </a:prstGeom>
          <a:noFill/>
        </p:spPr>
        <p:txBody>
          <a:bodyPr wrap="square" anchor="t">
            <a:spAutoFit/>
          </a:bodyPr>
          <a:lstStyle/>
          <a:p>
            <a:pPr algn="r"/>
            <a:r>
              <a:rPr sz="900" b="0">
                <a:solidFill>
                  <a:srgbClr val="58697F"/>
                </a:solidFill>
                <a:latin typeface="Aptos"/>
              </a:rPr>
              <a:t>Taller · Rediseño académico con IA</a:t>
            </a:r>
          </a:p>
        </p:txBody>
      </p:sp>
      <p:sp>
        <p:nvSpPr>
          <p:cNvPr id="8" name="TextBox 7"/>
          <p:cNvSpPr txBox="1"/>
          <p:nvPr/>
        </p:nvSpPr>
        <p:spPr>
          <a:xfrm>
            <a:off x="777240" y="1417320"/>
            <a:ext cx="4434840" cy="384048"/>
          </a:xfrm>
          <a:prstGeom prst="rect">
            <a:avLst/>
          </a:prstGeom>
          <a:noFill/>
        </p:spPr>
        <p:txBody>
          <a:bodyPr wrap="square" anchor="t">
            <a:spAutoFit/>
          </a:bodyPr>
          <a:lstStyle/>
          <a:p>
            <a:pPr algn="l"/>
            <a:r>
              <a:rPr sz="2200" b="1">
                <a:solidFill>
                  <a:srgbClr val="192A43"/>
                </a:solidFill>
                <a:latin typeface="Aptos"/>
              </a:rPr>
              <a:t>¿Qué necesitamos descubrir?</a:t>
            </a:r>
          </a:p>
        </p:txBody>
      </p:sp>
      <p:sp>
        <p:nvSpPr>
          <p:cNvPr id="9" name="TextBox 8"/>
          <p:cNvSpPr txBox="1"/>
          <p:nvPr/>
        </p:nvSpPr>
        <p:spPr>
          <a:xfrm>
            <a:off x="822960" y="1938528"/>
            <a:ext cx="4617720" cy="2514600"/>
          </a:xfrm>
          <a:prstGeom prst="rect">
            <a:avLst/>
          </a:prstGeom>
          <a:noFill/>
        </p:spPr>
        <p:txBody>
          <a:bodyPr wrap="square">
            <a:spAutoFit/>
          </a:bodyPr>
          <a:lstStyle/>
          <a:p>
            <a:pPr>
              <a:spcAft>
                <a:spcPts val="1200"/>
              </a:spcAft>
              <a:defRPr sz="1700">
                <a:solidFill>
                  <a:srgbClr val="192A43"/>
                </a:solidFill>
                <a:latin typeface="Aptos"/>
              </a:defRPr>
            </a:pPr>
            <a:r>
              <a:t>•  Conocimientos y habilidades previas</a:t>
            </a:r>
          </a:p>
          <a:p>
            <a:pPr>
              <a:spcAft>
                <a:spcPts val="1200"/>
              </a:spcAft>
              <a:defRPr sz="1700">
                <a:solidFill>
                  <a:srgbClr val="192A43"/>
                </a:solidFill>
                <a:latin typeface="Aptos"/>
              </a:defRPr>
            </a:pPr>
            <a:r>
              <a:t>•  Conceptos erróneos o vacíos</a:t>
            </a:r>
          </a:p>
          <a:p>
            <a:pPr>
              <a:spcAft>
                <a:spcPts val="1200"/>
              </a:spcAft>
              <a:defRPr sz="1700">
                <a:solidFill>
                  <a:srgbClr val="192A43"/>
                </a:solidFill>
                <a:latin typeface="Aptos"/>
              </a:defRPr>
            </a:pPr>
            <a:r>
              <a:t>•  Nivel inicial según Bloom</a:t>
            </a:r>
          </a:p>
          <a:p>
            <a:pPr>
              <a:spcAft>
                <a:spcPts val="1200"/>
              </a:spcAft>
              <a:defRPr sz="1700">
                <a:solidFill>
                  <a:srgbClr val="192A43"/>
                </a:solidFill>
                <a:latin typeface="Aptos"/>
              </a:defRPr>
            </a:pPr>
            <a:r>
              <a:t>•  Necesidades de apoyo y agrupamiento</a:t>
            </a:r>
          </a:p>
        </p:txBody>
      </p:sp>
      <p:sp>
        <p:nvSpPr>
          <p:cNvPr id="10" name="Rounded Rectangle 9"/>
          <p:cNvSpPr/>
          <p:nvPr/>
        </p:nvSpPr>
        <p:spPr>
          <a:xfrm>
            <a:off x="5806440" y="1371600"/>
            <a:ext cx="5440680" cy="4206240"/>
          </a:xfrm>
          <a:prstGeom prst="roundRect">
            <a:avLst/>
          </a:prstGeom>
          <a:solidFill>
            <a:srgbClr val="FFFFFF"/>
          </a:solidFill>
          <a:ln>
            <a:solidFill>
              <a:srgbClr val="DCE6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199632" y="1737360"/>
            <a:ext cx="4663440" cy="256032"/>
          </a:xfrm>
          <a:prstGeom prst="rect">
            <a:avLst/>
          </a:prstGeom>
          <a:noFill/>
        </p:spPr>
        <p:txBody>
          <a:bodyPr wrap="square" anchor="t">
            <a:spAutoFit/>
          </a:bodyPr>
          <a:lstStyle/>
          <a:p>
            <a:pPr algn="l"/>
            <a:r>
              <a:rPr sz="1200" b="1">
                <a:solidFill>
                  <a:srgbClr val="1F4EA0"/>
                </a:solidFill>
                <a:latin typeface="Aptos"/>
              </a:rPr>
              <a:t>RESULTADO DEL DIAGNÓSTICO</a:t>
            </a:r>
          </a:p>
        </p:txBody>
      </p:sp>
      <p:sp>
        <p:nvSpPr>
          <p:cNvPr id="12" name="TextBox 11"/>
          <p:cNvSpPr txBox="1"/>
          <p:nvPr/>
        </p:nvSpPr>
        <p:spPr>
          <a:xfrm>
            <a:off x="6199632" y="2331720"/>
            <a:ext cx="1078992" cy="228600"/>
          </a:xfrm>
          <a:prstGeom prst="rect">
            <a:avLst/>
          </a:prstGeom>
          <a:noFill/>
        </p:spPr>
        <p:txBody>
          <a:bodyPr wrap="square" anchor="t">
            <a:spAutoFit/>
          </a:bodyPr>
          <a:lstStyle/>
          <a:p>
            <a:pPr algn="l"/>
            <a:r>
              <a:rPr sz="1200" b="0">
                <a:solidFill>
                  <a:srgbClr val="58697F"/>
                </a:solidFill>
                <a:latin typeface="Aptos"/>
              </a:rPr>
              <a:t>Recordar</a:t>
            </a:r>
          </a:p>
        </p:txBody>
      </p:sp>
      <p:sp>
        <p:nvSpPr>
          <p:cNvPr id="13" name="Rounded Rectangle 12"/>
          <p:cNvSpPr/>
          <p:nvPr/>
        </p:nvSpPr>
        <p:spPr>
          <a:xfrm>
            <a:off x="7406640" y="2350008"/>
            <a:ext cx="2999232" cy="201168"/>
          </a:xfrm>
          <a:prstGeom prst="roundRect">
            <a:avLst/>
          </a:prstGeom>
          <a:solidFill>
            <a:srgbClr val="E5EBF1"/>
          </a:solidFill>
          <a:ln>
            <a:solidFill>
              <a:srgbClr val="E5EB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7406640" y="2350008"/>
            <a:ext cx="2339400" cy="201168"/>
          </a:xfrm>
          <a:prstGeom prst="roundRect">
            <a:avLst/>
          </a:prstGeom>
          <a:solidFill>
            <a:srgbClr val="4AD2E8"/>
          </a:solidFill>
          <a:ln>
            <a:solidFill>
              <a:srgbClr val="4AD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497312" y="2322576"/>
            <a:ext cx="420624" cy="228600"/>
          </a:xfrm>
          <a:prstGeom prst="rect">
            <a:avLst/>
          </a:prstGeom>
          <a:noFill/>
        </p:spPr>
        <p:txBody>
          <a:bodyPr wrap="square" anchor="t">
            <a:spAutoFit/>
          </a:bodyPr>
          <a:lstStyle/>
          <a:p>
            <a:pPr algn="r"/>
            <a:r>
              <a:rPr sz="1100" b="1">
                <a:solidFill>
                  <a:srgbClr val="192A43"/>
                </a:solidFill>
                <a:latin typeface="Aptos"/>
              </a:rPr>
              <a:t>78%</a:t>
            </a:r>
          </a:p>
        </p:txBody>
      </p:sp>
      <p:sp>
        <p:nvSpPr>
          <p:cNvPr id="16" name="TextBox 15"/>
          <p:cNvSpPr txBox="1"/>
          <p:nvPr/>
        </p:nvSpPr>
        <p:spPr>
          <a:xfrm>
            <a:off x="6199632" y="3035808"/>
            <a:ext cx="1078992" cy="228600"/>
          </a:xfrm>
          <a:prstGeom prst="rect">
            <a:avLst/>
          </a:prstGeom>
          <a:noFill/>
        </p:spPr>
        <p:txBody>
          <a:bodyPr wrap="square" anchor="t">
            <a:spAutoFit/>
          </a:bodyPr>
          <a:lstStyle/>
          <a:p>
            <a:pPr algn="l"/>
            <a:r>
              <a:rPr sz="1200" b="0">
                <a:solidFill>
                  <a:srgbClr val="58697F"/>
                </a:solidFill>
                <a:latin typeface="Aptos"/>
              </a:rPr>
              <a:t>Comprender</a:t>
            </a:r>
          </a:p>
        </p:txBody>
      </p:sp>
      <p:sp>
        <p:nvSpPr>
          <p:cNvPr id="17" name="Rounded Rectangle 16"/>
          <p:cNvSpPr/>
          <p:nvPr/>
        </p:nvSpPr>
        <p:spPr>
          <a:xfrm>
            <a:off x="7406640" y="3054096"/>
            <a:ext cx="2999232" cy="201168"/>
          </a:xfrm>
          <a:prstGeom prst="roundRect">
            <a:avLst/>
          </a:prstGeom>
          <a:solidFill>
            <a:srgbClr val="E5EBF1"/>
          </a:solidFill>
          <a:ln>
            <a:solidFill>
              <a:srgbClr val="E5EB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7406640" y="3054096"/>
            <a:ext cx="1859523" cy="201168"/>
          </a:xfrm>
          <a:prstGeom prst="roundRect">
            <a:avLst/>
          </a:prstGeom>
          <a:solidFill>
            <a:srgbClr val="1F4EA0"/>
          </a:solidFill>
          <a:ln>
            <a:solidFill>
              <a:srgbClr val="1F4E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497312" y="3026664"/>
            <a:ext cx="420624" cy="228600"/>
          </a:xfrm>
          <a:prstGeom prst="rect">
            <a:avLst/>
          </a:prstGeom>
          <a:noFill/>
        </p:spPr>
        <p:txBody>
          <a:bodyPr wrap="square" anchor="t">
            <a:spAutoFit/>
          </a:bodyPr>
          <a:lstStyle/>
          <a:p>
            <a:pPr algn="r"/>
            <a:r>
              <a:rPr sz="1100" b="1">
                <a:solidFill>
                  <a:srgbClr val="192A43"/>
                </a:solidFill>
                <a:latin typeface="Aptos"/>
              </a:rPr>
              <a:t>62%</a:t>
            </a:r>
          </a:p>
        </p:txBody>
      </p:sp>
      <p:sp>
        <p:nvSpPr>
          <p:cNvPr id="20" name="TextBox 19"/>
          <p:cNvSpPr txBox="1"/>
          <p:nvPr/>
        </p:nvSpPr>
        <p:spPr>
          <a:xfrm>
            <a:off x="6199632" y="3739896"/>
            <a:ext cx="1078992" cy="228600"/>
          </a:xfrm>
          <a:prstGeom prst="rect">
            <a:avLst/>
          </a:prstGeom>
          <a:noFill/>
        </p:spPr>
        <p:txBody>
          <a:bodyPr wrap="square" anchor="t">
            <a:spAutoFit/>
          </a:bodyPr>
          <a:lstStyle/>
          <a:p>
            <a:pPr algn="l"/>
            <a:r>
              <a:rPr sz="1200" b="0">
                <a:solidFill>
                  <a:srgbClr val="58697F"/>
                </a:solidFill>
                <a:latin typeface="Aptos"/>
              </a:rPr>
              <a:t>Aplicar</a:t>
            </a:r>
          </a:p>
        </p:txBody>
      </p:sp>
      <p:sp>
        <p:nvSpPr>
          <p:cNvPr id="21" name="Rounded Rectangle 20"/>
          <p:cNvSpPr/>
          <p:nvPr/>
        </p:nvSpPr>
        <p:spPr>
          <a:xfrm>
            <a:off x="7406640" y="3758183"/>
            <a:ext cx="2999232" cy="201168"/>
          </a:xfrm>
          <a:prstGeom prst="roundRect">
            <a:avLst/>
          </a:prstGeom>
          <a:solidFill>
            <a:srgbClr val="E5EBF1"/>
          </a:solidFill>
          <a:ln>
            <a:solidFill>
              <a:srgbClr val="E5EB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406640" y="3758183"/>
            <a:ext cx="1349654" cy="201168"/>
          </a:xfrm>
          <a:prstGeom prst="roundRect">
            <a:avLst/>
          </a:prstGeom>
          <a:solidFill>
            <a:srgbClr val="F2A13F"/>
          </a:solidFill>
          <a:ln>
            <a:solidFill>
              <a:srgbClr val="F2A13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497312" y="3730752"/>
            <a:ext cx="420624" cy="228600"/>
          </a:xfrm>
          <a:prstGeom prst="rect">
            <a:avLst/>
          </a:prstGeom>
          <a:noFill/>
        </p:spPr>
        <p:txBody>
          <a:bodyPr wrap="square" anchor="t">
            <a:spAutoFit/>
          </a:bodyPr>
          <a:lstStyle/>
          <a:p>
            <a:pPr algn="r"/>
            <a:r>
              <a:rPr sz="1100" b="1">
                <a:solidFill>
                  <a:srgbClr val="192A43"/>
                </a:solidFill>
                <a:latin typeface="Aptos"/>
              </a:rPr>
              <a:t>45%</a:t>
            </a:r>
          </a:p>
        </p:txBody>
      </p:sp>
      <p:sp>
        <p:nvSpPr>
          <p:cNvPr id="24" name="TextBox 23"/>
          <p:cNvSpPr txBox="1"/>
          <p:nvPr/>
        </p:nvSpPr>
        <p:spPr>
          <a:xfrm>
            <a:off x="6199632" y="4443983"/>
            <a:ext cx="1078992" cy="228600"/>
          </a:xfrm>
          <a:prstGeom prst="rect">
            <a:avLst/>
          </a:prstGeom>
          <a:noFill/>
        </p:spPr>
        <p:txBody>
          <a:bodyPr wrap="square" anchor="t">
            <a:spAutoFit/>
          </a:bodyPr>
          <a:lstStyle/>
          <a:p>
            <a:pPr algn="l"/>
            <a:r>
              <a:rPr sz="1200" b="0">
                <a:solidFill>
                  <a:srgbClr val="58697F"/>
                </a:solidFill>
                <a:latin typeface="Aptos"/>
              </a:rPr>
              <a:t>Analizar</a:t>
            </a:r>
          </a:p>
        </p:txBody>
      </p:sp>
      <p:sp>
        <p:nvSpPr>
          <p:cNvPr id="25" name="Rounded Rectangle 24"/>
          <p:cNvSpPr/>
          <p:nvPr/>
        </p:nvSpPr>
        <p:spPr>
          <a:xfrm>
            <a:off x="7406640" y="4462271"/>
            <a:ext cx="2999232" cy="201168"/>
          </a:xfrm>
          <a:prstGeom prst="roundRect">
            <a:avLst/>
          </a:prstGeom>
          <a:solidFill>
            <a:srgbClr val="E5EBF1"/>
          </a:solidFill>
          <a:ln>
            <a:solidFill>
              <a:srgbClr val="E5EB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7406640" y="4462271"/>
            <a:ext cx="839784" cy="201168"/>
          </a:xfrm>
          <a:prstGeom prst="roundRect">
            <a:avLst/>
          </a:prstGeom>
          <a:solidFill>
            <a:srgbClr val="35A674"/>
          </a:solidFill>
          <a:ln>
            <a:solidFill>
              <a:srgbClr val="35A6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497312" y="4434840"/>
            <a:ext cx="420624" cy="228600"/>
          </a:xfrm>
          <a:prstGeom prst="rect">
            <a:avLst/>
          </a:prstGeom>
          <a:noFill/>
        </p:spPr>
        <p:txBody>
          <a:bodyPr wrap="square" anchor="t">
            <a:spAutoFit/>
          </a:bodyPr>
          <a:lstStyle/>
          <a:p>
            <a:pPr algn="r"/>
            <a:r>
              <a:rPr sz="1100" b="1">
                <a:solidFill>
                  <a:srgbClr val="192A43"/>
                </a:solidFill>
                <a:latin typeface="Aptos"/>
              </a:rPr>
              <a:t>28%</a:t>
            </a:r>
          </a:p>
        </p:txBody>
      </p:sp>
      <p:sp>
        <p:nvSpPr>
          <p:cNvPr id="28" name="TextBox 27"/>
          <p:cNvSpPr txBox="1"/>
          <p:nvPr/>
        </p:nvSpPr>
        <p:spPr>
          <a:xfrm>
            <a:off x="6199632" y="5047488"/>
            <a:ext cx="4535424" cy="320040"/>
          </a:xfrm>
          <a:prstGeom prst="rect">
            <a:avLst/>
          </a:prstGeom>
          <a:noFill/>
        </p:spPr>
        <p:txBody>
          <a:bodyPr wrap="square" anchor="t">
            <a:spAutoFit/>
          </a:bodyPr>
          <a:lstStyle/>
          <a:p>
            <a:pPr algn="l"/>
            <a:r>
              <a:rPr sz="1400" b="1">
                <a:solidFill>
                  <a:srgbClr val="192A43"/>
                </a:solidFill>
                <a:latin typeface="Aptos"/>
              </a:rPr>
              <a:t>Decisión docente: reforzar aplicación antes del primer reto.</a:t>
            </a:r>
          </a:p>
        </p:txBody>
      </p:sp>
      <p:sp>
        <p:nvSpPr>
          <p:cNvPr id="29" name="Rounded Rectangle 28"/>
          <p:cNvSpPr/>
          <p:nvPr/>
        </p:nvSpPr>
        <p:spPr>
          <a:xfrm>
            <a:off x="822960" y="4956048"/>
            <a:ext cx="4498848" cy="713232"/>
          </a:xfrm>
          <a:prstGeom prst="roundRect">
            <a:avLst/>
          </a:prstGeom>
          <a:solidFill>
            <a:srgbClr val="E3F7FB"/>
          </a:solidFill>
          <a:ln>
            <a:solidFill>
              <a:srgbClr val="E3F7F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115568" y="5184648"/>
            <a:ext cx="3913632" cy="256032"/>
          </a:xfrm>
          <a:prstGeom prst="rect">
            <a:avLst/>
          </a:prstGeom>
          <a:noFill/>
        </p:spPr>
        <p:txBody>
          <a:bodyPr wrap="square" anchor="t">
            <a:spAutoFit/>
          </a:bodyPr>
          <a:lstStyle/>
          <a:p>
            <a:pPr algn="ctr"/>
            <a:r>
              <a:rPr sz="1400" b="1">
                <a:solidFill>
                  <a:srgbClr val="1F4EA0"/>
                </a:solidFill>
                <a:latin typeface="Aptos"/>
              </a:rPr>
              <a:t>No se utiliza como calificación sumativa.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8FC"/>
          </a:solidFill>
          <a:ln>
            <a:solidFill>
              <a:srgbClr val="F4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4AD2E8"/>
          </a:solidFill>
          <a:ln>
            <a:solidFill>
              <a:srgbClr val="4AD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10896"/>
            <a:ext cx="640080" cy="411480"/>
          </a:xfrm>
          <a:prstGeom prst="rect">
            <a:avLst/>
          </a:prstGeom>
          <a:noFill/>
        </p:spPr>
        <p:txBody>
          <a:bodyPr wrap="square" anchor="t">
            <a:spAutoFit/>
          </a:bodyPr>
          <a:lstStyle/>
          <a:p>
            <a:pPr algn="l"/>
            <a:r>
              <a:rPr sz="1400" b="1">
                <a:solidFill>
                  <a:srgbClr val="1F4EA0"/>
                </a:solidFill>
                <a:latin typeface="Aptos"/>
              </a:rPr>
              <a:t>08</a:t>
            </a:r>
          </a:p>
        </p:txBody>
      </p:sp>
      <p:sp>
        <p:nvSpPr>
          <p:cNvPr id="5" name="TextBox 4"/>
          <p:cNvSpPr txBox="1"/>
          <p:nvPr/>
        </p:nvSpPr>
        <p:spPr>
          <a:xfrm>
            <a:off x="1143000" y="256032"/>
            <a:ext cx="10241280" cy="566928"/>
          </a:xfrm>
          <a:prstGeom prst="rect">
            <a:avLst/>
          </a:prstGeom>
          <a:noFill/>
        </p:spPr>
        <p:txBody>
          <a:bodyPr wrap="square" anchor="t">
            <a:spAutoFit/>
          </a:bodyPr>
          <a:lstStyle/>
          <a:p>
            <a:pPr algn="l"/>
            <a:r>
              <a:rPr sz="2800" b="1">
                <a:solidFill>
                  <a:srgbClr val="192A43"/>
                </a:solidFill>
                <a:latin typeface="Aptos"/>
              </a:rPr>
              <a:t>La IA acompaña todo el ciclo</a:t>
            </a:r>
          </a:p>
        </p:txBody>
      </p:sp>
      <p:sp>
        <p:nvSpPr>
          <p:cNvPr id="6" name="TextBox 5"/>
          <p:cNvSpPr txBox="1"/>
          <p:nvPr/>
        </p:nvSpPr>
        <p:spPr>
          <a:xfrm>
            <a:off x="1143000" y="804672"/>
            <a:ext cx="10058400" cy="384048"/>
          </a:xfrm>
          <a:prstGeom prst="rect">
            <a:avLst/>
          </a:prstGeom>
          <a:noFill/>
        </p:spPr>
        <p:txBody>
          <a:bodyPr wrap="square" anchor="t">
            <a:spAutoFit/>
          </a:bodyPr>
          <a:lstStyle/>
          <a:p>
            <a:pPr algn="l"/>
            <a:r>
              <a:rPr sz="1300" b="0">
                <a:solidFill>
                  <a:srgbClr val="58697F"/>
                </a:solidFill>
                <a:latin typeface="Aptos"/>
              </a:rPr>
              <a:t>El aula invertida libera el encuentro para aplicar, dialogar y crear</a:t>
            </a:r>
          </a:p>
        </p:txBody>
      </p:sp>
      <p:sp>
        <p:nvSpPr>
          <p:cNvPr id="7" name="TextBox 6"/>
          <p:cNvSpPr txBox="1"/>
          <p:nvPr/>
        </p:nvSpPr>
        <p:spPr>
          <a:xfrm>
            <a:off x="8823960" y="6510528"/>
            <a:ext cx="2788920" cy="201168"/>
          </a:xfrm>
          <a:prstGeom prst="rect">
            <a:avLst/>
          </a:prstGeom>
          <a:noFill/>
        </p:spPr>
        <p:txBody>
          <a:bodyPr wrap="square" anchor="t">
            <a:spAutoFit/>
          </a:bodyPr>
          <a:lstStyle/>
          <a:p>
            <a:pPr algn="r"/>
            <a:r>
              <a:rPr sz="900" b="0">
                <a:solidFill>
                  <a:srgbClr val="58697F"/>
                </a:solidFill>
                <a:latin typeface="Aptos"/>
              </a:rPr>
              <a:t>Taller · Rediseño académico con IA</a:t>
            </a:r>
          </a:p>
        </p:txBody>
      </p:sp>
      <p:sp>
        <p:nvSpPr>
          <p:cNvPr id="8" name="Rounded Rectangle 7"/>
          <p:cNvSpPr/>
          <p:nvPr/>
        </p:nvSpPr>
        <p:spPr>
          <a:xfrm>
            <a:off x="658368" y="1508760"/>
            <a:ext cx="3401568" cy="3584448"/>
          </a:xfrm>
          <a:prstGeom prst="roundRect">
            <a:avLst/>
          </a:prstGeom>
          <a:solidFill>
            <a:srgbClr val="FFFFFF"/>
          </a:solidFill>
          <a:ln>
            <a:solidFill>
              <a:srgbClr val="DCE6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58368" y="1508760"/>
            <a:ext cx="3401568" cy="566928"/>
          </a:xfrm>
          <a:prstGeom prst="roundRect">
            <a:avLst/>
          </a:prstGeom>
          <a:solidFill>
            <a:srgbClr val="4AD2E8"/>
          </a:solidFill>
          <a:ln>
            <a:solidFill>
              <a:srgbClr val="4AD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86968" y="1664208"/>
            <a:ext cx="2944368" cy="228600"/>
          </a:xfrm>
          <a:prstGeom prst="rect">
            <a:avLst/>
          </a:prstGeom>
          <a:noFill/>
        </p:spPr>
        <p:txBody>
          <a:bodyPr wrap="square" anchor="t">
            <a:spAutoFit/>
          </a:bodyPr>
          <a:lstStyle/>
          <a:p>
            <a:pPr algn="ctr"/>
            <a:r>
              <a:rPr sz="1300" b="1">
                <a:solidFill>
                  <a:srgbClr val="FFFFFF"/>
                </a:solidFill>
                <a:latin typeface="Aptos"/>
              </a:rPr>
              <a:t>ANTES</a:t>
            </a:r>
          </a:p>
        </p:txBody>
      </p:sp>
      <p:sp>
        <p:nvSpPr>
          <p:cNvPr id="11" name="TextBox 10"/>
          <p:cNvSpPr txBox="1"/>
          <p:nvPr/>
        </p:nvSpPr>
        <p:spPr>
          <a:xfrm>
            <a:off x="978407" y="2423160"/>
            <a:ext cx="2761488" cy="438912"/>
          </a:xfrm>
          <a:prstGeom prst="rect">
            <a:avLst/>
          </a:prstGeom>
          <a:noFill/>
        </p:spPr>
        <p:txBody>
          <a:bodyPr wrap="square" anchor="t">
            <a:spAutoFit/>
          </a:bodyPr>
          <a:lstStyle/>
          <a:p>
            <a:pPr algn="ctr"/>
            <a:r>
              <a:rPr sz="2300" b="1">
                <a:solidFill>
                  <a:srgbClr val="192A43"/>
                </a:solidFill>
                <a:latin typeface="Aptos"/>
              </a:rPr>
              <a:t>Explorar</a:t>
            </a:r>
          </a:p>
        </p:txBody>
      </p:sp>
      <p:sp>
        <p:nvSpPr>
          <p:cNvPr id="12" name="TextBox 11"/>
          <p:cNvSpPr txBox="1"/>
          <p:nvPr/>
        </p:nvSpPr>
        <p:spPr>
          <a:xfrm>
            <a:off x="1069848" y="3154680"/>
            <a:ext cx="2578608" cy="1024128"/>
          </a:xfrm>
          <a:prstGeom prst="rect">
            <a:avLst/>
          </a:prstGeom>
          <a:noFill/>
        </p:spPr>
        <p:txBody>
          <a:bodyPr wrap="square" anchor="t">
            <a:spAutoFit/>
          </a:bodyPr>
          <a:lstStyle/>
          <a:p>
            <a:pPr algn="ctr"/>
            <a:r>
              <a:rPr sz="1500" b="0">
                <a:solidFill>
                  <a:srgbClr val="58697F"/>
                </a:solidFill>
                <a:latin typeface="Aptos"/>
              </a:rPr>
              <a:t>Video breve, lectura guiada, tarjetas y diagnóstico.</a:t>
            </a:r>
          </a:p>
        </p:txBody>
      </p:sp>
      <p:sp>
        <p:nvSpPr>
          <p:cNvPr id="13" name="TextBox 12"/>
          <p:cNvSpPr txBox="1"/>
          <p:nvPr/>
        </p:nvSpPr>
        <p:spPr>
          <a:xfrm>
            <a:off x="4059936" y="2971800"/>
            <a:ext cx="457200" cy="365760"/>
          </a:xfrm>
          <a:prstGeom prst="rect">
            <a:avLst/>
          </a:prstGeom>
          <a:noFill/>
        </p:spPr>
        <p:txBody>
          <a:bodyPr wrap="square" anchor="t">
            <a:spAutoFit/>
          </a:bodyPr>
          <a:lstStyle/>
          <a:p>
            <a:pPr algn="ctr"/>
            <a:r>
              <a:rPr sz="2200" b="1">
                <a:solidFill>
                  <a:srgbClr val="1F4EA0"/>
                </a:solidFill>
                <a:latin typeface="Aptos"/>
              </a:rPr>
              <a:t>→</a:t>
            </a:r>
          </a:p>
        </p:txBody>
      </p:sp>
      <p:sp>
        <p:nvSpPr>
          <p:cNvPr id="14" name="Rounded Rectangle 13"/>
          <p:cNvSpPr/>
          <p:nvPr/>
        </p:nvSpPr>
        <p:spPr>
          <a:xfrm>
            <a:off x="4517136" y="1508760"/>
            <a:ext cx="3401568" cy="3584448"/>
          </a:xfrm>
          <a:prstGeom prst="roundRect">
            <a:avLst/>
          </a:prstGeom>
          <a:solidFill>
            <a:srgbClr val="FFFFFF"/>
          </a:solidFill>
          <a:ln>
            <a:solidFill>
              <a:srgbClr val="DCE6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4517136" y="1508760"/>
            <a:ext cx="3401568" cy="566928"/>
          </a:xfrm>
          <a:prstGeom prst="roundRect">
            <a:avLst/>
          </a:prstGeom>
          <a:solidFill>
            <a:srgbClr val="1F4EA0"/>
          </a:solidFill>
          <a:ln>
            <a:solidFill>
              <a:srgbClr val="1F4E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745736" y="1664208"/>
            <a:ext cx="2944368" cy="228600"/>
          </a:xfrm>
          <a:prstGeom prst="rect">
            <a:avLst/>
          </a:prstGeom>
          <a:noFill/>
        </p:spPr>
        <p:txBody>
          <a:bodyPr wrap="square" anchor="t">
            <a:spAutoFit/>
          </a:bodyPr>
          <a:lstStyle/>
          <a:p>
            <a:pPr algn="ctr"/>
            <a:r>
              <a:rPr sz="1300" b="1">
                <a:solidFill>
                  <a:srgbClr val="FFFFFF"/>
                </a:solidFill>
                <a:latin typeface="Aptos"/>
              </a:rPr>
              <a:t>DURANTE</a:t>
            </a:r>
          </a:p>
        </p:txBody>
      </p:sp>
      <p:sp>
        <p:nvSpPr>
          <p:cNvPr id="17" name="TextBox 16"/>
          <p:cNvSpPr txBox="1"/>
          <p:nvPr/>
        </p:nvSpPr>
        <p:spPr>
          <a:xfrm>
            <a:off x="4837175" y="2423160"/>
            <a:ext cx="2761488" cy="438912"/>
          </a:xfrm>
          <a:prstGeom prst="rect">
            <a:avLst/>
          </a:prstGeom>
          <a:noFill/>
        </p:spPr>
        <p:txBody>
          <a:bodyPr wrap="square" anchor="t">
            <a:spAutoFit/>
          </a:bodyPr>
          <a:lstStyle/>
          <a:p>
            <a:pPr algn="ctr"/>
            <a:r>
              <a:rPr sz="2300" b="1">
                <a:solidFill>
                  <a:srgbClr val="192A43"/>
                </a:solidFill>
                <a:latin typeface="Aptos"/>
              </a:rPr>
              <a:t>Aplicar</a:t>
            </a:r>
          </a:p>
        </p:txBody>
      </p:sp>
      <p:sp>
        <p:nvSpPr>
          <p:cNvPr id="18" name="TextBox 17"/>
          <p:cNvSpPr txBox="1"/>
          <p:nvPr/>
        </p:nvSpPr>
        <p:spPr>
          <a:xfrm>
            <a:off x="4928616" y="3154680"/>
            <a:ext cx="2578608" cy="1024128"/>
          </a:xfrm>
          <a:prstGeom prst="rect">
            <a:avLst/>
          </a:prstGeom>
          <a:noFill/>
        </p:spPr>
        <p:txBody>
          <a:bodyPr wrap="square" anchor="t">
            <a:spAutoFit/>
          </a:bodyPr>
          <a:lstStyle/>
          <a:p>
            <a:pPr algn="ctr"/>
            <a:r>
              <a:rPr sz="1500" b="0">
                <a:solidFill>
                  <a:srgbClr val="58697F"/>
                </a:solidFill>
                <a:latin typeface="Aptos"/>
              </a:rPr>
              <a:t>Casos, retos, colaboración y acompañamiento docente.</a:t>
            </a:r>
          </a:p>
        </p:txBody>
      </p:sp>
      <p:sp>
        <p:nvSpPr>
          <p:cNvPr id="19" name="TextBox 18"/>
          <p:cNvSpPr txBox="1"/>
          <p:nvPr/>
        </p:nvSpPr>
        <p:spPr>
          <a:xfrm>
            <a:off x="7918704" y="2971800"/>
            <a:ext cx="457200" cy="365760"/>
          </a:xfrm>
          <a:prstGeom prst="rect">
            <a:avLst/>
          </a:prstGeom>
          <a:noFill/>
        </p:spPr>
        <p:txBody>
          <a:bodyPr wrap="square" anchor="t">
            <a:spAutoFit/>
          </a:bodyPr>
          <a:lstStyle/>
          <a:p>
            <a:pPr algn="ctr"/>
            <a:r>
              <a:rPr sz="2200" b="1">
                <a:solidFill>
                  <a:srgbClr val="1F4EA0"/>
                </a:solidFill>
                <a:latin typeface="Aptos"/>
              </a:rPr>
              <a:t>→</a:t>
            </a:r>
          </a:p>
        </p:txBody>
      </p:sp>
      <p:sp>
        <p:nvSpPr>
          <p:cNvPr id="20" name="Rounded Rectangle 19"/>
          <p:cNvSpPr/>
          <p:nvPr/>
        </p:nvSpPr>
        <p:spPr>
          <a:xfrm>
            <a:off x="8375904" y="1508760"/>
            <a:ext cx="3401568" cy="3584448"/>
          </a:xfrm>
          <a:prstGeom prst="roundRect">
            <a:avLst/>
          </a:prstGeom>
          <a:solidFill>
            <a:srgbClr val="FFFFFF"/>
          </a:solidFill>
          <a:ln>
            <a:solidFill>
              <a:srgbClr val="DCE6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8375904" y="1508760"/>
            <a:ext cx="3401568" cy="566928"/>
          </a:xfrm>
          <a:prstGeom prst="roundRect">
            <a:avLst/>
          </a:prstGeom>
          <a:solidFill>
            <a:srgbClr val="35A674"/>
          </a:solidFill>
          <a:ln>
            <a:solidFill>
              <a:srgbClr val="35A6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604504" y="1664208"/>
            <a:ext cx="2944368" cy="228600"/>
          </a:xfrm>
          <a:prstGeom prst="rect">
            <a:avLst/>
          </a:prstGeom>
          <a:noFill/>
        </p:spPr>
        <p:txBody>
          <a:bodyPr wrap="square" anchor="t">
            <a:spAutoFit/>
          </a:bodyPr>
          <a:lstStyle/>
          <a:p>
            <a:pPr algn="ctr"/>
            <a:r>
              <a:rPr sz="1300" b="1">
                <a:solidFill>
                  <a:srgbClr val="FFFFFF"/>
                </a:solidFill>
                <a:latin typeface="Aptos"/>
              </a:rPr>
              <a:t>DESPUÉS</a:t>
            </a:r>
          </a:p>
        </p:txBody>
      </p:sp>
      <p:sp>
        <p:nvSpPr>
          <p:cNvPr id="23" name="TextBox 22"/>
          <p:cNvSpPr txBox="1"/>
          <p:nvPr/>
        </p:nvSpPr>
        <p:spPr>
          <a:xfrm>
            <a:off x="8695944" y="2423160"/>
            <a:ext cx="2761488" cy="438912"/>
          </a:xfrm>
          <a:prstGeom prst="rect">
            <a:avLst/>
          </a:prstGeom>
          <a:noFill/>
        </p:spPr>
        <p:txBody>
          <a:bodyPr wrap="square" anchor="t">
            <a:spAutoFit/>
          </a:bodyPr>
          <a:lstStyle/>
          <a:p>
            <a:pPr algn="ctr"/>
            <a:r>
              <a:rPr sz="2300" b="1">
                <a:solidFill>
                  <a:srgbClr val="192A43"/>
                </a:solidFill>
                <a:latin typeface="Aptos"/>
              </a:rPr>
              <a:t>Mejorar</a:t>
            </a:r>
          </a:p>
        </p:txBody>
      </p:sp>
      <p:sp>
        <p:nvSpPr>
          <p:cNvPr id="24" name="TextBox 23"/>
          <p:cNvSpPr txBox="1"/>
          <p:nvPr/>
        </p:nvSpPr>
        <p:spPr>
          <a:xfrm>
            <a:off x="8787384" y="3154680"/>
            <a:ext cx="2578608" cy="1024128"/>
          </a:xfrm>
          <a:prstGeom prst="rect">
            <a:avLst/>
          </a:prstGeom>
          <a:noFill/>
        </p:spPr>
        <p:txBody>
          <a:bodyPr wrap="square" anchor="t">
            <a:spAutoFit/>
          </a:bodyPr>
          <a:lstStyle/>
          <a:p>
            <a:pPr algn="ctr"/>
            <a:r>
              <a:rPr sz="1500" b="0">
                <a:solidFill>
                  <a:srgbClr val="58697F"/>
                </a:solidFill>
                <a:latin typeface="Aptos"/>
              </a:rPr>
              <a:t>Producto, reflexión, retroalimentación y nueva versión.</a:t>
            </a:r>
          </a:p>
        </p:txBody>
      </p:sp>
      <p:sp>
        <p:nvSpPr>
          <p:cNvPr id="25" name="TextBox 24"/>
          <p:cNvSpPr txBox="1"/>
          <p:nvPr/>
        </p:nvSpPr>
        <p:spPr>
          <a:xfrm>
            <a:off x="1188720" y="5650992"/>
            <a:ext cx="9829800" cy="411480"/>
          </a:xfrm>
          <a:prstGeom prst="rect">
            <a:avLst/>
          </a:prstGeom>
          <a:noFill/>
        </p:spPr>
        <p:txBody>
          <a:bodyPr wrap="square" anchor="t">
            <a:spAutoFit/>
          </a:bodyPr>
          <a:lstStyle/>
          <a:p>
            <a:pPr algn="ctr"/>
            <a:r>
              <a:rPr sz="1700" b="1">
                <a:solidFill>
                  <a:srgbClr val="1F4EA0"/>
                </a:solidFill>
                <a:latin typeface="Aptos"/>
              </a:rPr>
              <a:t>El estudiante llega preparado para trabajar; el docente observa, pregunta y retroalimenta.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8FC"/>
          </a:solidFill>
          <a:ln>
            <a:solidFill>
              <a:srgbClr val="F4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4AD2E8"/>
          </a:solidFill>
          <a:ln>
            <a:solidFill>
              <a:srgbClr val="4AD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10896"/>
            <a:ext cx="640080" cy="411480"/>
          </a:xfrm>
          <a:prstGeom prst="rect">
            <a:avLst/>
          </a:prstGeom>
          <a:noFill/>
        </p:spPr>
        <p:txBody>
          <a:bodyPr wrap="square" anchor="t">
            <a:spAutoFit/>
          </a:bodyPr>
          <a:lstStyle/>
          <a:p>
            <a:pPr algn="l"/>
            <a:r>
              <a:rPr sz="1400" b="1">
                <a:solidFill>
                  <a:srgbClr val="1F4EA0"/>
                </a:solidFill>
                <a:latin typeface="Aptos"/>
              </a:rPr>
              <a:t>09</a:t>
            </a:r>
          </a:p>
        </p:txBody>
      </p:sp>
      <p:sp>
        <p:nvSpPr>
          <p:cNvPr id="5" name="TextBox 4"/>
          <p:cNvSpPr txBox="1"/>
          <p:nvPr/>
        </p:nvSpPr>
        <p:spPr>
          <a:xfrm>
            <a:off x="1143000" y="256032"/>
            <a:ext cx="10241280" cy="566928"/>
          </a:xfrm>
          <a:prstGeom prst="rect">
            <a:avLst/>
          </a:prstGeom>
          <a:noFill/>
        </p:spPr>
        <p:txBody>
          <a:bodyPr wrap="square" anchor="t">
            <a:spAutoFit/>
          </a:bodyPr>
          <a:lstStyle/>
          <a:p>
            <a:pPr algn="l"/>
            <a:r>
              <a:rPr sz="2800" b="1">
                <a:solidFill>
                  <a:srgbClr val="192A43"/>
                </a:solidFill>
                <a:latin typeface="Aptos"/>
              </a:rPr>
              <a:t>Evaluar sin sofocarse</a:t>
            </a:r>
          </a:p>
        </p:txBody>
      </p:sp>
      <p:sp>
        <p:nvSpPr>
          <p:cNvPr id="6" name="TextBox 5"/>
          <p:cNvSpPr txBox="1"/>
          <p:nvPr/>
        </p:nvSpPr>
        <p:spPr>
          <a:xfrm>
            <a:off x="1143000" y="804672"/>
            <a:ext cx="10058400" cy="384048"/>
          </a:xfrm>
          <a:prstGeom prst="rect">
            <a:avLst/>
          </a:prstGeom>
          <a:noFill/>
        </p:spPr>
        <p:txBody>
          <a:bodyPr wrap="square" anchor="t">
            <a:spAutoFit/>
          </a:bodyPr>
          <a:lstStyle/>
          <a:p>
            <a:pPr algn="l"/>
            <a:r>
              <a:rPr sz="1300" b="0">
                <a:solidFill>
                  <a:srgbClr val="58697F"/>
                </a:solidFill>
                <a:latin typeface="Aptos"/>
              </a:rPr>
              <a:t>La IA organiza la evidencia; el docente interpreta y decide</a:t>
            </a:r>
          </a:p>
        </p:txBody>
      </p:sp>
      <p:sp>
        <p:nvSpPr>
          <p:cNvPr id="7" name="TextBox 6"/>
          <p:cNvSpPr txBox="1"/>
          <p:nvPr/>
        </p:nvSpPr>
        <p:spPr>
          <a:xfrm>
            <a:off x="8823960" y="6510528"/>
            <a:ext cx="2788920" cy="201168"/>
          </a:xfrm>
          <a:prstGeom prst="rect">
            <a:avLst/>
          </a:prstGeom>
          <a:noFill/>
        </p:spPr>
        <p:txBody>
          <a:bodyPr wrap="square" anchor="t">
            <a:spAutoFit/>
          </a:bodyPr>
          <a:lstStyle/>
          <a:p>
            <a:pPr algn="r"/>
            <a:r>
              <a:rPr sz="900" b="0">
                <a:solidFill>
                  <a:srgbClr val="58697F"/>
                </a:solidFill>
                <a:latin typeface="Aptos"/>
              </a:rPr>
              <a:t>Taller · Rediseño académico con IA</a:t>
            </a:r>
          </a:p>
        </p:txBody>
      </p:sp>
      <p:sp>
        <p:nvSpPr>
          <p:cNvPr id="8" name="Rounded Rectangle 7"/>
          <p:cNvSpPr/>
          <p:nvPr/>
        </p:nvSpPr>
        <p:spPr>
          <a:xfrm>
            <a:off x="566928" y="1481328"/>
            <a:ext cx="2267712" cy="1051560"/>
          </a:xfrm>
          <a:prstGeom prst="roundRect">
            <a:avLst/>
          </a:prstGeom>
          <a:solidFill>
            <a:srgbClr val="4AD2E8"/>
          </a:solidFill>
          <a:ln>
            <a:solidFill>
              <a:srgbClr val="4AD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04088" y="1828800"/>
            <a:ext cx="1993392" cy="310896"/>
          </a:xfrm>
          <a:prstGeom prst="rect">
            <a:avLst/>
          </a:prstGeom>
          <a:noFill/>
        </p:spPr>
        <p:txBody>
          <a:bodyPr wrap="square" anchor="t">
            <a:spAutoFit/>
          </a:bodyPr>
          <a:lstStyle/>
          <a:p>
            <a:pPr algn="ctr"/>
            <a:r>
              <a:rPr sz="1500" b="1">
                <a:solidFill>
                  <a:srgbClr val="FFFFFF"/>
                </a:solidFill>
                <a:latin typeface="Aptos"/>
              </a:rPr>
              <a:t>Diagnóstico</a:t>
            </a:r>
          </a:p>
        </p:txBody>
      </p:sp>
      <p:sp>
        <p:nvSpPr>
          <p:cNvPr id="10" name="TextBox 9"/>
          <p:cNvSpPr txBox="1"/>
          <p:nvPr/>
        </p:nvSpPr>
        <p:spPr>
          <a:xfrm>
            <a:off x="2880360" y="1847088"/>
            <a:ext cx="384048" cy="292608"/>
          </a:xfrm>
          <a:prstGeom prst="rect">
            <a:avLst/>
          </a:prstGeom>
          <a:noFill/>
        </p:spPr>
        <p:txBody>
          <a:bodyPr wrap="square" anchor="t">
            <a:spAutoFit/>
          </a:bodyPr>
          <a:lstStyle/>
          <a:p>
            <a:pPr algn="ctr"/>
            <a:r>
              <a:rPr sz="1800" b="1">
                <a:solidFill>
                  <a:srgbClr val="58697F"/>
                </a:solidFill>
                <a:latin typeface="Aptos"/>
              </a:rPr>
              <a:t>→</a:t>
            </a:r>
          </a:p>
        </p:txBody>
      </p:sp>
      <p:sp>
        <p:nvSpPr>
          <p:cNvPr id="11" name="Rounded Rectangle 10"/>
          <p:cNvSpPr/>
          <p:nvPr/>
        </p:nvSpPr>
        <p:spPr>
          <a:xfrm>
            <a:off x="3419856" y="1481328"/>
            <a:ext cx="2267712" cy="1051560"/>
          </a:xfrm>
          <a:prstGeom prst="roundRect">
            <a:avLst/>
          </a:prstGeom>
          <a:solidFill>
            <a:srgbClr val="1F4EA0"/>
          </a:solidFill>
          <a:ln>
            <a:solidFill>
              <a:srgbClr val="1F4E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557016" y="1828800"/>
            <a:ext cx="1993392" cy="310896"/>
          </a:xfrm>
          <a:prstGeom prst="rect">
            <a:avLst/>
          </a:prstGeom>
          <a:noFill/>
        </p:spPr>
        <p:txBody>
          <a:bodyPr wrap="square" anchor="t">
            <a:spAutoFit/>
          </a:bodyPr>
          <a:lstStyle/>
          <a:p>
            <a:pPr algn="ctr"/>
            <a:r>
              <a:rPr sz="1500" b="1">
                <a:solidFill>
                  <a:srgbClr val="FFFFFF"/>
                </a:solidFill>
                <a:latin typeface="Aptos"/>
              </a:rPr>
              <a:t>Competencia</a:t>
            </a:r>
          </a:p>
        </p:txBody>
      </p:sp>
      <p:sp>
        <p:nvSpPr>
          <p:cNvPr id="13" name="TextBox 12"/>
          <p:cNvSpPr txBox="1"/>
          <p:nvPr/>
        </p:nvSpPr>
        <p:spPr>
          <a:xfrm>
            <a:off x="5733288" y="1847088"/>
            <a:ext cx="384048" cy="292608"/>
          </a:xfrm>
          <a:prstGeom prst="rect">
            <a:avLst/>
          </a:prstGeom>
          <a:noFill/>
        </p:spPr>
        <p:txBody>
          <a:bodyPr wrap="square" anchor="t">
            <a:spAutoFit/>
          </a:bodyPr>
          <a:lstStyle/>
          <a:p>
            <a:pPr algn="ctr"/>
            <a:r>
              <a:rPr sz="1800" b="1">
                <a:solidFill>
                  <a:srgbClr val="58697F"/>
                </a:solidFill>
                <a:latin typeface="Aptos"/>
              </a:rPr>
              <a:t>→</a:t>
            </a:r>
          </a:p>
        </p:txBody>
      </p:sp>
      <p:sp>
        <p:nvSpPr>
          <p:cNvPr id="14" name="Rounded Rectangle 13"/>
          <p:cNvSpPr/>
          <p:nvPr/>
        </p:nvSpPr>
        <p:spPr>
          <a:xfrm>
            <a:off x="6272784" y="1481328"/>
            <a:ext cx="2267712" cy="1051560"/>
          </a:xfrm>
          <a:prstGeom prst="roundRect">
            <a:avLst/>
          </a:prstGeom>
          <a:solidFill>
            <a:srgbClr val="164391"/>
          </a:solidFill>
          <a:ln>
            <a:solidFill>
              <a:srgbClr val="16439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9944" y="1828800"/>
            <a:ext cx="1993392" cy="310896"/>
          </a:xfrm>
          <a:prstGeom prst="rect">
            <a:avLst/>
          </a:prstGeom>
          <a:noFill/>
        </p:spPr>
        <p:txBody>
          <a:bodyPr wrap="square" anchor="t">
            <a:spAutoFit/>
          </a:bodyPr>
          <a:lstStyle/>
          <a:p>
            <a:pPr algn="ctr"/>
            <a:r>
              <a:rPr sz="1500" b="1">
                <a:solidFill>
                  <a:srgbClr val="FFFFFF"/>
                </a:solidFill>
                <a:latin typeface="Aptos"/>
              </a:rPr>
              <a:t>Resultado</a:t>
            </a:r>
          </a:p>
        </p:txBody>
      </p:sp>
      <p:sp>
        <p:nvSpPr>
          <p:cNvPr id="16" name="TextBox 15"/>
          <p:cNvSpPr txBox="1"/>
          <p:nvPr/>
        </p:nvSpPr>
        <p:spPr>
          <a:xfrm>
            <a:off x="8586216" y="1847088"/>
            <a:ext cx="384048" cy="292608"/>
          </a:xfrm>
          <a:prstGeom prst="rect">
            <a:avLst/>
          </a:prstGeom>
          <a:noFill/>
        </p:spPr>
        <p:txBody>
          <a:bodyPr wrap="square" anchor="t">
            <a:spAutoFit/>
          </a:bodyPr>
          <a:lstStyle/>
          <a:p>
            <a:pPr algn="ctr"/>
            <a:r>
              <a:rPr sz="1800" b="1">
                <a:solidFill>
                  <a:srgbClr val="58697F"/>
                </a:solidFill>
                <a:latin typeface="Aptos"/>
              </a:rPr>
              <a:t>→</a:t>
            </a:r>
          </a:p>
        </p:txBody>
      </p:sp>
      <p:sp>
        <p:nvSpPr>
          <p:cNvPr id="17" name="Rounded Rectangle 16"/>
          <p:cNvSpPr/>
          <p:nvPr/>
        </p:nvSpPr>
        <p:spPr>
          <a:xfrm>
            <a:off x="9125711" y="1481328"/>
            <a:ext cx="2267712" cy="1051560"/>
          </a:xfrm>
          <a:prstGeom prst="roundRect">
            <a:avLst/>
          </a:prstGeom>
          <a:solidFill>
            <a:srgbClr val="765BA6"/>
          </a:solidFill>
          <a:ln>
            <a:solidFill>
              <a:srgbClr val="765B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262872" y="1828800"/>
            <a:ext cx="1993392" cy="310896"/>
          </a:xfrm>
          <a:prstGeom prst="rect">
            <a:avLst/>
          </a:prstGeom>
          <a:noFill/>
        </p:spPr>
        <p:txBody>
          <a:bodyPr wrap="square" anchor="t">
            <a:spAutoFit/>
          </a:bodyPr>
          <a:lstStyle/>
          <a:p>
            <a:pPr algn="ctr"/>
            <a:r>
              <a:rPr sz="1500" b="1">
                <a:solidFill>
                  <a:srgbClr val="FFFFFF"/>
                </a:solidFill>
                <a:latin typeface="Aptos"/>
              </a:rPr>
              <a:t>Bloom</a:t>
            </a:r>
          </a:p>
        </p:txBody>
      </p:sp>
      <p:sp>
        <p:nvSpPr>
          <p:cNvPr id="19" name="TextBox 18"/>
          <p:cNvSpPr txBox="1"/>
          <p:nvPr/>
        </p:nvSpPr>
        <p:spPr>
          <a:xfrm>
            <a:off x="10067543" y="2606040"/>
            <a:ext cx="384048" cy="292608"/>
          </a:xfrm>
          <a:prstGeom prst="rect">
            <a:avLst/>
          </a:prstGeom>
          <a:noFill/>
        </p:spPr>
        <p:txBody>
          <a:bodyPr wrap="square" anchor="t">
            <a:spAutoFit/>
          </a:bodyPr>
          <a:lstStyle/>
          <a:p>
            <a:pPr algn="ctr"/>
            <a:r>
              <a:rPr sz="1800" b="1">
                <a:solidFill>
                  <a:srgbClr val="58697F"/>
                </a:solidFill>
                <a:latin typeface="Aptos"/>
              </a:rPr>
              <a:t>↓</a:t>
            </a:r>
          </a:p>
        </p:txBody>
      </p:sp>
      <p:sp>
        <p:nvSpPr>
          <p:cNvPr id="20" name="Rounded Rectangle 19"/>
          <p:cNvSpPr/>
          <p:nvPr/>
        </p:nvSpPr>
        <p:spPr>
          <a:xfrm>
            <a:off x="566928" y="3355848"/>
            <a:ext cx="2267712" cy="1051560"/>
          </a:xfrm>
          <a:prstGeom prst="roundRect">
            <a:avLst/>
          </a:prstGeom>
          <a:solidFill>
            <a:srgbClr val="F2A13F"/>
          </a:solidFill>
          <a:ln>
            <a:solidFill>
              <a:srgbClr val="F2A13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04088" y="3703320"/>
            <a:ext cx="1993392" cy="310896"/>
          </a:xfrm>
          <a:prstGeom prst="rect">
            <a:avLst/>
          </a:prstGeom>
          <a:noFill/>
        </p:spPr>
        <p:txBody>
          <a:bodyPr wrap="square" anchor="t">
            <a:spAutoFit/>
          </a:bodyPr>
          <a:lstStyle/>
          <a:p>
            <a:pPr algn="ctr"/>
            <a:r>
              <a:rPr sz="1500" b="1">
                <a:solidFill>
                  <a:srgbClr val="FFFFFF"/>
                </a:solidFill>
                <a:latin typeface="Aptos"/>
              </a:rPr>
              <a:t>Actividad</a:t>
            </a:r>
          </a:p>
        </p:txBody>
      </p:sp>
      <p:sp>
        <p:nvSpPr>
          <p:cNvPr id="22" name="TextBox 21"/>
          <p:cNvSpPr txBox="1"/>
          <p:nvPr/>
        </p:nvSpPr>
        <p:spPr>
          <a:xfrm>
            <a:off x="2880360" y="3721608"/>
            <a:ext cx="384048" cy="292608"/>
          </a:xfrm>
          <a:prstGeom prst="rect">
            <a:avLst/>
          </a:prstGeom>
          <a:noFill/>
        </p:spPr>
        <p:txBody>
          <a:bodyPr wrap="square" anchor="t">
            <a:spAutoFit/>
          </a:bodyPr>
          <a:lstStyle/>
          <a:p>
            <a:pPr algn="ctr"/>
            <a:r>
              <a:rPr sz="1800" b="1">
                <a:solidFill>
                  <a:srgbClr val="58697F"/>
                </a:solidFill>
                <a:latin typeface="Aptos"/>
              </a:rPr>
              <a:t>→</a:t>
            </a:r>
          </a:p>
        </p:txBody>
      </p:sp>
      <p:sp>
        <p:nvSpPr>
          <p:cNvPr id="23" name="Rounded Rectangle 22"/>
          <p:cNvSpPr/>
          <p:nvPr/>
        </p:nvSpPr>
        <p:spPr>
          <a:xfrm>
            <a:off x="3419856" y="3355848"/>
            <a:ext cx="2267712" cy="1051560"/>
          </a:xfrm>
          <a:prstGeom prst="roundRect">
            <a:avLst/>
          </a:prstGeom>
          <a:solidFill>
            <a:srgbClr val="D17652"/>
          </a:solidFill>
          <a:ln>
            <a:solidFill>
              <a:srgbClr val="D176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557016" y="3703320"/>
            <a:ext cx="1993392" cy="310896"/>
          </a:xfrm>
          <a:prstGeom prst="rect">
            <a:avLst/>
          </a:prstGeom>
          <a:noFill/>
        </p:spPr>
        <p:txBody>
          <a:bodyPr wrap="square" anchor="t">
            <a:spAutoFit/>
          </a:bodyPr>
          <a:lstStyle/>
          <a:p>
            <a:pPr algn="ctr"/>
            <a:r>
              <a:rPr sz="1500" b="1">
                <a:solidFill>
                  <a:srgbClr val="FFFFFF"/>
                </a:solidFill>
                <a:latin typeface="Aptos"/>
              </a:rPr>
              <a:t>Evidencia</a:t>
            </a:r>
          </a:p>
        </p:txBody>
      </p:sp>
      <p:sp>
        <p:nvSpPr>
          <p:cNvPr id="25" name="TextBox 24"/>
          <p:cNvSpPr txBox="1"/>
          <p:nvPr/>
        </p:nvSpPr>
        <p:spPr>
          <a:xfrm>
            <a:off x="5733288" y="3721608"/>
            <a:ext cx="384048" cy="292608"/>
          </a:xfrm>
          <a:prstGeom prst="rect">
            <a:avLst/>
          </a:prstGeom>
          <a:noFill/>
        </p:spPr>
        <p:txBody>
          <a:bodyPr wrap="square" anchor="t">
            <a:spAutoFit/>
          </a:bodyPr>
          <a:lstStyle/>
          <a:p>
            <a:pPr algn="ctr"/>
            <a:r>
              <a:rPr sz="1800" b="1">
                <a:solidFill>
                  <a:srgbClr val="58697F"/>
                </a:solidFill>
                <a:latin typeface="Aptos"/>
              </a:rPr>
              <a:t>→</a:t>
            </a:r>
          </a:p>
        </p:txBody>
      </p:sp>
      <p:sp>
        <p:nvSpPr>
          <p:cNvPr id="26" name="Rounded Rectangle 25"/>
          <p:cNvSpPr/>
          <p:nvPr/>
        </p:nvSpPr>
        <p:spPr>
          <a:xfrm>
            <a:off x="6272784" y="3355848"/>
            <a:ext cx="2267712" cy="1051560"/>
          </a:xfrm>
          <a:prstGeom prst="roundRect">
            <a:avLst/>
          </a:prstGeom>
          <a:solidFill>
            <a:srgbClr val="35A674"/>
          </a:solidFill>
          <a:ln>
            <a:solidFill>
              <a:srgbClr val="35A6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09944" y="3703320"/>
            <a:ext cx="1993392" cy="310896"/>
          </a:xfrm>
          <a:prstGeom prst="rect">
            <a:avLst/>
          </a:prstGeom>
          <a:noFill/>
        </p:spPr>
        <p:txBody>
          <a:bodyPr wrap="square" anchor="t">
            <a:spAutoFit/>
          </a:bodyPr>
          <a:lstStyle/>
          <a:p>
            <a:pPr algn="ctr"/>
            <a:r>
              <a:rPr sz="1500" b="1">
                <a:solidFill>
                  <a:srgbClr val="FFFFFF"/>
                </a:solidFill>
                <a:latin typeface="Aptos"/>
              </a:rPr>
              <a:t>Rúbrica</a:t>
            </a:r>
          </a:p>
        </p:txBody>
      </p:sp>
      <p:sp>
        <p:nvSpPr>
          <p:cNvPr id="28" name="TextBox 27"/>
          <p:cNvSpPr txBox="1"/>
          <p:nvPr/>
        </p:nvSpPr>
        <p:spPr>
          <a:xfrm>
            <a:off x="8586216" y="3721608"/>
            <a:ext cx="384048" cy="292608"/>
          </a:xfrm>
          <a:prstGeom prst="rect">
            <a:avLst/>
          </a:prstGeom>
          <a:noFill/>
        </p:spPr>
        <p:txBody>
          <a:bodyPr wrap="square" anchor="t">
            <a:spAutoFit/>
          </a:bodyPr>
          <a:lstStyle/>
          <a:p>
            <a:pPr algn="ctr"/>
            <a:r>
              <a:rPr sz="1800" b="1">
                <a:solidFill>
                  <a:srgbClr val="58697F"/>
                </a:solidFill>
                <a:latin typeface="Aptos"/>
              </a:rPr>
              <a:t>→</a:t>
            </a:r>
          </a:p>
        </p:txBody>
      </p:sp>
      <p:sp>
        <p:nvSpPr>
          <p:cNvPr id="29" name="Rounded Rectangle 28"/>
          <p:cNvSpPr/>
          <p:nvPr/>
        </p:nvSpPr>
        <p:spPr>
          <a:xfrm>
            <a:off x="9125711" y="3355848"/>
            <a:ext cx="2267712" cy="1051560"/>
          </a:xfrm>
          <a:prstGeom prst="roundRect">
            <a:avLst/>
          </a:prstGeom>
          <a:solidFill>
            <a:srgbClr val="369189"/>
          </a:solidFill>
          <a:ln>
            <a:solidFill>
              <a:srgbClr val="36918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262872" y="3703320"/>
            <a:ext cx="1993392" cy="310896"/>
          </a:xfrm>
          <a:prstGeom prst="rect">
            <a:avLst/>
          </a:prstGeom>
          <a:noFill/>
        </p:spPr>
        <p:txBody>
          <a:bodyPr wrap="square" anchor="t">
            <a:spAutoFit/>
          </a:bodyPr>
          <a:lstStyle/>
          <a:p>
            <a:pPr algn="ctr"/>
            <a:r>
              <a:rPr sz="1500" b="1">
                <a:solidFill>
                  <a:srgbClr val="FFFFFF"/>
                </a:solidFill>
                <a:latin typeface="Aptos"/>
              </a:rPr>
              <a:t>Feedback</a:t>
            </a:r>
          </a:p>
        </p:txBody>
      </p:sp>
      <p:sp>
        <p:nvSpPr>
          <p:cNvPr id="31" name="TextBox 30"/>
          <p:cNvSpPr txBox="1"/>
          <p:nvPr/>
        </p:nvSpPr>
        <p:spPr>
          <a:xfrm>
            <a:off x="777240" y="5349240"/>
            <a:ext cx="1874519" cy="274320"/>
          </a:xfrm>
          <a:prstGeom prst="rect">
            <a:avLst/>
          </a:prstGeom>
          <a:noFill/>
        </p:spPr>
        <p:txBody>
          <a:bodyPr wrap="square" anchor="t">
            <a:spAutoFit/>
          </a:bodyPr>
          <a:lstStyle/>
          <a:p>
            <a:pPr algn="l"/>
            <a:r>
              <a:rPr sz="1400" b="1">
                <a:solidFill>
                  <a:srgbClr val="1F4EA0"/>
                </a:solidFill>
                <a:latin typeface="Aptos"/>
              </a:rPr>
              <a:t>Regla de control</a:t>
            </a:r>
          </a:p>
        </p:txBody>
      </p:sp>
      <p:sp>
        <p:nvSpPr>
          <p:cNvPr id="32" name="TextBox 31"/>
          <p:cNvSpPr txBox="1"/>
          <p:nvPr/>
        </p:nvSpPr>
        <p:spPr>
          <a:xfrm>
            <a:off x="2633472" y="5276088"/>
            <a:ext cx="8458200" cy="475488"/>
          </a:xfrm>
          <a:prstGeom prst="rect">
            <a:avLst/>
          </a:prstGeom>
          <a:noFill/>
        </p:spPr>
        <p:txBody>
          <a:bodyPr wrap="square" anchor="t">
            <a:spAutoFit/>
          </a:bodyPr>
          <a:lstStyle/>
          <a:p>
            <a:pPr algn="l"/>
            <a:r>
              <a:rPr sz="1900" b="1">
                <a:solidFill>
                  <a:srgbClr val="192A43"/>
                </a:solidFill>
                <a:latin typeface="Aptos"/>
              </a:rPr>
              <a:t>Si un criterio no se cumplió, el agente identifica la evidencia y propone cómo mejorarlo.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64391"/>
          </a:solidFill>
          <a:ln>
            <a:solidFill>
              <a:srgbClr val="16439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4AD2E8"/>
          </a:solidFill>
          <a:ln>
            <a:solidFill>
              <a:srgbClr val="4AD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051560"/>
            <a:ext cx="6629400" cy="1261872"/>
          </a:xfrm>
          <a:prstGeom prst="rect">
            <a:avLst/>
          </a:prstGeom>
          <a:noFill/>
        </p:spPr>
        <p:txBody>
          <a:bodyPr wrap="square" anchor="t">
            <a:spAutoFit/>
          </a:bodyPr>
          <a:lstStyle/>
          <a:p>
            <a:pPr algn="l"/>
            <a:r>
              <a:rPr sz="3300" b="1">
                <a:solidFill>
                  <a:srgbClr val="FFFFFF"/>
                </a:solidFill>
                <a:latin typeface="Aptos"/>
              </a:rPr>
              <a:t>No se trata de hacer más.
Se trata de enseñar mejor.</a:t>
            </a:r>
          </a:p>
        </p:txBody>
      </p:sp>
      <p:sp>
        <p:nvSpPr>
          <p:cNvPr id="5" name="TextBox 4"/>
          <p:cNvSpPr txBox="1"/>
          <p:nvPr/>
        </p:nvSpPr>
        <p:spPr>
          <a:xfrm>
            <a:off x="896112" y="2670048"/>
            <a:ext cx="6355080" cy="960120"/>
          </a:xfrm>
          <a:prstGeom prst="rect">
            <a:avLst/>
          </a:prstGeom>
          <a:noFill/>
        </p:spPr>
        <p:txBody>
          <a:bodyPr wrap="square" anchor="t">
            <a:spAutoFit/>
          </a:bodyPr>
          <a:lstStyle/>
          <a:p>
            <a:pPr algn="l"/>
            <a:r>
              <a:rPr sz="2100" b="0">
                <a:solidFill>
                  <a:srgbClr val="E3F7FB"/>
                </a:solidFill>
                <a:latin typeface="Aptos"/>
              </a:rPr>
              <a:t>La IA realiza el trabajo repetitivo.
El docente aporta propósito, vínculo y criterio.</a:t>
            </a:r>
          </a:p>
        </p:txBody>
      </p:sp>
      <p:sp>
        <p:nvSpPr>
          <p:cNvPr id="6" name="Rectangle 5"/>
          <p:cNvSpPr/>
          <p:nvPr/>
        </p:nvSpPr>
        <p:spPr>
          <a:xfrm>
            <a:off x="896112" y="4096512"/>
            <a:ext cx="5285232" cy="73152"/>
          </a:xfrm>
          <a:prstGeom prst="rect">
            <a:avLst/>
          </a:prstGeom>
          <a:solidFill>
            <a:srgbClr val="4AD2E8"/>
          </a:solidFill>
          <a:ln>
            <a:solidFill>
              <a:srgbClr val="4AD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4407408"/>
            <a:ext cx="6949440" cy="292608"/>
          </a:xfrm>
          <a:prstGeom prst="rect">
            <a:avLst/>
          </a:prstGeom>
          <a:noFill/>
        </p:spPr>
        <p:txBody>
          <a:bodyPr wrap="square" anchor="t">
            <a:spAutoFit/>
          </a:bodyPr>
          <a:lstStyle/>
          <a:p>
            <a:pPr algn="l"/>
            <a:r>
              <a:rPr sz="1300" b="1">
                <a:solidFill>
                  <a:srgbClr val="4AD2E8"/>
                </a:solidFill>
                <a:latin typeface="Aptos"/>
              </a:rPr>
              <a:t>AGENTES ESPECIALIZADOS  ·  HUMAN IN THE LOOP</a:t>
            </a:r>
          </a:p>
        </p:txBody>
      </p:sp>
      <p:sp>
        <p:nvSpPr>
          <p:cNvPr id="8" name="Oval 7"/>
          <p:cNvSpPr/>
          <p:nvPr/>
        </p:nvSpPr>
        <p:spPr>
          <a:xfrm>
            <a:off x="8348472" y="1298448"/>
            <a:ext cx="2606040" cy="2606040"/>
          </a:xfrm>
          <a:prstGeom prst="ellipse">
            <a:avLst/>
          </a:prstGeom>
          <a:solidFill>
            <a:srgbClr val="E3F7FB"/>
          </a:solidFill>
          <a:ln w="38100">
            <a:solidFill>
              <a:srgbClr val="4AD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48472" y="1938528"/>
            <a:ext cx="2606040" cy="685800"/>
          </a:xfrm>
          <a:prstGeom prst="rect">
            <a:avLst/>
          </a:prstGeom>
          <a:noFill/>
        </p:spPr>
        <p:txBody>
          <a:bodyPr wrap="square" anchor="t">
            <a:spAutoFit/>
          </a:bodyPr>
          <a:lstStyle/>
          <a:p>
            <a:pPr algn="ctr"/>
            <a:r>
              <a:rPr sz="4000" b="1">
                <a:solidFill>
                  <a:srgbClr val="1F4EA0"/>
                </a:solidFill>
                <a:latin typeface="Aptos"/>
              </a:rPr>
              <a:t>IA</a:t>
            </a:r>
          </a:p>
        </p:txBody>
      </p:sp>
      <p:sp>
        <p:nvSpPr>
          <p:cNvPr id="10" name="Oval 9"/>
          <p:cNvSpPr/>
          <p:nvPr/>
        </p:nvSpPr>
        <p:spPr>
          <a:xfrm>
            <a:off x="8549640" y="4681728"/>
            <a:ext cx="109728" cy="109728"/>
          </a:xfrm>
          <a:prstGeom prst="ellipse">
            <a:avLst/>
          </a:prstGeom>
          <a:solidFill>
            <a:srgbClr val="4AD2E8"/>
          </a:solidFill>
          <a:ln w="19050">
            <a:solidFill>
              <a:srgbClr val="4AD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8970264" y="4681728"/>
            <a:ext cx="109728" cy="109728"/>
          </a:xfrm>
          <a:prstGeom prst="ellipse">
            <a:avLst/>
          </a:prstGeom>
          <a:solidFill>
            <a:srgbClr val="4AD2E8"/>
          </a:solidFill>
          <a:ln w="19050">
            <a:solidFill>
              <a:srgbClr val="4AD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9390888" y="4681728"/>
            <a:ext cx="109728" cy="109728"/>
          </a:xfrm>
          <a:prstGeom prst="ellipse">
            <a:avLst/>
          </a:prstGeom>
          <a:solidFill>
            <a:srgbClr val="4AD2E8"/>
          </a:solidFill>
          <a:ln w="19050">
            <a:solidFill>
              <a:srgbClr val="4AD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9811512" y="4681728"/>
            <a:ext cx="109728" cy="109728"/>
          </a:xfrm>
          <a:prstGeom prst="ellipse">
            <a:avLst/>
          </a:prstGeom>
          <a:solidFill>
            <a:srgbClr val="4AD2E8"/>
          </a:solidFill>
          <a:ln w="19050">
            <a:solidFill>
              <a:srgbClr val="4AD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549640" y="5029200"/>
            <a:ext cx="109728" cy="109728"/>
          </a:xfrm>
          <a:prstGeom prst="ellipse">
            <a:avLst/>
          </a:prstGeom>
          <a:solidFill>
            <a:srgbClr val="4AD2E8"/>
          </a:solidFill>
          <a:ln w="19050">
            <a:solidFill>
              <a:srgbClr val="4AD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970264" y="5029200"/>
            <a:ext cx="109728" cy="109728"/>
          </a:xfrm>
          <a:prstGeom prst="ellipse">
            <a:avLst/>
          </a:prstGeom>
          <a:solidFill>
            <a:srgbClr val="4AD2E8"/>
          </a:solidFill>
          <a:ln w="19050">
            <a:solidFill>
              <a:srgbClr val="4AD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390888" y="5029200"/>
            <a:ext cx="109728" cy="109728"/>
          </a:xfrm>
          <a:prstGeom prst="ellipse">
            <a:avLst/>
          </a:prstGeom>
          <a:solidFill>
            <a:srgbClr val="4AD2E8"/>
          </a:solidFill>
          <a:ln w="19050">
            <a:solidFill>
              <a:srgbClr val="4AD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9811512" y="5029200"/>
            <a:ext cx="109728" cy="109728"/>
          </a:xfrm>
          <a:prstGeom prst="ellipse">
            <a:avLst/>
          </a:prstGeom>
          <a:solidFill>
            <a:srgbClr val="4AD2E8"/>
          </a:solidFill>
          <a:ln w="19050">
            <a:solidFill>
              <a:srgbClr val="4AD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549640" y="5376672"/>
            <a:ext cx="109728" cy="109728"/>
          </a:xfrm>
          <a:prstGeom prst="ellipse">
            <a:avLst/>
          </a:prstGeom>
          <a:solidFill>
            <a:srgbClr val="4AD2E8"/>
          </a:solidFill>
          <a:ln w="19050">
            <a:solidFill>
              <a:srgbClr val="4AD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970264" y="5376672"/>
            <a:ext cx="109728" cy="109728"/>
          </a:xfrm>
          <a:prstGeom prst="ellipse">
            <a:avLst/>
          </a:prstGeom>
          <a:solidFill>
            <a:srgbClr val="4AD2E8"/>
          </a:solidFill>
          <a:ln w="19050">
            <a:solidFill>
              <a:srgbClr val="4AD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9390888" y="5376672"/>
            <a:ext cx="109728" cy="109728"/>
          </a:xfrm>
          <a:prstGeom prst="ellipse">
            <a:avLst/>
          </a:prstGeom>
          <a:solidFill>
            <a:srgbClr val="4AD2E8"/>
          </a:solidFill>
          <a:ln w="19050">
            <a:solidFill>
              <a:srgbClr val="4AD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811512" y="5376672"/>
            <a:ext cx="109728" cy="109728"/>
          </a:xfrm>
          <a:prstGeom prst="ellipse">
            <a:avLst/>
          </a:prstGeom>
          <a:solidFill>
            <a:srgbClr val="4AD2E8"/>
          </a:solidFill>
          <a:ln w="19050">
            <a:solidFill>
              <a:srgbClr val="4AD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8549640" y="5724144"/>
            <a:ext cx="109728" cy="109728"/>
          </a:xfrm>
          <a:prstGeom prst="ellipse">
            <a:avLst/>
          </a:prstGeom>
          <a:solidFill>
            <a:srgbClr val="4AD2E8"/>
          </a:solidFill>
          <a:ln w="19050">
            <a:solidFill>
              <a:srgbClr val="4AD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8970264" y="5724144"/>
            <a:ext cx="109728" cy="109728"/>
          </a:xfrm>
          <a:prstGeom prst="ellipse">
            <a:avLst/>
          </a:prstGeom>
          <a:solidFill>
            <a:srgbClr val="4AD2E8"/>
          </a:solidFill>
          <a:ln w="19050">
            <a:solidFill>
              <a:srgbClr val="4AD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9390888" y="5724144"/>
            <a:ext cx="109728" cy="109728"/>
          </a:xfrm>
          <a:prstGeom prst="ellipse">
            <a:avLst/>
          </a:prstGeom>
          <a:solidFill>
            <a:srgbClr val="4AD2E8"/>
          </a:solidFill>
          <a:ln w="19050">
            <a:solidFill>
              <a:srgbClr val="4AD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9811512" y="5724144"/>
            <a:ext cx="109728" cy="109728"/>
          </a:xfrm>
          <a:prstGeom prst="ellipse">
            <a:avLst/>
          </a:prstGeom>
          <a:solidFill>
            <a:srgbClr val="4AD2E8"/>
          </a:solidFill>
          <a:ln w="19050">
            <a:solidFill>
              <a:srgbClr val="4AD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96112" y="6108192"/>
            <a:ext cx="5029200" cy="256032"/>
          </a:xfrm>
          <a:prstGeom prst="rect">
            <a:avLst/>
          </a:prstGeom>
          <a:noFill/>
        </p:spPr>
        <p:txBody>
          <a:bodyPr wrap="square" anchor="t">
            <a:spAutoFit/>
          </a:bodyPr>
          <a:lstStyle/>
          <a:p>
            <a:pPr algn="l"/>
            <a:r>
              <a:rPr sz="1200" b="1">
                <a:solidFill>
                  <a:srgbClr val="FFFFFF"/>
                </a:solidFill>
                <a:latin typeface="Aptos"/>
              </a:rPr>
              <a:t>Marlenis Judith Concepción Cuevas</a:t>
            </a:r>
          </a:p>
        </p:txBody>
      </p:sp>
      <p:sp>
        <p:nvSpPr>
          <p:cNvPr id="27" name="TextBox 26"/>
          <p:cNvSpPr txBox="1"/>
          <p:nvPr/>
        </p:nvSpPr>
        <p:spPr>
          <a:xfrm>
            <a:off x="6903720" y="6108192"/>
            <a:ext cx="4389120" cy="256032"/>
          </a:xfrm>
          <a:prstGeom prst="rect">
            <a:avLst/>
          </a:prstGeom>
          <a:noFill/>
        </p:spPr>
        <p:txBody>
          <a:bodyPr wrap="square" anchor="t">
            <a:spAutoFit/>
          </a:bodyPr>
          <a:lstStyle/>
          <a:p>
            <a:pPr algn="r"/>
            <a:r>
              <a:rPr sz="1200" b="0">
                <a:solidFill>
                  <a:srgbClr val="FFFFFF"/>
                </a:solidFill>
                <a:latin typeface="Aptos"/>
              </a:rPr>
              <a:t>Facultad de Ciencias · Escuela de Informática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Taller: Rediseño académico con IA</dc:title>
  <dc:subject>Ejercicio con NotebookLM, agentes docentes y evaluación</dc:subject>
  <dc:creator>Marlenis Judith Concepción Cuevas</dc:creator>
  <cp:keywords>IA, docencia, Bloom, aula invertida, Agile, NotebookLM</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